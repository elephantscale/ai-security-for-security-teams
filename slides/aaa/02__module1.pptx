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_rels/presentation.xml.rels" ContentType="application/vnd.openxmlformats-package.relationships+xml"/>
  <Override PartName="/ppt/media/image13.png" ContentType="image/png"/>
  <Override PartName="/ppt/media/image9.png" ContentType="image/png"/>
  <Override PartName="/ppt/media/image12.png" ContentType="image/png"/>
  <Override PartName="/ppt/media/image4.jpeg" ContentType="image/jpeg"/>
  <Override PartName="/ppt/media/image8.png" ContentType="image/png"/>
  <Override PartName="/ppt/media/image17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3.jpeg" ContentType="image/jpe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2.png" ContentType="image/png"/>
  <Override PartName="/ppt/media/image11.png" ContentType="image/png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_rels/slide1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27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35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22.xml" ContentType="application/vnd.openxmlformats-officedocument.presentationml.slide+xml"/>
  <Override PartName="/ppt/slides/slide34.xml" ContentType="application/vnd.openxmlformats-officedocument.presentationml.slide+xml"/>
  <Override PartName="/ppt/slides/slide23.xml" ContentType="application/vnd.openxmlformats-officedocument.presentationml.slide+xml"/>
  <Override PartName="/ppt/slides/slide35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</p:sldIdLst>
  <p:sldSz cx="9372600" cy="829786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0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0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F6668DB-073F-48F1-8FDC-FA9768AEB884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0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4344120" cy="682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796640" y="995040"/>
            <a:ext cx="4344120" cy="325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796640" y="4561920"/>
            <a:ext cx="4344120" cy="325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D168766-9AB6-41B2-9EF1-67E3642397E1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0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BC017D5-3F6D-4EA0-9B1A-150544BC1BE6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Picture 6" descr=""/>
          <p:cNvPicPr/>
          <p:nvPr/>
        </p:nvPicPr>
        <p:blipFill>
          <a:blip r:embed="rId2"/>
          <a:stretch/>
        </p:blipFill>
        <p:spPr>
          <a:xfrm>
            <a:off x="0" y="0"/>
            <a:ext cx="704520" cy="835200"/>
          </a:xfrm>
          <a:prstGeom prst="rect">
            <a:avLst/>
          </a:prstGeom>
          <a:ln w="9525">
            <a:noFill/>
          </a:ln>
        </p:spPr>
      </p:pic>
      <p:pic>
        <p:nvPicPr>
          <p:cNvPr id="1" name="Picture 7" descr=""/>
          <p:cNvPicPr/>
          <p:nvPr/>
        </p:nvPicPr>
        <p:blipFill>
          <a:blip r:embed="rId3"/>
          <a:srcRect l="0" t="19473" r="0" b="0"/>
          <a:stretch/>
        </p:blipFill>
        <p:spPr>
          <a:xfrm>
            <a:off x="0" y="-1800"/>
            <a:ext cx="2498400" cy="8308440"/>
          </a:xfrm>
          <a:prstGeom prst="rect">
            <a:avLst/>
          </a:prstGeom>
          <a:ln w="9525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04880" y="3227040"/>
            <a:ext cx="8121240" cy="146916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1440" rIns="92160" tIns="46080" bIns="46080" anchor="ctr">
            <a:noAutofit/>
          </a:bodyPr>
          <a:p>
            <a:pPr indent="0" algn="ctr" defTabSz="182556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Click to edit </a:t>
            </a: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Master title </a:t>
            </a: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style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68360" y="1941480"/>
            <a:ext cx="8434800" cy="481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800" spc="-1" strike="noStrike">
                <a:solidFill>
                  <a:schemeClr val="dk1"/>
                </a:solidFill>
                <a:latin typeface="Times New Roman"/>
              </a:rPr>
              <a:t>Fourth Outline Level</a:t>
            </a:r>
            <a:endParaRPr b="0" lang="en-US" sz="800" spc="-1" strike="noStrike">
              <a:solidFill>
                <a:schemeClr val="dk1"/>
              </a:solidFill>
              <a:latin typeface="Times New Roman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Times New Roman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Times New Roman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Times New Roman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 descr=""/>
          <p:cNvPicPr/>
          <p:nvPr/>
        </p:nvPicPr>
        <p:blipFill>
          <a:blip r:embed="rId2"/>
          <a:stretch/>
        </p:blipFill>
        <p:spPr>
          <a:xfrm>
            <a:off x="0" y="0"/>
            <a:ext cx="704520" cy="835200"/>
          </a:xfrm>
          <a:prstGeom prst="rect">
            <a:avLst/>
          </a:prstGeom>
          <a:ln w="9525">
            <a:noFill/>
          </a:ln>
        </p:spPr>
      </p:pic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rm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Click to edit Master title style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Click to edit Master text styles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63324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Second level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2" marL="969840" indent="-22212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Third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3" marL="1258920" indent="-228600">
              <a:lnSpc>
                <a:spcPct val="100000"/>
              </a:lnSpc>
              <a:buClr>
                <a:srgbClr val="5f5f5f"/>
              </a:buClr>
              <a:buSzPct val="65000"/>
              <a:buFont typeface="Arial Bold"/>
              <a:buChar char="‒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Times New Roman"/>
            </a:endParaRPr>
          </a:p>
          <a:p>
            <a:pPr marL="2055960" indent="-230040">
              <a:lnSpc>
                <a:spcPct val="100000"/>
              </a:lnSpc>
              <a:spcBef>
                <a:spcPts val="159"/>
              </a:spcBef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Fifth level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1"/>
          </p:nvPr>
        </p:nvSpPr>
        <p:spPr>
          <a:xfrm>
            <a:off x="235080" y="8032680"/>
            <a:ext cx="5441760" cy="138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defRPr b="0" lang="en-US" sz="9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000000"/>
                </a:solidFill>
                <a:latin typeface="Arial"/>
              </a:rPr>
              <a:t>&lt;footer&gt;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8777160" y="7961760"/>
            <a:ext cx="545760" cy="272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defRPr b="1" lang="en-US" sz="1000" spc="-1" strike="noStrike">
                <a:solidFill>
                  <a:srgbClr val="000000"/>
                </a:solidFill>
                <a:latin typeface="Arial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0A0ECB5-E5AA-495C-94DC-4DA953AC4CAC}" type="slidenum">
              <a:rPr b="1" lang="en-US" sz="10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6" descr=""/>
          <p:cNvPicPr/>
          <p:nvPr/>
        </p:nvPicPr>
        <p:blipFill>
          <a:blip r:embed="rId2"/>
          <a:stretch/>
        </p:blipFill>
        <p:spPr>
          <a:xfrm>
            <a:off x="0" y="0"/>
            <a:ext cx="704520" cy="835200"/>
          </a:xfrm>
          <a:prstGeom prst="rect">
            <a:avLst/>
          </a:prstGeom>
          <a:ln w="9525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Click to edit Master title style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235080" y="995040"/>
            <a:ext cx="437472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Click to edit Master text styles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63324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Second level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2" marL="969840" indent="-22212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Third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3" marL="1258920" indent="-228600">
              <a:lnSpc>
                <a:spcPct val="100000"/>
              </a:lnSpc>
              <a:buClr>
                <a:srgbClr val="5f5f5f"/>
              </a:buClr>
              <a:buSzPct val="65000"/>
              <a:buFont typeface="Arial Bold"/>
              <a:buChar char="‒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Times New Roman"/>
            </a:endParaRPr>
          </a:p>
          <a:p>
            <a:pPr marL="2055960" indent="-230040">
              <a:lnSpc>
                <a:spcPct val="100000"/>
              </a:lnSpc>
              <a:spcBef>
                <a:spcPts val="159"/>
              </a:spcBef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Fifth level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4762440" y="995040"/>
            <a:ext cx="4374720" cy="33206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Click to edit Master text styles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63324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Second level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2" marL="969840" indent="-22212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Third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3" marL="1258920" indent="-228600">
              <a:lnSpc>
                <a:spcPct val="100000"/>
              </a:lnSpc>
              <a:buClr>
                <a:srgbClr val="5f5f5f"/>
              </a:buClr>
              <a:buSzPct val="65000"/>
              <a:buFont typeface="Arial Bold"/>
              <a:buChar char="‒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Times New Roman"/>
            </a:endParaRPr>
          </a:p>
          <a:p>
            <a:pPr marL="2055960" indent="-230040">
              <a:lnSpc>
                <a:spcPct val="100000"/>
              </a:lnSpc>
              <a:spcBef>
                <a:spcPts val="159"/>
              </a:spcBef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Fifth level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4762440" y="4500360"/>
            <a:ext cx="4374720" cy="3322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Click to edit Master text styles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63324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Second level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2" marL="969840" indent="-22212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Third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3" marL="1258920" indent="-228600">
              <a:lnSpc>
                <a:spcPct val="100000"/>
              </a:lnSpc>
              <a:buClr>
                <a:srgbClr val="5f5f5f"/>
              </a:buClr>
              <a:buSzPct val="65000"/>
              <a:buFont typeface="Arial Bold"/>
              <a:buChar char="‒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Times New Roman"/>
            </a:endParaRPr>
          </a:p>
          <a:p>
            <a:pPr marL="2055960" indent="-230040">
              <a:lnSpc>
                <a:spcPct val="100000"/>
              </a:lnSpc>
              <a:spcBef>
                <a:spcPts val="159"/>
              </a:spcBef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Fifth level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3"/>
          </p:nvPr>
        </p:nvSpPr>
        <p:spPr>
          <a:xfrm>
            <a:off x="8777160" y="7961760"/>
            <a:ext cx="545760" cy="272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defRPr b="1" lang="en-US" sz="1000" spc="-1" strike="noStrike">
                <a:solidFill>
                  <a:srgbClr val="000000"/>
                </a:solidFill>
                <a:latin typeface="Arial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692E4E8-5E59-425A-9835-83FC85B60564}" type="slidenum">
              <a:rPr b="1" lang="en-US" sz="10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ftr" idx="4"/>
          </p:nvPr>
        </p:nvSpPr>
        <p:spPr>
          <a:xfrm>
            <a:off x="235080" y="8032680"/>
            <a:ext cx="5441760" cy="138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defRPr b="0" lang="en-US" sz="9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000000"/>
                </a:solidFill>
                <a:latin typeface="Arial"/>
              </a:rPr>
              <a:t>&lt;footer&gt;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6" descr=""/>
          <p:cNvPicPr/>
          <p:nvPr/>
        </p:nvPicPr>
        <p:blipFill>
          <a:blip r:embed="rId2"/>
          <a:stretch/>
        </p:blipFill>
        <p:spPr>
          <a:xfrm>
            <a:off x="0" y="0"/>
            <a:ext cx="704520" cy="835200"/>
          </a:xfrm>
          <a:prstGeom prst="rect">
            <a:avLst/>
          </a:prstGeom>
          <a:ln w="9525">
            <a:noFill/>
          </a:ln>
        </p:spPr>
      </p:pic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Click to edit Master title style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235080" y="995040"/>
            <a:ext cx="437472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Click to edit Master text styles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63324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Second level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2" marL="969840" indent="-22212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Third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3" marL="1258920" indent="-228600">
              <a:lnSpc>
                <a:spcPct val="100000"/>
              </a:lnSpc>
              <a:buClr>
                <a:srgbClr val="5f5f5f"/>
              </a:buClr>
              <a:buSzPct val="65000"/>
              <a:buFont typeface="Arial Bold"/>
              <a:buChar char="‒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Times New Roman"/>
            </a:endParaRPr>
          </a:p>
          <a:p>
            <a:pPr marL="2055960" indent="-230040">
              <a:lnSpc>
                <a:spcPct val="100000"/>
              </a:lnSpc>
              <a:spcBef>
                <a:spcPts val="159"/>
              </a:spcBef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Fifth level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762440" y="995040"/>
            <a:ext cx="437472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Click to edit Master text styles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1" marL="633240" indent="-228600">
              <a:lnSpc>
                <a:spcPct val="100000"/>
              </a:lnSpc>
              <a:spcBef>
                <a:spcPts val="439"/>
              </a:spcBef>
              <a:buClr>
                <a:srgbClr val="000000"/>
              </a:buClr>
              <a:buFont typeface="Symbol" charset="2"/>
              <a:buChar char=""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Second level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2" marL="969840" indent="-22212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Third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3" marL="1258920" indent="-228600">
              <a:lnSpc>
                <a:spcPct val="100000"/>
              </a:lnSpc>
              <a:buClr>
                <a:srgbClr val="5f5f5f"/>
              </a:buClr>
              <a:buSzPct val="65000"/>
              <a:buFont typeface="Arial Bold"/>
              <a:buChar char="‒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Times New Roman"/>
            </a:endParaRPr>
          </a:p>
          <a:p>
            <a:pPr marL="2055960" indent="-230040">
              <a:lnSpc>
                <a:spcPct val="100000"/>
              </a:lnSpc>
              <a:spcBef>
                <a:spcPts val="159"/>
              </a:spcBef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chemeClr val="dk1"/>
                </a:solidFill>
                <a:latin typeface="Times New Roman"/>
                <a:ea typeface="ＭＳ Ｐゴシック"/>
              </a:rPr>
              <a:t>Fifth level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sldNum" idx="5"/>
          </p:nvPr>
        </p:nvSpPr>
        <p:spPr>
          <a:xfrm>
            <a:off x="8777160" y="7961760"/>
            <a:ext cx="545760" cy="272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defRPr b="1" lang="en-US" sz="1000" spc="-1" strike="noStrike">
                <a:solidFill>
                  <a:srgbClr val="000000"/>
                </a:solidFill>
                <a:latin typeface="Arial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8189795-FE6D-41F5-AE20-DCF35C822721}" type="slidenum">
              <a:rPr b="1" lang="en-US" sz="10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6"/>
          </p:nvPr>
        </p:nvSpPr>
        <p:spPr>
          <a:xfrm>
            <a:off x="235080" y="8032680"/>
            <a:ext cx="5441760" cy="138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defRPr b="0" lang="en-US" sz="9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000000"/>
                </a:solidFill>
                <a:latin typeface="Arial"/>
              </a:rPr>
              <a:t>&lt;footer&gt;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2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subTitle"/>
          </p:nvPr>
        </p:nvSpPr>
        <p:spPr>
          <a:xfrm>
            <a:off x="2498760" y="4984560"/>
            <a:ext cx="6335280" cy="4003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algn="ctr"/>
            <a:endParaRPr b="0" lang="en-US" sz="2000" spc="-1" strike="noStrike">
              <a:solidFill>
                <a:srgbClr val="000000"/>
              </a:solidFill>
              <a:latin typeface="Arial"/>
              <a:ea typeface="ＭＳ Ｐゴシック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title"/>
          </p:nvPr>
        </p:nvSpPr>
        <p:spPr>
          <a:xfrm>
            <a:off x="704880" y="3227040"/>
            <a:ext cx="8121240" cy="146916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1440" rIns="92160" tIns="46080" bIns="46080" anchor="ctr">
            <a:noAutofit/>
          </a:bodyPr>
          <a:p>
            <a:pPr indent="0" algn="ctr" defTabSz="182556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Module 1 — AI </a:t>
            </a: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Systems for WAF </a:t>
            </a: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Engineers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35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Module 1 </a:t>
            </a: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Agenda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What are LLMs and how do they differ from normal apps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AI inference pipelines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Prompt anatomy and flow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RAG architecture and vector databases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Agentic workflows and tool calling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AI gateways and copilots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MCP and agent protocols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Where WAF visibility exists — and where it disappears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What Is a Large </a:t>
            </a: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Language </a:t>
            </a: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Model?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An LLM is a statistical model trained to predict the next token in a sequence.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Key properties: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Input and output are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text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(tokens), not structured data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No deterministic logic — output is probabilistic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Behavior is shaped by training data and prompts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Context window limits how much it "remembers" per request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" name="Picture 4" descr="pexels-markus-winkler-1430818-30839680.jpg"/>
          <p:cNvPicPr/>
          <p:nvPr/>
        </p:nvPicPr>
        <p:blipFill>
          <a:blip r:embed="rId1"/>
          <a:stretch/>
        </p:blipFill>
        <p:spPr>
          <a:xfrm>
            <a:off x="4343400" y="4813200"/>
            <a:ext cx="4096080" cy="2730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LLMs vs Traditional Web Apps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6" name="Table 4"/>
          <p:cNvGraphicFramePr/>
          <p:nvPr/>
        </p:nvGraphicFramePr>
        <p:xfrm>
          <a:off x="237600" y="914400"/>
          <a:ext cx="8915040" cy="3200400"/>
        </p:xfrm>
        <a:graphic>
          <a:graphicData uri="http://schemas.openxmlformats.org/drawingml/2006/table">
            <a:tbl>
              <a:tblPr/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Property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Traditional App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LLM App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Input type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Structured (forms, JSON)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Freeform text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Logic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Deterministic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Probabilistic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Attack surface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Known endpoints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Open-ended prompt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Output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Predictable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Variable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State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Session-managed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Context window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Injection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SQL, XSS, LDAP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Prompt injection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47" name="Picture 5" descr="pexels-diosajandy-13604888.jpg"/>
          <p:cNvPicPr/>
          <p:nvPr/>
        </p:nvPicPr>
        <p:blipFill>
          <a:blip r:embed="rId1"/>
          <a:stretch/>
        </p:blipFill>
        <p:spPr>
          <a:xfrm>
            <a:off x="5257800" y="4887000"/>
            <a:ext cx="3638880" cy="242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Tokens — The Unit of AI Processing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LLMs don't process characters or words — they process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tokens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 token ≈ 4 characters on average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"Hello world" = 2 tokens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Courier New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Courier New"/>
                <a:ea typeface="ＭＳ Ｐゴシック"/>
              </a:rPr>
              <a:t>gpt-4o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: 128K token context window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Tokens drive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cost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and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rate limiting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Security implication: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Attackers can craft prompts to maximize token consumption (denial-of-wallet)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Token limits can be abused to truncate safety instructions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The AI Inference </a:t>
            </a: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Pipeline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WAF visibility exists at the edges. The middle is often opaque.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4" name="Picture 4" descr="1.png"/>
          <p:cNvPicPr/>
          <p:nvPr/>
        </p:nvPicPr>
        <p:blipFill>
          <a:blip r:embed="rId1"/>
          <a:stretch/>
        </p:blipFill>
        <p:spPr>
          <a:xfrm>
            <a:off x="0" y="914400"/>
            <a:ext cx="8051400" cy="5854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Anatomy of a Prompt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 prompt typically has three parts: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System prompt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— instructions set by the developer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0">
              <a:lnSpc>
                <a:spcPct val="100000"/>
              </a:lnSpc>
              <a:spcBef>
                <a:spcPts val="479"/>
              </a:spcBef>
              <a:buNone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Context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— retrieved documents, history, tool output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User message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— what the end user typed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Together these form the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full context window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sent to the model.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" name="Picture 4" descr="1.png"/>
          <p:cNvPicPr/>
          <p:nvPr/>
        </p:nvPicPr>
        <p:blipFill>
          <a:blip r:embed="rId1"/>
          <a:stretch/>
        </p:blipFill>
        <p:spPr>
          <a:xfrm>
            <a:off x="6480" y="1956240"/>
            <a:ext cx="9131040" cy="786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Why the System Prompt Matters for Security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The system prompt is the developer's primary security control at the model layer.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It can: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Define the model's role and constraints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Block certain topics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Set output format requirements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It cannot: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Reliably prevent a determined attacker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Override injected instructions in retrieved content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Enforce cryptographic guarantees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Prompt Flow — </a:t>
            </a: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From Browser to </a:t>
            </a: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Model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WAF sees HTTP traffic. It does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not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see what the LLM receives internally.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" name="Picture 4" descr="1.png"/>
          <p:cNvPicPr/>
          <p:nvPr/>
        </p:nvPicPr>
        <p:blipFill>
          <a:blip r:embed="rId1"/>
          <a:stretch/>
        </p:blipFill>
        <p:spPr>
          <a:xfrm>
            <a:off x="0" y="914400"/>
            <a:ext cx="8508600" cy="318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Streaming APIs — A WAF Complication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Most LLM APIs support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streaming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responses (Server-Sent Events).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WAF challenges: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Cannot inspect full response before delivery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Buffering for inspection defeats latency goals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Malicious content may arrive in fragments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" name="Picture 4" descr="1.png"/>
          <p:cNvPicPr/>
          <p:nvPr/>
        </p:nvPicPr>
        <p:blipFill>
          <a:blip r:embed="rId1"/>
          <a:stretch/>
        </p:blipFill>
        <p:spPr>
          <a:xfrm>
            <a:off x="0" y="1353240"/>
            <a:ext cx="8356320" cy="1053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RAG Architecture Overview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Retrieval-Augmented Generation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grounds LLM responses in external documents.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RAG is now the standard architecture for enterprise AI assistants.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" name="Picture 4" descr="1.png"/>
          <p:cNvPicPr/>
          <p:nvPr/>
        </p:nvPicPr>
        <p:blipFill>
          <a:blip r:embed="rId1"/>
          <a:stretch/>
        </p:blipFill>
        <p:spPr>
          <a:xfrm>
            <a:off x="0" y="1353240"/>
            <a:ext cx="8356320" cy="3720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RAG — The Components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7" name="Table 4"/>
          <p:cNvGraphicFramePr/>
          <p:nvPr/>
        </p:nvGraphicFramePr>
        <p:xfrm>
          <a:off x="237600" y="914400"/>
          <a:ext cx="8915040" cy="3383640"/>
        </p:xfrm>
        <a:graphic>
          <a:graphicData uri="http://schemas.openxmlformats.org/drawingml/2006/table">
            <a:tbl>
              <a:tblPr/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Component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Role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Security Concern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Document store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Source of truth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Poisoned documents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Chunker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Splits docs into pieces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Hidden instructions in chunks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Embedding model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Converts text to vectors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Adversarial embeddings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Vector database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Stores/retrieves vectors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Unauthorized retrieval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Retriever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Finds relevant chunks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Retrieval manipulation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Prompt assembler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Builds final prompt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Injection via retrieved text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Vector Databases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 vector database stores documents as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high-dimensional numerical vectors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Popular options: Pinecone, Weaviate, Qdrant, pgvector, Chroma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How retrieval works: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Query is converted to a vector by the embedding model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Database finds nearest vectors (cosine similarity)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Source text for those vectors is returned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Security issue: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nearest neighbor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is a semantic match, not an exact string match — hard to filter with traditional rules.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Embeddings — What They Are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An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embedding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is a vector representation of text that captures semantic meaning.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Why this matters: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Semantic attacks bypass keyword filters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Poisoned documents can be designed to be retrieved for specific queries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Filtering by content requires ML classifiers, not regex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4" name="Picture 4" descr="1.png"/>
          <p:cNvPicPr/>
          <p:nvPr/>
        </p:nvPicPr>
        <p:blipFill>
          <a:blip r:embed="rId1"/>
          <a:stretch/>
        </p:blipFill>
        <p:spPr>
          <a:xfrm>
            <a:off x="0" y="1792080"/>
            <a:ext cx="9740520" cy="1053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Agentic AI — What Are Agents?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An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AI agent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is an LLM that can take actions, not just answer questions.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Agents can: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Call APIs and external services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Read and write files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Execute code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Browse the web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Send emails and messages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Spawn sub-agents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Agentic Workflow Pattern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Each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Act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step is a real action with real consequences. WAF may see some of these API calls — but not the agent's reasoning.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" name="Picture 4" descr="1.png"/>
          <p:cNvPicPr/>
          <p:nvPr/>
        </p:nvPicPr>
        <p:blipFill>
          <a:blip r:embed="rId1"/>
          <a:stretch/>
        </p:blipFill>
        <p:spPr>
          <a:xfrm>
            <a:off x="0" y="914400"/>
            <a:ext cx="8978400" cy="2920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Tool Calling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224640" y="126396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LLMs request tools using structured output: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0">
              <a:lnSpc>
                <a:spcPct val="100000"/>
              </a:lnSpc>
              <a:spcBef>
                <a:spcPts val="479"/>
              </a:spcBef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0">
              <a:lnSpc>
                <a:spcPct val="100000"/>
              </a:lnSpc>
              <a:spcBef>
                <a:spcPts val="479"/>
              </a:spcBef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0">
              <a:lnSpc>
                <a:spcPct val="100000"/>
              </a:lnSpc>
              <a:spcBef>
                <a:spcPts val="479"/>
              </a:spcBef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0">
              <a:lnSpc>
                <a:spcPct val="100000"/>
              </a:lnSpc>
              <a:spcBef>
                <a:spcPts val="479"/>
              </a:spcBef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The application executes the tool and returns results to the model.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Security risk: An attacker who controls the prompt can influence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which tools are called with what parameters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" name="Picture 4" descr="1.png"/>
          <p:cNvPicPr/>
          <p:nvPr/>
        </p:nvPicPr>
        <p:blipFill>
          <a:blip r:embed="rId1"/>
          <a:stretch/>
        </p:blipFill>
        <p:spPr>
          <a:xfrm>
            <a:off x="457200" y="2057400"/>
            <a:ext cx="5295600" cy="2387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Tool Calling — The Attack Surface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WAF sees the HTTP requests the agent makes — but may not know they originated from an attacker-controlled prompt.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" name="Picture 4" descr="1.png"/>
          <p:cNvPicPr/>
          <p:nvPr/>
        </p:nvPicPr>
        <p:blipFill>
          <a:blip r:embed="rId1"/>
          <a:stretch/>
        </p:blipFill>
        <p:spPr>
          <a:xfrm>
            <a:off x="0" y="914400"/>
            <a:ext cx="8356320" cy="2920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Multi-Agent Architectures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Modern AI systems often chain multiple agents: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Attack implications: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An attacker injecting into one agent can propagate to others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Agent-to-agent calls may bypass WAF entirely (internal network)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Trust boundaries between agents are often undefined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" name="Picture 4" descr="1.png"/>
          <p:cNvPicPr/>
          <p:nvPr/>
        </p:nvPicPr>
        <p:blipFill>
          <a:blip r:embed="rId1"/>
          <a:stretch/>
        </p:blipFill>
        <p:spPr>
          <a:xfrm>
            <a:off x="0" y="1353240"/>
            <a:ext cx="4838400" cy="1587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Copilots — The Business Context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copilot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is an AI assistant embedded in a business workflow.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Examples: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GitHub Copilot (code completion)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Microsoft 365 Copilot (email, calendar, documents)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Salesforce Einstein (CRM)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Custom enterprise chatbots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From a WAF perspective: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Copilots access sensitive internal data via APIs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They act on behalf of users — often with elevated permissions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They are prime targets for indirect prompt injection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AI Gateways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An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AI gateway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sits between your application and LLM providers.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Functions: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Route requests to different models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Apply prompt/response filtering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Enforce rate limits (token-based)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Log all prompts and completions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Apply guardrails and classifiers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Manage API keys and quotas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Examples: AWS Bedrock, Azure AI Studio, Cloudflare AI Gateway, Kong AI Gateway, Portkey, LiteLLM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AI Gateway vs Traditional WAF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WAF and AI gateway are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complementary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, not alternatives.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3" name="Table 4"/>
          <p:cNvGraphicFramePr/>
          <p:nvPr/>
        </p:nvGraphicFramePr>
        <p:xfrm>
          <a:off x="237600" y="914400"/>
          <a:ext cx="8915040" cy="3657600"/>
        </p:xfrm>
        <a:graphic>
          <a:graphicData uri="http://schemas.openxmlformats.org/drawingml/2006/table">
            <a:tbl>
              <a:tblPr/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Capability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WAF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AI Gateway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HTTP filtering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✓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✓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Rate limiting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(request-based)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(token-based)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Prompt inspection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✗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✓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Response filtering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Limited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✓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Semantic analysis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✗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✓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Model routing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✗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✓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Cost enforcement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✗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✓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MCP — Model Context Protocol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MCP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(Anthropic, 2024) is an open protocol for connecting LLMs to external tools and data.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MCP is becoming the standard for agent tool connectivity — analogous to USB for peripherals.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" name="Picture 4" descr="1.png"/>
          <p:cNvPicPr/>
          <p:nvPr/>
        </p:nvPicPr>
        <p:blipFill>
          <a:blip r:embed="rId1"/>
          <a:stretch/>
        </p:blipFill>
        <p:spPr>
          <a:xfrm>
            <a:off x="0" y="1792080"/>
            <a:ext cx="7746480" cy="2120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MCP Security Concerns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MCP introduces new attack surfaces: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Tool poisoning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— malicious MCP server exposes dangerous tools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Resource injection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— MCP resource returns attacker-controlled text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Privilege escalation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— agent inherits MCP server's permissions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Confused deputy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— agent acts on behalf of attacker via MCP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WAF relevance: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MCP uses HTTP/SSE transport — WAF can inspect at the transport layer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Content inspection of MCP payloads requires custom rules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Agent Protocols — The Ecosystem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Most use HTTP — WAF has transport-layer visibility. Semantic content requires AI-aware inspection.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4" name="Table 4"/>
          <p:cNvGraphicFramePr/>
          <p:nvPr/>
        </p:nvGraphicFramePr>
        <p:xfrm>
          <a:off x="237600" y="914400"/>
          <a:ext cx="8915040" cy="2743200"/>
        </p:xfrm>
        <a:graphic>
          <a:graphicData uri="http://schemas.openxmlformats.org/drawingml/2006/table">
            <a:tbl>
              <a:tblPr/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Protocol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Purpose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Transport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MCP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Tool/resource connectivity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HTTP, SSE, stdio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OpenAI function calling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Tool use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JSON over HTTPS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LangChain tools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Framework tool abstraction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Various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A2A (Google)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Agent-to-agent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HTTP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AutoGen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Multi-agent orchestration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Internal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Where WAF Visibility Exists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WAF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can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see and control: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Initial HTTP request to AI endpoint (</a:t>
            </a:r>
            <a:r>
              <a:rPr b="0" lang="en-US" sz="2400" spc="-1" strike="noStrike">
                <a:solidFill>
                  <a:srgbClr val="000000"/>
                </a:solidFill>
                <a:latin typeface="Courier New"/>
                <a:ea typeface="ＭＳ Ｐゴシック"/>
              </a:rPr>
              <a:t> /v1/chat/completions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Request headers, source IP, auth tokens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Request body (prompt as raw text)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Response body (before delivery to client)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HTTP method, status codes, response size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Tool call HTTP requests made by agents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Rate limiting by request count or token estimate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Where WAF Visibility Disappears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WAF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cannot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see: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What the LLM reasons internally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Injected instructions hidden inside retrieved documents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Agent-to-agent calls over internal networks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Content inside encrypted sub-requests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Semantic meaning of obfuscated prompts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Multi-turn context accumulating across requests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Decisions made by the model about tool use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The Visibility Gap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Bridging this gap requires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AI gateways + guardrails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working alongside WAF.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4" name="Picture 4" descr="1.png"/>
          <p:cNvPicPr/>
          <p:nvPr/>
        </p:nvPicPr>
        <p:blipFill>
          <a:blip r:embed="rId1"/>
          <a:stretch/>
        </p:blipFill>
        <p:spPr>
          <a:xfrm>
            <a:off x="0" y="914400"/>
            <a:ext cx="9892800" cy="2387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The New Attack Surface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8" name="Picture 4" descr="1.png"/>
          <p:cNvPicPr/>
          <p:nvPr/>
        </p:nvPicPr>
        <p:blipFill>
          <a:blip r:embed="rId1"/>
          <a:stretch/>
        </p:blipFill>
        <p:spPr>
          <a:xfrm>
            <a:off x="0" y="914400"/>
            <a:ext cx="7899120" cy="4254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Mapping Architecture to Threats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479"/>
              </a:spcBef>
              <a:buNone/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2" name="Table 4"/>
          <p:cNvGraphicFramePr/>
          <p:nvPr/>
        </p:nvGraphicFramePr>
        <p:xfrm>
          <a:off x="237600" y="914400"/>
          <a:ext cx="8915040" cy="4024080"/>
        </p:xfrm>
        <a:graphic>
          <a:graphicData uri="http://schemas.openxmlformats.org/drawingml/2006/table">
            <a:tbl>
              <a:tblPr/>
              <a:tblGrid>
                <a:gridCol w="4457520"/>
                <a:gridCol w="445752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Component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Primary Threat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HTTP endpoint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DDoS, scraping, auth bypass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System prompt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Prompt injection, override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User input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Direct prompt injection, jailbreak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RAG / vector DB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Document poisoning, retrieval manipulation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LLM model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Model extraction, adversarial inputs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Tool execution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Unauthorized actions, privilege escalation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Output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/>
                          </a:solidFill>
                          <a:latin typeface="Arial"/>
                        </a:rPr>
                        <a:t>Sensitive data disclosure, indirect injection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Traditional vs AI Threat Models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Traditional WAF mindset: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Attack is in the HTTP request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Block malicious patterns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Enforce allow/deny rules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AI WAF mindset: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Attack may be in retrieved documents, not the request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Semantic intent matters, not just syntax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The model itself can be the attack vector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Output can carry attacks downstream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Key Architectural Patterns You Will Defend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Over this course you will build defenses for: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Chatbot APIs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— prompt injection at the HTTP layer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RAG pipelines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— document poisoning and retrieval abuse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Agentic systems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— tool abuse and privilege escalation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LLM APIs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— denial-of-wallet and model scraping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Copilot integrations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— indirect injection through business data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Multi-agent workflows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— cross-agent propagation attacks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Module 1 Summary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LLMs are probabilistic, token-based systems — not deterministic apps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AI inference pipelines have multiple layers, each with its own attack surface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RAG adds document retrieval as a new injection vector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Agents transform AI from read-only to read-write risk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Tool calling gives attackers a path from text to real-world actions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WAF visibility is strong at HTTP boundaries, weak inside the AI stack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AI gateways and guardrails extend WAF coverage into the semantic layer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What's Next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Module 2 — OWASP GenAI Top 10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We move from architecture to the specific attack categories: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Prompt Injection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Insecure Output Handling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Training Data Poisoning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Model DoS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And six more...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704880" y="0"/>
            <a:ext cx="8667360" cy="835200"/>
          </a:xfrm>
          <a:prstGeom prst="rect">
            <a:avLst/>
          </a:prstGeom>
          <a:solidFill>
            <a:schemeClr val="dk2"/>
          </a:solidFill>
          <a:ln w="9360">
            <a:noFill/>
          </a:ln>
        </p:spPr>
        <p:txBody>
          <a:bodyPr numCol="1" spcCol="0" lIns="92160" rIns="92160" tIns="46080" bIns="46080"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chemeClr val="dk1"/>
                </a:solidFill>
                <a:latin typeface="Verdana"/>
                <a:ea typeface="ＭＳ Ｐゴシック"/>
              </a:rPr>
              <a:t>Lab Preview — Lab 1</a:t>
            </a:r>
            <a:endParaRPr b="0" lang="en-US" sz="2600" spc="-1" strike="noStrike">
              <a:solidFill>
                <a:schemeClr val="dk1"/>
              </a:solidFill>
              <a:latin typeface="Garamond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235080" y="995040"/>
            <a:ext cx="8902440" cy="6828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2160" rIns="92160" tIns="46080" bIns="46080" anchor="t">
            <a:noAutofit/>
          </a:bodyPr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Attack a chatbot with prompt injection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You will: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Interact with an intentionally vulnerable AI chatbot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Attempt to override its system prompt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Extract hidden instructions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Observe what basic WAF rules catch — and what they miss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90520" indent="-290520">
              <a:lnSpc>
                <a:spcPct val="100000"/>
              </a:lnSpc>
              <a:spcBef>
                <a:spcPts val="479"/>
              </a:spcBef>
              <a:buClr>
                <a:srgbClr val="003399"/>
              </a:buClr>
              <a:buSzPct val="65000"/>
              <a:buFont typeface="Wingdings" charset="2"/>
              <a:buChar char="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 </a:t>
            </a: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Environment: provided Docker-based lab Time: 45 minutes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3713040" y="8065080"/>
            <a:ext cx="28969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Garamond"/>
                <a:ea typeface="ＭＳ Ｐゴシック"/>
              </a:rPr>
              <a:t>Copyright © 2026 by Elephant Scale, All Rights Reserved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378294</TotalTime>
  <Application>LibreOffice/24.2.7.2$Linux_X86_64 LibreOffice_project/420$Build-2</Application>
  <AppVersion>15.0000</AppVersion>
  <Words>0</Words>
  <Paragraphs>0</Paragraphs>
  <Company>Elephant Scale LLC &amp; LearningPatterns Inc.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2010-07-13T15:22:01Z</dcterms:created>
  <dc:creator>Elephant Scale</dc:creator>
  <dc:description/>
  <dc:language>en-US</dc:language>
  <cp:lastModifiedBy/>
  <cp:lastPrinted>2010-01-03T02:41:41Z</cp:lastPrinted>
  <dcterms:modified xsi:type="dcterms:W3CDTF">2026-05-20T23:59:59Z</dcterms:modified>
  <cp:revision>4137</cp:revision>
  <dc:subject>Spark</dc:subject>
  <dc:title>Spark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</Properties>
</file>