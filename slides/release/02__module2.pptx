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Module 2 — OWASP GenAI Top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What is the OWASP GenAI Top 10 and how it differs from classic OWASP</a:t>
            </a:r>
          </a:p>
          <a:p>
            <a:r>
              <a:t> LLM01 — Prompt Injection</a:t>
            </a:r>
          </a:p>
          <a:p>
            <a:r>
              <a:t> LLM02 — Insecure Output Handling</a:t>
            </a:r>
          </a:p>
          <a:p>
            <a:r>
              <a:t> LLM03 — Training Data Poisoning</a:t>
            </a:r>
          </a:p>
          <a:p>
            <a:r>
              <a:t> LLM04 — Model Denial of Service</a:t>
            </a:r>
          </a:p>
          <a:p>
            <a:r>
              <a:t> LLM05 — Supply Chain Vulnerabilities</a:t>
            </a:r>
          </a:p>
          <a:p>
            <a:r>
              <a:t> LLM06 — Sensitive Information Disclosure</a:t>
            </a:r>
          </a:p>
          <a:p>
            <a:r>
              <a:t> LLM07 — Excessive Agency</a:t>
            </a:r>
          </a:p>
          <a:p>
            <a:r>
              <a:t> LLM08 — Vector and Embedding Weaknesses</a:t>
            </a:r>
          </a:p>
          <a:p>
            <a:r>
              <a:t> LLM09 — Misinformation</a:t>
            </a:r>
          </a:p>
          <a:p>
            <a:r>
              <a:t> LLM10 — Unbounded Consumption</a:t>
            </a:r>
          </a:p>
          <a:p>
            <a:r>
              <a:t> WAF coverage map across all ten categories</a:t>
            </a:r>
          </a:p>
          <a:p>
            <a:r>
              <a:t> Module summary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GenAI Top 10 — What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</a:t>
            </a:r>
            <a:r>
              <a:rPr b="1"/>
              <a:t> OWASP Top 10 for LLM Applications</a:t>
            </a:r>
            <a:r>
              <a:t> (first published 2023, updated 2025) catalogs the ten most critical security risks in systems that use large language models.</a:t>
            </a:r>
          </a:p>
          <a:p>
            <a:r>
              <a:t> It is maintained by OWASP's AI Security Project and is now the de facto reference for AI application risk.</a:t>
            </a:r>
          </a:p>
          <a:p>
            <a:r>
              <a:t> Why it matters to defenders:</a:t>
            </a:r>
          </a:p>
          <a:p>
            <a:r>
              <a:t> Defines the threat categories you are expected to defend against</a:t>
            </a:r>
          </a:p>
          <a:p>
            <a:r>
              <a:t> Maps directly to where security controls must be placed</a:t>
            </a:r>
          </a:p>
          <a:p>
            <a:r>
              <a:t> Provides a shared vocabulary across security, engineering, and compliance teams</a:t>
            </a:r>
          </a:p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buselliyy-320959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742431"/>
            <a:ext cx="7507224" cy="112608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Classic OWASP vs OWASP GenAI — The Mindset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>
            <a:r>
              <a:t> The same principles apply — but the attack surface has shifted inward, into the model itself.</a:t>
            </a:r>
          </a:p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Classic OWASP Top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OWASP GenAI Top 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Input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Structured (forms, JSON, 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Natural language (prompts)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Attack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 endpoints, DB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Context window, embeddings, tools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Injection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Interpreter (SQL, OS, LDAP)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model and instructions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Defense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WAF, input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 + AI gateway + guardrails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Determinism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Predictable exploit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Probabilistic — success varies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Output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returned from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may generate malicious output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Libraries, 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Models, datasets, plugins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pexels-adrien-olichon-1257089-265215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742431"/>
            <a:ext cx="7507224" cy="11260836"/>
          </a:xfrm>
          <a:prstGeom prst="rect">
            <a:avLst/>
          </a:prstGeom>
        </p:spPr>
      </p:pic>
      <p:pic>
        <p:nvPicPr>
          <p:cNvPr id="7" name="Picture 6" descr="pexels-john-netrebchuk-768591069-2799878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9692640"/>
            <a:ext cx="7507224" cy="133980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OWASP GenAI Top 10 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>
            <a:r>
              <a:t> We will cover each in depth — with specific attention to where WAF controls apply and where they fall short.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Insecure Output Handling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Training Data Poisoning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Denial of Service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Supply Chain Vulnerabilities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Sensitive Information Disclosure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Excessive Agency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Vector and Embedding Weaknesses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Misinformation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Unbounded Consumption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LLM01 — Prompt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An attacker crafts input that overrides or subverts the developer's instructions to the model.</a:t>
            </a:r>
          </a:p>
          <a:p>
            <a:r>
              <a:t> Classic analogy: SQL injection replaces trusted SQL with attacker-supplied SQL.</a:t>
            </a:r>
            <a:r>
              <a:t> Prompt injection replaces trusted instructions with attacker-supplied instructions.</a:t>
            </a:r>
          </a:p>
          <a:p>
            <a:r>
              <a:t> Two variants:</a:t>
            </a:r>
          </a:p>
          <a:p>
            <a:r>
              <a:rPr b="1"/>
              <a:t> Direct</a:t>
            </a:r>
            <a:r>
              <a:t> — attacker controls the user message directly</a:t>
            </a:r>
          </a:p>
          <a:p>
            <a:r>
              <a:rPr b="1"/>
              <a:t> Indirect</a:t>
            </a:r>
            <a:r>
              <a:t> — attacker plants instructions in data the model retrieves (documents, web pages, emails)</a:t>
            </a:r>
          </a:p>
          <a:p/>
          <a:p/>
          <a:p>
            <a:r>
              <a:t> The model may comply — because it cannot cryptographically distinguish instructions from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4608"/>
            <a:ext cx="8915400" cy="6851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LLM01 — How It Differs from Classic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>
            <a:r>
              <a:t> There is no</a:t>
            </a:r>
            <a:r>
              <a:rPr b="1"/>
              <a:t> parameterized prompt</a:t>
            </a:r>
            <a:r>
              <a:t> equivalent. This is an unsolved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Database interpreter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Language model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Delimiter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Quote characters, semicolons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Natural language transitions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Pattern matching works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Semantic — patterns are insufficient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Parameterized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equivalent exists yet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Determinism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Reliably exploitable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Probabilistic — varies by model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Instructions, data, tool calls, exfil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LLM01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Block known injection phrase patterns (</a:t>
            </a:r>
            <a:r>
              <a:rPr>
                <a:latin typeface="Courier New"/>
              </a:rPr>
              <a:t> ignore previous instructions</a:t>
            </a:r>
            <a:r>
              <a:t> ,</a:t>
            </a:r>
            <a:r>
              <a:rPr>
                <a:latin typeface="Courier New"/>
              </a:rPr>
              <a:t> disregard your system prompt</a:t>
            </a:r>
            <a:r>
              <a:t> )</a:t>
            </a:r>
          </a:p>
          <a:p>
            <a:r>
              <a:t> Enforce maximum prompt length limits</a:t>
            </a:r>
          </a:p>
          <a:p>
            <a:r>
              <a:t> Detect encoding tricks (base64, ROT13, Unicode homoglyphs) in request bodies</a:t>
            </a:r>
          </a:p>
          <a:p>
            <a:r>
              <a:t> Rate limit suspicious users who cycle through injection variations</a:t>
            </a:r>
          </a:p>
          <a:p>
            <a:r>
              <a:t> Log all prompts for downstream analysis</a:t>
            </a:r>
          </a:p>
          <a:p>
            <a:r>
              <a:t> Where WAF fails:</a:t>
            </a:r>
          </a:p>
          <a:p>
            <a:r>
              <a:t> Cannot evaluate semantic intent — a paraphrased injection bypasses keyword rules</a:t>
            </a:r>
          </a:p>
          <a:p>
            <a:r>
              <a:t> Indirect injection is inside retrieved documents, not the HTTP request</a:t>
            </a:r>
          </a:p>
          <a:p>
            <a:r>
              <a:t> Multi-turn attacks spread manipulation across many requests</a:t>
            </a:r>
          </a:p>
          <a:p>
            <a:r>
              <a:t> Obfuscated instructions pass through as benign text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LLM02 — Insecure Output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The model's output is consumed by downstream systems without sanitization, creating secondary injection vulnerabilities.</a:t>
            </a:r>
          </a:p>
          <a:p>
            <a:r>
              <a:t> The model's response is treated as trusted — but it may contain:</a:t>
            </a:r>
          </a:p>
          <a:p>
            <a:r>
              <a:t> JavaScript for XSS</a:t>
            </a:r>
          </a:p>
          <a:p>
            <a:r>
              <a:t> Shell commands for command injection</a:t>
            </a:r>
          </a:p>
          <a:p>
            <a:r>
              <a:t> SQL for database injection</a:t>
            </a:r>
          </a:p>
          <a:p>
            <a:r>
              <a:t> Markdown/HTML that renders in the browser</a:t>
            </a:r>
          </a:p>
          <a:p>
            <a:r>
              <a:t> Instructions for downstream agents or models</a:t>
            </a:r>
          </a:p>
          <a:p>
            <a:r>
              <a:t> If the application executes model output directly, the attacker has code execution.</a:t>
            </a:r>
          </a:p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3520"/>
            <a:ext cx="8915400" cy="1020536"/>
          </a:xfrm>
          <a:prstGeom prst="rect">
            <a:avLst/>
          </a:prstGeom>
        </p:spPr>
      </p:pic>
      <p:pic>
        <p:nvPicPr>
          <p:cNvPr id="6" name="Picture 5" descr="pexels-keira-burton-66242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6620256"/>
            <a:ext cx="7507224" cy="112608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LLM02 — How It Differs from Classic Output Encoding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Classic OWASP A03 (Injection) covers output encoding for XSS.</a:t>
            </a:r>
            <a:r>
              <a:t> LLM02 is the</a:t>
            </a:r>
            <a:r>
              <a:rPr b="1"/>
              <a:t> AI-specific amplification</a:t>
            </a:r>
            <a:r>
              <a:t> of the same class of problem.</a:t>
            </a:r>
          </a:p>
          <a:p>
            <a:r>
              <a:t> Differences:</a:t>
            </a:r>
          </a:p>
          <a:p>
            <a:r>
              <a:t> Output is freeform text — not a structured query</a:t>
            </a:r>
          </a:p>
          <a:p>
            <a:r>
              <a:t> Output can be arbitrarily long and complex</a:t>
            </a:r>
          </a:p>
          <a:p>
            <a:r>
              <a:t> The model may helpfully format output as code, HTML, or JSON</a:t>
            </a:r>
          </a:p>
          <a:p>
            <a:r>
              <a:t> Output may look legitimate while embedding malicious payloads</a:t>
            </a:r>
          </a:p>
          <a:p>
            <a:r>
              <a:t> Attacker does not need direct access — indirect injection triggers the output</a:t>
            </a:r>
          </a:p>
          <a:p>
            <a:r>
              <a:t> Real-world example: An AI coding assistant generates a Bash script with a reverse shell embedded in a comment block.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LLM02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Inspect response bodies for known dangerous patterns (shell commands,</a:t>
            </a:r>
            <a:r>
              <a:rPr>
                <a:latin typeface="Courier New"/>
              </a:rPr>
              <a:t> &lt;script&gt;</a:t>
            </a:r>
            <a:r>
              <a:t> , SQL keywords)</a:t>
            </a:r>
          </a:p>
          <a:p>
            <a:r>
              <a:t> Apply output size limits to detect unusually large responses</a:t>
            </a:r>
          </a:p>
          <a:p>
            <a:r>
              <a:t> Block responses containing file paths, credentials, or system information patterns</a:t>
            </a:r>
          </a:p>
          <a:p>
            <a:r>
              <a:t> Enforce content-type validation on AI API responses</a:t>
            </a:r>
          </a:p>
          <a:p>
            <a:r>
              <a:t> Where WAF fails:</a:t>
            </a:r>
          </a:p>
          <a:p>
            <a:r>
              <a:t> Cannot evaluate whether code in the response is malicious vs. legitimate</a:t>
            </a:r>
          </a:p>
          <a:p>
            <a:r>
              <a:t> Streaming responses arrive in fragments — buffering is required for full inspection</a:t>
            </a:r>
          </a:p>
          <a:p>
            <a:r>
              <a:t> Attacker can encode payload in formats WAF does not inspect (base64 in JSON)</a:t>
            </a:r>
          </a:p>
          <a:p>
            <a:r>
              <a:t> No visibility into how the application processes the output after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LLM03 — Training Data Poisoning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Attackers inject malicious content into training datasets, pre-training corpora, or fine-tuning data to introduce backdoors or biases into the model.</a:t>
            </a:r>
          </a:p>
          <a:p>
            <a:r>
              <a:t> Attack vectors:</a:t>
            </a:r>
          </a:p>
          <a:p>
            <a:r>
              <a:t> Poisoning public datasets the model was trained on</a:t>
            </a:r>
          </a:p>
          <a:p>
            <a:r>
              <a:t> Submitting malicious content to data scraping targets</a:t>
            </a:r>
          </a:p>
          <a:p>
            <a:r>
              <a:t> Compromising fine-tuning pipelines</a:t>
            </a:r>
          </a:p>
          <a:p>
            <a:r>
              <a:t> Inserting backdoor triggers — specific inputs that produce attacker-defined outputs</a:t>
            </a:r>
          </a:p>
          <a:p/>
          <a:p/>
          <a:p>
            <a:r>
              <a:t> This is a</a:t>
            </a:r>
            <a:r>
              <a:rPr b="1"/>
              <a:t> supply chain attack on the model itself</a:t>
            </a:r>
            <a:r>
              <a:t> .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4608"/>
            <a:ext cx="8915400" cy="1092574"/>
          </a:xfrm>
          <a:prstGeom prst="rect">
            <a:avLst/>
          </a:prstGeom>
        </p:spPr>
      </p:pic>
      <p:pic>
        <p:nvPicPr>
          <p:cNvPr id="6" name="Picture 5" descr="pexels-guvo59-290246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6181344"/>
            <a:ext cx="7507224" cy="112608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LLM03 — How It Differs from Classic Supply Chain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t> Training data poisoning may not be discoverable until the backdoor is triggered in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Classic 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Training Data Poisoning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Compromised library/dependency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Compromised training dataset or model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Detected via code review or SCA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Extremely difficult to detect post-training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Patch = update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Patch = retrain or replace model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Affects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Affects behavior/reasoning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SBOM provides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equivalent standard for model provenance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LLM03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rPr b="1"/>
              <a:t> Minimal</a:t>
            </a:r>
            <a:r>
              <a:t> — training data poisoning happens before the model is deployed</a:t>
            </a:r>
          </a:p>
          <a:p>
            <a:r>
              <a:t> WAF has no role in the training pipeline</a:t>
            </a:r>
          </a:p>
          <a:p>
            <a:r>
              <a:t> Where WAF helps operationally:</a:t>
            </a:r>
          </a:p>
          <a:p>
            <a:r>
              <a:t> Detect unusual model behavior patterns that may indicate a backdoor was triggered</a:t>
            </a:r>
          </a:p>
          <a:p>
            <a:r>
              <a:t> Log and alert on responses that deviate significantly from expected behavior</a:t>
            </a:r>
          </a:p>
          <a:p>
            <a:r>
              <a:t> Rate limit requests matching patterns suspected to be trigger activation attempts</a:t>
            </a:r>
          </a:p>
          <a:p>
            <a:r>
              <a:t> Where WAF fails:</a:t>
            </a:r>
          </a:p>
          <a:p>
            <a:r>
              <a:t> Cannot inspect or validate model weights</a:t>
            </a:r>
          </a:p>
          <a:p>
            <a:r>
              <a:t> Cannot detect backdoors through HTTP traffic alone</a:t>
            </a:r>
          </a:p>
          <a:p>
            <a:r>
              <a:t> Post-training — the malicious behavior is baked into the model</a:t>
            </a:r>
          </a:p>
          <a:p>
            <a:r>
              <a:t> Defense priority:</a:t>
            </a:r>
            <a:r>
              <a:rPr b="1"/>
              <a:t> model provenance, supply chain validation, and behavioral testing</a:t>
            </a:r>
            <a:r>
              <a:t> — not WAF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LLM04 — Model Denial of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Attackers craft inputs that consume excessive compute resources, exhaust context windows, or degrade model availability.</a:t>
            </a:r>
          </a:p>
          <a:p>
            <a:r>
              <a:t> Attack variants:</a:t>
            </a:r>
          </a:p>
          <a:p>
            <a:r>
              <a:rPr b="1"/>
              <a:t> Token flooding</a:t>
            </a:r>
            <a:r>
              <a:t> — sending enormous prompts that maximize context window usage</a:t>
            </a:r>
          </a:p>
          <a:p>
            <a:r>
              <a:rPr b="1"/>
              <a:t> Computationally expensive queries</a:t>
            </a:r>
            <a:r>
              <a:t> — inputs that trigger long chain-of-thought reasoning</a:t>
            </a:r>
          </a:p>
          <a:p>
            <a:r>
              <a:rPr b="1"/>
              <a:t> Recursive generation</a:t>
            </a:r>
            <a:r>
              <a:t> — prompts that instruct the model to generate very long outputs</a:t>
            </a:r>
          </a:p>
          <a:p>
            <a:r>
              <a:rPr b="1"/>
              <a:t> Context stuffing</a:t>
            </a:r>
            <a:r>
              <a:t> — filling context with junk to crowd out system instructions</a:t>
            </a:r>
          </a:p>
          <a:p>
            <a:r>
              <a:rPr b="1"/>
              <a:t> Repetition attacks</a:t>
            </a:r>
            <a:r>
              <a:t> — sending the same expensive query repeatedly</a:t>
            </a:r>
          </a:p>
          <a:p>
            <a:r>
              <a:t> Cost implication: LLM APIs charge per token — this is also a</a:t>
            </a:r>
            <a:r>
              <a:rPr b="1"/>
              <a:t> denial-of-wallet</a:t>
            </a:r>
            <a:r>
              <a:t> attack.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344"/>
            <a:ext cx="11112500" cy="787400"/>
          </a:xfrm>
          <a:prstGeom prst="rect">
            <a:avLst/>
          </a:prstGeom>
        </p:spPr>
      </p:pic>
      <p:pic>
        <p:nvPicPr>
          <p:cNvPr id="6" name="Picture 5" descr="pexels-markusspiske-42013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7059168"/>
            <a:ext cx="7507224" cy="112594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LLM04 — How It Differs from Classic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t> A single carefully crafted prompt may cost $10-100 in API calls while looking like a normal user request.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Classic 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DoS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Exhausts network/CPU/memory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Exhausts LLM compute + API budget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Volume-based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 be single-request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Blocked by 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Requires token-aware rate limiting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 financial cost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Each token costs money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Traffic anomaly 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Expensive prompts look syntactically normal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LLM04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Enforce maximum request body size limits</a:t>
            </a:r>
          </a:p>
          <a:p>
            <a:r>
              <a:t> Implement token-count estimation on inbound prompts</a:t>
            </a:r>
          </a:p>
          <a:p>
            <a:r>
              <a:t> Rate limit by IP, user, API key — both request count and estimated token volume</a:t>
            </a:r>
          </a:p>
          <a:p>
            <a:r>
              <a:t> Detect and block repeated identical or near-identical expensive requests</a:t>
            </a:r>
          </a:p>
          <a:p>
            <a:r>
              <a:t> Alert on sudden spikes in prompt size or request frequency</a:t>
            </a:r>
          </a:p>
          <a:p/>
          <a:p/>
          <a:p>
            <a:r>
              <a:t> Where WAF fails:</a:t>
            </a:r>
          </a:p>
          <a:p>
            <a:r>
              <a:t> Cannot measure actual inference compute cost</a:t>
            </a:r>
          </a:p>
          <a:p>
            <a:r>
              <a:t> Token estimation is approximate</a:t>
            </a:r>
          </a:p>
          <a:p>
            <a:r>
              <a:t> Legitimate use cases (document summarization) require large prompts</a:t>
            </a:r>
          </a:p>
          <a:p>
            <a:r>
              <a:t> Streaming attacks may consume resources before WAF can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4608"/>
            <a:ext cx="69850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LLM05 — Supply Chain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Insecure third-party components in the AI pipeline — pre-trained models, plugins, datasets, libraries, or external integrations — introduce risk.</a:t>
            </a:r>
          </a:p>
          <a:p>
            <a:r>
              <a:t> Attack surfaces:</a:t>
            </a:r>
          </a:p>
          <a:p>
            <a:r>
              <a:t> Pre-trained base models from unverified sources</a:t>
            </a:r>
          </a:p>
          <a:p>
            <a:r>
              <a:t> Hugging Face model hub — any user can publish models</a:t>
            </a:r>
          </a:p>
          <a:p>
            <a:r>
              <a:t> LLM plugins and tool integrations</a:t>
            </a:r>
          </a:p>
          <a:p>
            <a:r>
              <a:t> Python packages (</a:t>
            </a:r>
            <a:r>
              <a:rPr>
                <a:latin typeface="Courier New"/>
              </a:rPr>
              <a:t> langchain</a:t>
            </a:r>
            <a:r>
              <a:t> ,</a:t>
            </a:r>
            <a:r>
              <a:rPr>
                <a:latin typeface="Courier New"/>
              </a:rPr>
              <a:t> transformers</a:t>
            </a:r>
            <a:r>
              <a:t> ,</a:t>
            </a:r>
            <a:r>
              <a:rPr>
                <a:latin typeface="Courier New"/>
              </a:rPr>
              <a:t> openai</a:t>
            </a:r>
            <a:r>
              <a:t> )</a:t>
            </a:r>
          </a:p>
          <a:p>
            <a:r>
              <a:t> Fine-tuning datasets from third-party sources</a:t>
            </a:r>
          </a:p>
          <a:p>
            <a:r>
              <a:t> MCP servers from external vendors</a:t>
            </a:r>
          </a:p>
          <a:p>
            <a:r>
              <a:t> AI API providers themselves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2431"/>
            <a:ext cx="63754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LLM05 — How It Differs from Classic Supply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Classic Supply Chain (OWASP A06)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Supply Chain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Libraries and 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Models, datasets, plugins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Code execution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Behavioral manipulation risk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SCA tools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equivalent model scanning standard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CVE database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formal model vulnerability registry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Patch = update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Patch = replace model or retrain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Dependency tree is 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Training lineage is often opaque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LLM05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Inspect and validate API calls to external LLM providers (model routing)</a:t>
            </a:r>
          </a:p>
          <a:p>
            <a:r>
              <a:t> Enforce allowlists for which model endpoints are permitted</a:t>
            </a:r>
          </a:p>
          <a:p>
            <a:r>
              <a:t> Block unexpected outbound connections from AI components</a:t>
            </a:r>
          </a:p>
          <a:p>
            <a:r>
              <a:t> Detect and alert on API responses from untrusted model sources</a:t>
            </a:r>
          </a:p>
          <a:p>
            <a:r>
              <a:t> Where WAF fails:</a:t>
            </a:r>
          </a:p>
          <a:p>
            <a:r>
              <a:t> Cannot inspect model weights or training provenance</a:t>
            </a:r>
          </a:p>
          <a:p>
            <a:r>
              <a:t> Cannot validate MCP server behavior</a:t>
            </a:r>
          </a:p>
          <a:p>
            <a:r>
              <a:t> Plugin/tool behavior happens inside the application, post-WAF</a:t>
            </a:r>
          </a:p>
          <a:p>
            <a:r>
              <a:t> Python package execution is not visible at the HTTP layer</a:t>
            </a:r>
          </a:p>
          <a:p>
            <a:r>
              <a:t> Defense priority:</a:t>
            </a:r>
            <a:r>
              <a:rPr b="1"/>
              <a:t> Software composition analysis, model provenance validation, signed models, and MCP server vetting.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LLM06 — Sensitive Information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The model leaks confidential information — either from its training data, from the system prompt, or from retrieved documents.</a:t>
            </a:r>
          </a:p>
          <a:p>
            <a:r>
              <a:t> Types of disclosure:</a:t>
            </a:r>
          </a:p>
          <a:p>
            <a:r>
              <a:rPr b="1"/>
              <a:t> Training data memorization</a:t>
            </a:r>
            <a:r>
              <a:t> — model recites PII, credentials, or proprietary text from training</a:t>
            </a:r>
          </a:p>
          <a:p>
            <a:r>
              <a:rPr b="1"/>
              <a:t> System prompt leakage</a:t>
            </a:r>
            <a:r>
              <a:t> — model reveals developer instructions when asked</a:t>
            </a:r>
          </a:p>
          <a:p>
            <a:r>
              <a:rPr b="1"/>
              <a:t> RAG data leakage</a:t>
            </a:r>
            <a:r>
              <a:t> — model returns retrieved documents the user should not access</a:t>
            </a:r>
          </a:p>
          <a:p>
            <a:r>
              <a:rPr b="1"/>
              <a:t> Cross-user leakage</a:t>
            </a:r>
            <a:r>
              <a:t> — multi-tenant systems expose one user's context to another</a:t>
            </a:r>
          </a:p>
          <a:p>
            <a:r>
              <a:rPr b="1"/>
              <a:t> Credential disclosure</a:t>
            </a:r>
            <a:r>
              <a:t> — model reveals API keys or passwords from context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344"/>
            <a:ext cx="88138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LLM06 — How It Differs from Classic Information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Classic OWASP A02 (Cryptographic Failures) / A05 (Security Misconfiguration) cover data exposure through misconfigured systems.</a:t>
            </a:r>
          </a:p>
          <a:p>
            <a:r>
              <a:t> LLM06 adds:</a:t>
            </a:r>
          </a:p>
          <a:p>
            <a:r>
              <a:t> The model itself is a data store that can be queried with natural language</a:t>
            </a:r>
          </a:p>
          <a:p>
            <a:r>
              <a:t> Retrieval boundaries are semantic, not access-controlled</a:t>
            </a:r>
          </a:p>
          <a:p>
            <a:r>
              <a:t> Training data may contain sensitive information the developer is unaware of</a:t>
            </a:r>
          </a:p>
          <a:p>
            <a:r>
              <a:t> Users can socially engineer the model into disclosing restricted content</a:t>
            </a:r>
          </a:p>
          <a:p>
            <a:r>
              <a:t> No equivalent of</a:t>
            </a:r>
            <a:r>
              <a:rPr>
                <a:latin typeface="Courier New"/>
              </a:rPr>
              <a:t> SELECT *</a:t>
            </a:r>
            <a:r>
              <a:t> — the model discloses based on probabilistic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LLM06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Scan response bodies for patterns matching PII (SSN, credit card, email addresses)</a:t>
            </a:r>
          </a:p>
          <a:p>
            <a:r>
              <a:t> Detect and redact credentials appearing in responses (API key patterns, password patterns)</a:t>
            </a:r>
          </a:p>
          <a:p>
            <a:r>
              <a:t> Apply response content filtering for known sensitive data patterns</a:t>
            </a:r>
          </a:p>
          <a:p>
            <a:r>
              <a:t> Block responses that appear to be system prompt verbatim copies</a:t>
            </a:r>
          </a:p>
          <a:p/>
          <a:p/>
          <a:p>
            <a:r>
              <a:t> Where WAF fails:</a:t>
            </a:r>
          </a:p>
          <a:p>
            <a:r>
              <a:t> Cannot semantically recognize that a response contains confidential business logic</a:t>
            </a:r>
          </a:p>
          <a:p>
            <a:r>
              <a:t> Cannot assess cross-user leakage without session context</a:t>
            </a:r>
          </a:p>
          <a:p>
            <a:r>
              <a:t> Training data memorization cannot be detected at the HTTP layer</a:t>
            </a:r>
          </a:p>
          <a:p>
            <a:r>
              <a:t> System prompt leakage requires understanding what the system prompt contains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4608"/>
            <a:ext cx="86614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LLM07 — Excessive Agency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An LLM-based agent is granted more permissions, capabilities, or autonomy than necessary — and an attacker exploits this to cause unintended actions.</a:t>
            </a:r>
          </a:p>
          <a:p>
            <a:r>
              <a:t> This is the AI equivalent of</a:t>
            </a:r>
            <a:r>
              <a:rPr b="1"/>
              <a:t> least privilege violation</a:t>
            </a:r>
            <a:r>
              <a:t> — but with dramatically higher impact because the agent can act autonomously.</a:t>
            </a:r>
          </a:p>
          <a:p>
            <a:r>
              <a:t> Examples:</a:t>
            </a:r>
          </a:p>
          <a:p>
            <a:r>
              <a:t> Chatbot with read-write database access, when it only needs read</a:t>
            </a:r>
          </a:p>
          <a:p>
            <a:r>
              <a:t> Email assistant that can send to any recipient, when it should only reply</a:t>
            </a:r>
          </a:p>
          <a:p>
            <a:r>
              <a:t> Code agent with production deployment rights, when it should only work in staging</a:t>
            </a:r>
          </a:p>
          <a:p>
            <a:r>
              <a:t> Document agent that can delete files, when it should only read them</a:t>
            </a:r>
          </a:p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59168"/>
            <a:ext cx="11874500" cy="1320800"/>
          </a:xfrm>
          <a:prstGeom prst="rect">
            <a:avLst/>
          </a:prstGeom>
        </p:spPr>
      </p:pic>
      <p:pic>
        <p:nvPicPr>
          <p:cNvPr id="6" name="Picture 5" descr="pexels-ai25studioai-546759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7936992"/>
            <a:ext cx="7507224" cy="500544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LLM07 — How It Differs from Classic Privilege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t> The problem is not broken access control — it is that the agent has access it should not have in the first 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Classic Privilege 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Excessive Agency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Attacker exploits a vulnerability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Attacker issues a natural language instruction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Requires technical exploit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Requires only a convincing prompt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Privilege granted by system flaw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Privilege already granted — just misused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Clear audit 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Agent's "reasoning" may not be logged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Blocked by RBAC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RBAC doesn't know what the agent intends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LLM07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Monitor outbound API calls made by agents — detect unexpected destinations</a:t>
            </a:r>
          </a:p>
          <a:p>
            <a:r>
              <a:t> Apply rate limits on agent tool calls (e.g., max N API calls per session)</a:t>
            </a:r>
          </a:p>
          <a:p>
            <a:r>
              <a:t> Block agent calls to sensitive endpoints (e.g.,</a:t>
            </a:r>
            <a:r>
              <a:rPr>
                <a:latin typeface="Courier New"/>
              </a:rPr>
              <a:t> /api/admin/*</a:t>
            </a:r>
            <a:r>
              <a:t> ) unless explicitly whitelisted</a:t>
            </a:r>
          </a:p>
          <a:p>
            <a:r>
              <a:t> Detect anomalous patterns: bulk data reads, mass email sends, file deletions</a:t>
            </a:r>
          </a:p>
          <a:p>
            <a:r>
              <a:t> Where WAF fails:</a:t>
            </a:r>
          </a:p>
          <a:p>
            <a:r>
              <a:t> Cannot evaluate whether an agent action was intended by a legitimate user or an attacker</a:t>
            </a:r>
          </a:p>
          <a:p>
            <a:r>
              <a:t> Cannot see the reasoning that led to the tool call</a:t>
            </a:r>
          </a:p>
          <a:p>
            <a:r>
              <a:t> Cannot enforce semantic intent — only HTTP-layer actions</a:t>
            </a:r>
          </a:p>
          <a:p>
            <a:r>
              <a:t> Defense priority:</a:t>
            </a:r>
            <a:r>
              <a:rPr b="1"/>
              <a:t> Least privilege for agent permissions, approval gates for sensitive actions, and human-in-the-loop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LLM08 — Vector and Embedding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Attacks targeting the vector database and embedding layer of RAG systems — including poisoned embeddings, unauthorized retrieval, and semantic search manipulation.</a:t>
            </a:r>
          </a:p>
          <a:p>
            <a:r>
              <a:t> Attack types:</a:t>
            </a:r>
          </a:p>
          <a:p>
            <a:r>
              <a:rPr b="1"/>
              <a:t> Document poisoning</a:t>
            </a:r>
            <a:r>
              <a:t> — inject malicious text into the vector store that gets retrieved for targeted queries</a:t>
            </a:r>
          </a:p>
          <a:p>
            <a:r>
              <a:rPr b="1"/>
              <a:t> Embedding inversion</a:t>
            </a:r>
            <a:r>
              <a:t> — reconstruct original text from embedding vectors (privacy violation)</a:t>
            </a:r>
          </a:p>
          <a:p>
            <a:r>
              <a:rPr b="1"/>
              <a:t> Retrieval manipulation</a:t>
            </a:r>
            <a:r>
              <a:t> — craft queries that trigger retrieval of specific malicious documents</a:t>
            </a:r>
          </a:p>
          <a:p>
            <a:r>
              <a:rPr b="1"/>
              <a:t> Namespace collision</a:t>
            </a:r>
            <a:r>
              <a:t> — in multi-tenant vector stores, cross-user data leakage via embedding proximity</a:t>
            </a:r>
          </a:p>
          <a:p>
            <a:r>
              <a:rPr b="1"/>
              <a:t> Denial of retrieval</a:t>
            </a:r>
            <a:r>
              <a:t> — flood the vector store with noise to crowd out legitimate documents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59168"/>
            <a:ext cx="108077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LLM08 — How It Differs from Classic Database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t> The attack surface is the</a:t>
            </a:r>
            <a:r>
              <a:rPr b="1"/>
              <a:t> meaning</a:t>
            </a:r>
            <a:r>
              <a:t> of documents, not their syntax.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SQL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Vector/Embedding Attack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Injects SQL syntax into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Injects semantic content into the knowledge base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Detected by query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Requires semantic analysis to detect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Parameterized queries prevent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equivalent defense standard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Operates at query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Operates at document ingestion time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Affects structured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Affects retrieved context for AI responses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LLM08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Inspect document ingestion API calls for known injection patterns</a:t>
            </a:r>
          </a:p>
          <a:p>
            <a:r>
              <a:t> Apply input validation and size limits on document upload endpoints</a:t>
            </a:r>
          </a:p>
          <a:p>
            <a:r>
              <a:t> Rate limit bulk document ingestion operations</a:t>
            </a:r>
          </a:p>
          <a:p>
            <a:r>
              <a:t> Monitor retrieval API calls for unusual query patterns</a:t>
            </a:r>
          </a:p>
          <a:p>
            <a:r>
              <a:t> Where WAF fails:</a:t>
            </a:r>
          </a:p>
          <a:p>
            <a:r>
              <a:t> Cannot inspect vector database internals</a:t>
            </a:r>
          </a:p>
          <a:p>
            <a:r>
              <a:t> Cannot detect semantically poisoned documents via HTTP inspection</a:t>
            </a:r>
          </a:p>
          <a:p>
            <a:r>
              <a:t> Embedding inversion attacks operate on stored data, not HTTP traffic</a:t>
            </a:r>
          </a:p>
          <a:p>
            <a:r>
              <a:t> Retrieval manipulation looks like a normal search query</a:t>
            </a:r>
          </a:p>
          <a:p>
            <a:r>
              <a:t> Defense priority:</a:t>
            </a:r>
            <a:r>
              <a:rPr b="1"/>
              <a:t> Document ingestion sanitization, trust scoring, metadata isolation, and retrieval audit logging.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LLM09 — Misinformation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The LLM generates false, misleading, or fabricated information — either through hallucination, deliberate manipulation, or adversarial prompting.</a:t>
            </a:r>
          </a:p>
          <a:p>
            <a:r>
              <a:t> Not purely a security risk — but operationally critical for AI systems making decisions.</a:t>
            </a:r>
          </a:p>
          <a:p>
            <a:r>
              <a:t> Risks:</a:t>
            </a:r>
          </a:p>
          <a:p>
            <a:r>
              <a:rPr b="1"/>
              <a:t> Hallucination</a:t>
            </a:r>
            <a:r>
              <a:t> — model confidently generates false facts</a:t>
            </a:r>
          </a:p>
          <a:p>
            <a:r>
              <a:rPr b="1"/>
              <a:t> Adversarial fabrication</a:t>
            </a:r>
            <a:r>
              <a:t> — attacker crafts prompts to induce specific false outputs</a:t>
            </a:r>
          </a:p>
          <a:p>
            <a:r>
              <a:rPr b="1"/>
              <a:t> Disinformation campaigns</a:t>
            </a:r>
            <a:r>
              <a:t> — automated generation of convincing false content at scale</a:t>
            </a:r>
          </a:p>
          <a:p>
            <a:r>
              <a:rPr b="1"/>
              <a:t> Compliance risk</a:t>
            </a:r>
            <a:r>
              <a:t> — AI-generated legal, medical, or financial guidance that is wrong</a:t>
            </a:r>
          </a:p>
          <a:p>
            <a:r>
              <a:rPr b="1"/>
              <a:t> Decision support abuse</a:t>
            </a:r>
            <a:r>
              <a:t> — AI recommendations based on fabricated data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59168"/>
            <a:ext cx="106553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LLM09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Rate limit automated content generation to reduce disinformation scale</a:t>
            </a:r>
          </a:p>
          <a:p>
            <a:r>
              <a:t> Detect and flag high-volume generation patterns suggesting bot-driven campaigns</a:t>
            </a:r>
          </a:p>
          <a:p>
            <a:r>
              <a:t> Block known prompt patterns designed to induce specific false outputs</a:t>
            </a:r>
          </a:p>
          <a:p>
            <a:r>
              <a:t> Monitor for unusual response patterns (very high confidence + factual claims)</a:t>
            </a:r>
          </a:p>
          <a:p>
            <a:r>
              <a:t> Where WAF fails:</a:t>
            </a:r>
          </a:p>
          <a:p>
            <a:r>
              <a:t> Cannot evaluate factual accuracy of model output</a:t>
            </a:r>
          </a:p>
          <a:p>
            <a:r>
              <a:t> Cannot distinguish hallucination from correct response</a:t>
            </a:r>
          </a:p>
          <a:p>
            <a:r>
              <a:t> Semantic fabrication is not detectable at the HTTP layer</a:t>
            </a:r>
          </a:p>
          <a:p>
            <a:r>
              <a:t> Defense priority:</a:t>
            </a:r>
            <a:r>
              <a:rPr b="1"/>
              <a:t> Retrieval grounding (RAG), output verification pipelines, human review for high-stakes decisions, and factual guardrails.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LLM10 — Unbounded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Definition:</a:t>
            </a:r>
            <a:r>
              <a:t> AI inference consumes compute, memory, network, and financial resources without enforced limits — enabling denial-of-service and denial-of-wallet attacks.</a:t>
            </a:r>
          </a:p>
          <a:p>
            <a:r>
              <a:t> This is LLM04 (Model DoS) extended to cover the</a:t>
            </a:r>
            <a:r>
              <a:rPr b="1"/>
              <a:t> full resource consumption model</a:t>
            </a:r>
            <a:r>
              <a:t> including cost.</a:t>
            </a:r>
          </a:p>
          <a:p>
            <a:r>
              <a:t> Resource dimensions:</a:t>
            </a:r>
          </a:p>
          <a:p>
            <a:r>
              <a:rPr b="1"/>
              <a:t> Tokens</a:t>
            </a:r>
            <a:r>
              <a:t> — input + output tokens billed per API call</a:t>
            </a:r>
          </a:p>
          <a:p>
            <a:r>
              <a:rPr b="1"/>
              <a:t> Compute</a:t>
            </a:r>
            <a:r>
              <a:t> — GPU time for inference</a:t>
            </a:r>
          </a:p>
          <a:p>
            <a:r>
              <a:rPr b="1"/>
              <a:t> Memory</a:t>
            </a:r>
            <a:r>
              <a:t> — context window memory during inference</a:t>
            </a:r>
          </a:p>
          <a:p>
            <a:r>
              <a:rPr b="1"/>
              <a:t> Network</a:t>
            </a:r>
            <a:r>
              <a:t> — large prompt/response payloads</a:t>
            </a:r>
          </a:p>
          <a:p>
            <a:r>
              <a:rPr b="1"/>
              <a:t> Rate limits</a:t>
            </a:r>
            <a:r>
              <a:t> — downstream provider quotas exhausted by abuse</a:t>
            </a:r>
          </a:p>
          <a:p>
            <a:r>
              <a:rPr b="1"/>
              <a:t> Cost</a:t>
            </a:r>
            <a:r>
              <a:t> — financial impact of API bill explosion</a:t>
            </a:r>
          </a:p>
          <a:p>
            <a:r>
              <a:t> A well-funded attacker can bankrupt an organization's AI budget in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LLM10 — Unbounded Consumption Attack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15400" cy="2971800"/>
          </a:xfrm>
          <a:prstGeom prst="rect">
            <a:avLst/>
          </a:prstGeom>
        </p:spPr>
      </p:pic>
      <p:pic>
        <p:nvPicPr>
          <p:cNvPr id="6" name="Picture 5" descr="pexels-liza-sigareva-2149951107-311614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547872"/>
            <a:ext cx="7507224" cy="133461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LLM10 — WAF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WAF helps:</a:t>
            </a:r>
          </a:p>
          <a:p>
            <a:r>
              <a:t> Enforce hard limits on request body size (prompt length)</a:t>
            </a:r>
          </a:p>
          <a:p>
            <a:r>
              <a:t> Implement token-budget enforcement — estimate tokens from prompt length</a:t>
            </a:r>
          </a:p>
          <a:p>
            <a:r>
              <a:t> Apply tiered rate limiting: per IP, per user, per API key, per session</a:t>
            </a:r>
          </a:p>
          <a:p>
            <a:r>
              <a:t> Detect and block automated scraping patterns (no user-agent, fixed timing intervals)</a:t>
            </a:r>
          </a:p>
          <a:p>
            <a:r>
              <a:t> Alert on billing anomalies via API gateway cost dashboards</a:t>
            </a:r>
          </a:p>
          <a:p/>
          <a:p/>
          <a:p/>
          <a:p>
            <a:r>
              <a:t> Where WAF fails:</a:t>
            </a:r>
          </a:p>
          <a:p>
            <a:r>
              <a:t> Cannot measure actual inference cost until after the call completes</a:t>
            </a:r>
          </a:p>
          <a:p>
            <a:r>
              <a:t> Legitimate high-volume use cases require careful allowlisting</a:t>
            </a:r>
          </a:p>
          <a:p>
            <a:r>
              <a:t> Distributed attacks from many IPs bypass per-IP rate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2431"/>
            <a:ext cx="88138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WAF Coverage Map — Full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2228850"/>
                <a:gridCol w="2228850"/>
                <a:gridCol w="222885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 Helps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 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 Defense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LLM01 Prompt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Pattern matching, size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Semantic intent, indirect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 + classifiers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LLM02 Insecure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Response body scanning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Code execution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 sanitization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LLM03 Training Poisoning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Pre-deployment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provenance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LLM04 Model 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Rate limiting, size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Compute cost 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budgets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LLM05 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Endpoint allowlists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Model/plugin internals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SCA + vetting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LLM06 Data Disclosure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PII/credential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Semantic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Response filtering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LLM07 Excessive 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Outbound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Least privilege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LLM08 Embedding Weakness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Ingestion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Vector DB internals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 trust scoring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LLM09 Misinformation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Volume 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Factual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Grounding + guardrails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LLM10 Unbounded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Rate limits, size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Real-time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budgets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WAF Role in GenAI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WAF is a</a:t>
            </a:r>
            <a:r>
              <a:rPr b="1"/>
              <a:t> necessary but not sufficient</a:t>
            </a:r>
            <a:r>
              <a:t> control for AI security.</a:t>
            </a:r>
          </a:p>
          <a:p>
            <a:r>
              <a:t> What WAF does well:</a:t>
            </a:r>
          </a:p>
          <a:p>
            <a:r>
              <a:t> HTTP-layer enforcement (size, rate, auth, headers)</a:t>
            </a:r>
          </a:p>
          <a:p>
            <a:r>
              <a:t> Known bad pattern blocking</a:t>
            </a:r>
          </a:p>
          <a:p>
            <a:r>
              <a:t> Response body scanning for structured patterns</a:t>
            </a:r>
          </a:p>
          <a:p>
            <a:r>
              <a:t> Logging and alerting at the network boundary</a:t>
            </a:r>
          </a:p>
          <a:p>
            <a:r>
              <a:t> What requires additional controls:</a:t>
            </a:r>
          </a:p>
          <a:p>
            <a:r>
              <a:t> Semantic understanding (AI gateway, classifiers)</a:t>
            </a:r>
          </a:p>
          <a:p>
            <a:r>
              <a:t> Prompt/response inspection (guardrails)</a:t>
            </a:r>
          </a:p>
          <a:p>
            <a:r>
              <a:t> Agent behavior monitoring (observability)</a:t>
            </a:r>
          </a:p>
          <a:p>
            <a:r>
              <a:t> Model validation (MLSecOps)</a:t>
            </a:r>
          </a:p>
          <a:p>
            <a:r>
              <a:t> Cost enforcement (billing layer)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344"/>
            <a:ext cx="8915400" cy="9309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GenAI Threat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Before deploying controls, build a threat model for your AI system:</a:t>
            </a:r>
          </a:p>
          <a:p>
            <a:r>
              <a:rPr b="1"/>
              <a:t> What models are used?</a:t>
            </a:r>
            <a:r>
              <a:t> — provider, version, fine-tuned?</a:t>
            </a:r>
          </a:p>
          <a:p>
            <a:r>
              <a:rPr b="1"/>
              <a:t> What data enters the context?</a:t>
            </a:r>
            <a:r>
              <a:t> — user input, documents, tool output?</a:t>
            </a:r>
          </a:p>
          <a:p>
            <a:r>
              <a:rPr b="1"/>
              <a:t> What tools/actions can the model trigger?</a:t>
            </a:r>
          </a:p>
          <a:p>
            <a:r>
              <a:rPr b="1"/>
              <a:t> Who are the users?</a:t>
            </a:r>
            <a:r>
              <a:t> — authenticated, anonymous, external?</a:t>
            </a:r>
          </a:p>
          <a:p>
            <a:r>
              <a:rPr b="1"/>
              <a:t> What data could be disclosed?</a:t>
            </a:r>
            <a:r>
              <a:t> — PII, credentials, business data?</a:t>
            </a:r>
          </a:p>
          <a:p>
            <a:r>
              <a:rPr b="1"/>
              <a:t> What is the cost model?</a:t>
            </a:r>
            <a:r>
              <a:t> — who pays for token consumption?</a:t>
            </a:r>
          </a:p>
          <a:p>
            <a:r>
              <a:rPr b="1"/>
              <a:t> What downstream systems consume model output?</a:t>
            </a:r>
          </a:p>
          <a:p>
            <a:r>
              <a:t> Map each answer to a GenAI Top 10 category.</a:t>
            </a:r>
            <a:r>
              <a:t> Map each category to a control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Reference — Detection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Observable Indicator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Prompt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Keywords: "ignore", "disregard", "new instructions", "you are now"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Output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&lt;script&gt;`, shell metacharacters, SQL in response bod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Model 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 large request body, high token count estimate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Data disclosure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SSN/card/key patterns in response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Excessive 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Unexpected outbound API calls, bulk operations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Embedding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Bulk document ingestion, unusual retrieval queries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Unbounded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 rate spike, response size spike, cost spike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Unexpected model endpoint, unapproved plugin calls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OWASP GenAI Top 10 defines the ten critical AI-specific risks</a:t>
            </a:r>
          </a:p>
          <a:p>
            <a:r>
              <a:t> Classic OWASP patterns have AI analogs — but require new defense strategies</a:t>
            </a:r>
          </a:p>
          <a:p>
            <a:r>
              <a:t> Prompt injection (LLM01) is the most operationally significant risk for defenders</a:t>
            </a:r>
          </a:p>
          <a:p>
            <a:r>
              <a:t> Insecure output handling (LLM02) creates secondary injection risks downstream</a:t>
            </a:r>
          </a:p>
          <a:p>
            <a:r>
              <a:t> Training data poisoning (LLM03) and supply chain (LLM05) are pre-deployment risks requiring MLSecOps</a:t>
            </a:r>
          </a:p>
          <a:p>
            <a:r>
              <a:t> Model DoS and Unbounded Consumption (LLM04/LLM10) require token-aware rate limiting</a:t>
            </a:r>
          </a:p>
          <a:p>
            <a:r>
              <a:t> Sensitive information disclosure (LLM06) is addressable with WAF response scanning</a:t>
            </a:r>
          </a:p>
          <a:p>
            <a:r>
              <a:t> Excessive agency (LLM07) requires least-privilege agent design, not just WAF rules</a:t>
            </a:r>
          </a:p>
          <a:p>
            <a:r>
              <a:t> Vector/embedding weaknesses (LLM08) require controls at the data ingestion layer</a:t>
            </a:r>
          </a:p>
          <a:p>
            <a:r>
              <a:t> Misinformation (LLM09) requires grounding and factual guardrails</a:t>
            </a:r>
          </a:p>
          <a:p>
            <a:r>
              <a:t> WAF addresses HTTP-layer risks — AI gateway and guardrails are required for semantic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3 — Prompt Injection Detection</a:t>
            </a:r>
          </a:p>
          <a:p>
            <a:r>
              <a:t> We go deep on the single most prevalent AI attack:</a:t>
            </a:r>
          </a:p>
          <a:p>
            <a:r>
              <a:t> Direct vs indirect prompt injection</a:t>
            </a:r>
          </a:p>
          <a:p>
            <a:r>
              <a:t> Hidden instructions and document-based attacks</a:t>
            </a:r>
          </a:p>
          <a:p>
            <a:r>
              <a:t> Jailbreak patterns and role confusion</a:t>
            </a:r>
          </a:p>
          <a:p>
            <a:r>
              <a:t> Detection strategies: keywords, regex, semantic classifiers</a:t>
            </a:r>
          </a:p>
          <a:p>
            <a:r>
              <a:t> Building layered detection pipelines</a:t>
            </a:r>
          </a:p>
          <a:p>
            <a:r>
              <a:t> Where detection can and cannot be automated</a:t>
            </a:r>
          </a:p>
          <a:p>
            <a:r>
              <a:t> Module 3 is the most hands-on technical module so far.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1 Recap / Lab 2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Lab 1 (completed):</a:t>
            </a:r>
            <a:r>
              <a:t> Attacked a chatbot with prompt injection — observed what basic defenses catch.</a:t>
            </a:r>
          </a:p>
          <a:p>
            <a:r>
              <a:rPr b="1"/>
              <a:t> Coming up — Lab 2: Bypass Naïve AI Filtering</a:t>
            </a:r>
          </a:p>
          <a:p>
            <a:r>
              <a:t> You will:</a:t>
            </a:r>
          </a:p>
          <a:p>
            <a:r>
              <a:t> Review the basic keyword filter applied to the Lab 1 chatbot</a:t>
            </a:r>
          </a:p>
          <a:p>
            <a:r>
              <a:t> Craft injection payloads that bypass that filter using paraphrasing, encoding, and indirect techniques</a:t>
            </a:r>
          </a:p>
          <a:p>
            <a:r>
              <a:t> Observe the difference between syntactic and semantic defenses</a:t>
            </a:r>
          </a:p>
          <a:p>
            <a:r>
              <a:t> Begin designing a more robust detection layer</a:t>
            </a:r>
          </a:p>
          <a:p>
            <a:r>
              <a:t> Environment: same Docker-based lab environment</a:t>
            </a:r>
            <a:r>
              <a:t> Time: 45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