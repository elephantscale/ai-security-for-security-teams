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51" r:id="rId1"/>
  </p:sldMasterIdLst>
  <p:notesMasterIdLst>
    <p:notesMasterId r:id="rId2"/>
  </p:notesMasterIdLst>
  <p:handoutMasterIdLst>
    <p:handoutMasterId r:id="rId3"/>
  </p:handout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  <p:sldId id="277" r:id="rId30"/>
    <p:sldId id="278" r:id="rId31"/>
    <p:sldId id="279" r:id="rId32"/>
    <p:sldId id="280" r:id="rId33"/>
    <p:sldId id="281" r:id="rId34"/>
    <p:sldId id="282" r:id="rId35"/>
    <p:sldId id="283" r:id="rId36"/>
    <p:sldId id="284" r:id="rId37"/>
    <p:sldId id="285" r:id="rId38"/>
    <p:sldId id="286" r:id="rId39"/>
    <p:sldId id="287" r:id="rId40"/>
    <p:sldId id="288" r:id="rId41"/>
    <p:sldId id="289" r:id="rId42"/>
    <p:sldId id="290" r:id="rId43"/>
    <p:sldId id="291" r:id="rId44"/>
    <p:sldId id="292" r:id="rId45"/>
    <p:sldId id="293" r:id="rId46"/>
    <p:sldId id="294" r:id="rId47"/>
  </p:sldIdLst>
  <p:sldSz cx="9372600" cy="8297863"/>
  <p:notesSz cx="7315200" cy="96012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1pPr>
    <a:lvl2pPr marL="4572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2pPr>
    <a:lvl3pPr marL="9144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3pPr>
    <a:lvl4pPr marL="13716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4pPr>
    <a:lvl5pPr marL="18288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5pPr>
    <a:lvl6pPr marL="2286000" algn="l" defTabSz="914400" rtl="0" eaLnBrk="1" latinLnBrk="0" hangingPunct="1"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6pPr>
    <a:lvl7pPr marL="2743200" algn="l" defTabSz="914400" rtl="0" eaLnBrk="1" latinLnBrk="0" hangingPunct="1"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7pPr>
    <a:lvl8pPr marL="3200400" algn="l" defTabSz="914400" rtl="0" eaLnBrk="1" latinLnBrk="0" hangingPunct="1"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8pPr>
    <a:lvl9pPr marL="3657600" algn="l" defTabSz="914400" rtl="0" eaLnBrk="1" latinLnBrk="0" hangingPunct="1"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9pPr>
  </p:defaultTextStyle>
  <p:extLst>
    <p:ext uri="{EFAFB233-063F-42B5-8137-9DF3F51BA10A}">
      <p15:sldGuideLst xmlns:p15="http://schemas.microsoft.com/office/powerpoint/2012/main">
        <p15:guide id="1" orient="horz" pos="2614" userDrawn="1">
          <p15:clr>
            <a:srgbClr val="A4A3A4"/>
          </p15:clr>
        </p15:guide>
        <p15:guide id="2" pos="295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>
          <p15:clr>
            <a:srgbClr val="A4A3A4"/>
          </p15:clr>
        </p15:guide>
        <p15:guide id="2" pos="2308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ary Conlee" initials="MC" lastIdx="1" clrIdx="0"/>
  <p:cmAuthor id="2" name="Mark Kerzner" initials="MK" lastIdx="6" clrIdx="1"/>
  <p:cmAuthor id="3" name="Mary Beth Conlee" initials="MBC" lastIdx="7" clrIdx="2"/>
  <p:cmAuthor id="4" name="Michelle" initials="M" lastIdx="5" clrIdx="3"/>
  <p:cmAuthor id="5" name="Tricia Murphy" initials="TM" lastIdx="4" clrIdx="4">
    <p:extLst/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A1A1A"/>
    <a:srgbClr val="D6B8EB"/>
    <a:srgbClr val="A77EC7"/>
    <a:srgbClr val="B59BC7"/>
    <a:srgbClr val="C7AAD9"/>
    <a:srgbClr val="C89EDF"/>
    <a:srgbClr val="BD83DF"/>
    <a:srgbClr val="CB89DF"/>
    <a:srgbClr val="CA87D1"/>
    <a:srgbClr val="CF86D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6969" autoAdjust="0"/>
    <p:restoredTop sz="86012" autoAdjust="0"/>
  </p:normalViewPr>
  <p:slideViewPr>
    <p:cSldViewPr>
      <p:cViewPr varScale="1">
        <p:scale>
          <a:sx n="82" d="100"/>
          <a:sy n="82" d="100"/>
        </p:scale>
        <p:origin x="2920" y="176"/>
      </p:cViewPr>
      <p:guideLst>
        <p:guide orient="horz" pos="2614"/>
        <p:guide pos="295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85" d="100"/>
        <a:sy n="85" d="100"/>
      </p:scale>
      <p:origin x="0" y="0"/>
    </p:cViewPr>
  </p:sorterViewPr>
  <p:notesViewPr>
    <p:cSldViewPr>
      <p:cViewPr>
        <p:scale>
          <a:sx n="80" d="100"/>
          <a:sy n="80" d="100"/>
        </p:scale>
        <p:origin x="3296" y="-56"/>
      </p:cViewPr>
      <p:guideLst>
        <p:guide orient="horz" pos="3024"/>
        <p:guide pos="2308"/>
      </p:guideLst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handoutMaster" Target="handoutMasters/handoutMaster1.xml"/><Relationship Id="rId4" Type="http://schemas.openxmlformats.org/officeDocument/2006/relationships/commentAuthors" Target="commentAuthors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19" Type="http://schemas.openxmlformats.org/officeDocument/2006/relationships/slide" Target="slides/slide11.xml"/><Relationship Id="rId20" Type="http://schemas.openxmlformats.org/officeDocument/2006/relationships/slide" Target="slides/slide12.xml"/><Relationship Id="rId21" Type="http://schemas.openxmlformats.org/officeDocument/2006/relationships/slide" Target="slides/slide13.xml"/><Relationship Id="rId22" Type="http://schemas.openxmlformats.org/officeDocument/2006/relationships/slide" Target="slides/slide14.xml"/><Relationship Id="rId23" Type="http://schemas.openxmlformats.org/officeDocument/2006/relationships/slide" Target="slides/slide15.xml"/><Relationship Id="rId24" Type="http://schemas.openxmlformats.org/officeDocument/2006/relationships/slide" Target="slides/slide16.xml"/><Relationship Id="rId25" Type="http://schemas.openxmlformats.org/officeDocument/2006/relationships/slide" Target="slides/slide17.xml"/><Relationship Id="rId26" Type="http://schemas.openxmlformats.org/officeDocument/2006/relationships/slide" Target="slides/slide18.xml"/><Relationship Id="rId27" Type="http://schemas.openxmlformats.org/officeDocument/2006/relationships/slide" Target="slides/slide19.xml"/><Relationship Id="rId28" Type="http://schemas.openxmlformats.org/officeDocument/2006/relationships/slide" Target="slides/slide20.xml"/><Relationship Id="rId29" Type="http://schemas.openxmlformats.org/officeDocument/2006/relationships/slide" Target="slides/slide21.xml"/><Relationship Id="rId30" Type="http://schemas.openxmlformats.org/officeDocument/2006/relationships/slide" Target="slides/slide22.xml"/><Relationship Id="rId31" Type="http://schemas.openxmlformats.org/officeDocument/2006/relationships/slide" Target="slides/slide23.xml"/><Relationship Id="rId32" Type="http://schemas.openxmlformats.org/officeDocument/2006/relationships/slide" Target="slides/slide24.xml"/><Relationship Id="rId33" Type="http://schemas.openxmlformats.org/officeDocument/2006/relationships/slide" Target="slides/slide25.xml"/><Relationship Id="rId34" Type="http://schemas.openxmlformats.org/officeDocument/2006/relationships/slide" Target="slides/slide26.xml"/><Relationship Id="rId35" Type="http://schemas.openxmlformats.org/officeDocument/2006/relationships/slide" Target="slides/slide27.xml"/><Relationship Id="rId36" Type="http://schemas.openxmlformats.org/officeDocument/2006/relationships/slide" Target="slides/slide28.xml"/><Relationship Id="rId37" Type="http://schemas.openxmlformats.org/officeDocument/2006/relationships/slide" Target="slides/slide29.xml"/><Relationship Id="rId38" Type="http://schemas.openxmlformats.org/officeDocument/2006/relationships/slide" Target="slides/slide30.xml"/><Relationship Id="rId39" Type="http://schemas.openxmlformats.org/officeDocument/2006/relationships/slide" Target="slides/slide31.xml"/><Relationship Id="rId40" Type="http://schemas.openxmlformats.org/officeDocument/2006/relationships/slide" Target="slides/slide32.xml"/><Relationship Id="rId41" Type="http://schemas.openxmlformats.org/officeDocument/2006/relationships/slide" Target="slides/slide33.xml"/><Relationship Id="rId42" Type="http://schemas.openxmlformats.org/officeDocument/2006/relationships/slide" Target="slides/slide34.xml"/><Relationship Id="rId43" Type="http://schemas.openxmlformats.org/officeDocument/2006/relationships/slide" Target="slides/slide35.xml"/><Relationship Id="rId44" Type="http://schemas.openxmlformats.org/officeDocument/2006/relationships/slide" Target="slides/slide36.xml"/><Relationship Id="rId45" Type="http://schemas.openxmlformats.org/officeDocument/2006/relationships/slide" Target="slides/slide37.xml"/><Relationship Id="rId46" Type="http://schemas.openxmlformats.org/officeDocument/2006/relationships/slide" Target="slides/slide38.xml"/><Relationship Id="rId47" Type="http://schemas.openxmlformats.org/officeDocument/2006/relationships/slide" Target="slides/slide39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23363"/>
            <a:ext cx="3170238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6603" tIns="48303" rIns="96603" bIns="48303" numCol="1" anchor="b" anchorCtr="0" compatLnSpc="1">
            <a:prstTxWarp prst="textNoShape">
              <a:avLst/>
            </a:prstTxWarp>
          </a:bodyPr>
          <a:lstStyle>
            <a:lvl1pPr defTabSz="96520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r>
              <a:rPr lang="en-US" dirty="0"/>
              <a:t>Copyright © 2017 Elephant Scale. All rights reserved.</a:t>
            </a: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4963" y="9123363"/>
            <a:ext cx="3170237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6603" tIns="48303" rIns="96603" bIns="48303" numCol="1" anchor="b" anchorCtr="0" compatLnSpc="1">
            <a:prstTxWarp prst="textNoShape">
              <a:avLst/>
            </a:prstTxWarp>
          </a:bodyPr>
          <a:lstStyle>
            <a:lvl1pPr algn="r" defTabSz="96520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fld id="{97E62689-8C7D-4291-A094-4E689FEC4C3B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929152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68375" y="473075"/>
            <a:ext cx="5365750" cy="4751388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38280" name="Rectangle 8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365250" y="9388475"/>
            <a:ext cx="4578350" cy="173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b" anchorCtr="1" compatLnSpc="1">
            <a:prstTxWarp prst="textNoShape">
              <a:avLst/>
            </a:prstTxWarp>
          </a:bodyPr>
          <a:lstStyle>
            <a:lvl1pPr algn="ctr" defTabSz="965200" eaLnBrk="0" hangingPunct="0">
              <a:defRPr sz="900">
                <a:latin typeface="Arial" charset="0"/>
              </a:defRPr>
            </a:lvl1pPr>
          </a:lstStyle>
          <a:p>
            <a:pPr>
              <a:defRPr/>
            </a:pPr>
            <a:r>
              <a:rPr lang="en-US" dirty="0"/>
              <a:t>Copyright © 2017 Elephant Scale. All rights reserved.</a:t>
            </a:r>
          </a:p>
        </p:txBody>
      </p:sp>
      <p:sp>
        <p:nvSpPr>
          <p:cNvPr id="438281" name="Rectangle 9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6400800" y="9388475"/>
            <a:ext cx="554038" cy="173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r" defTabSz="965200" eaLnBrk="0" hangingPunct="0">
              <a:defRPr b="1">
                <a:latin typeface="Arial" charset="0"/>
              </a:defRPr>
            </a:lvl1pPr>
          </a:lstStyle>
          <a:p>
            <a:pPr>
              <a:defRPr/>
            </a:pPr>
            <a:fld id="{EFAADD5D-AF76-45EE-AA5F-6DAC73BF167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438306" name="Text Box 34"/>
          <p:cNvSpPr txBox="1">
            <a:spLocks noChangeArrowheads="1"/>
          </p:cNvSpPr>
          <p:nvPr/>
        </p:nvSpPr>
        <p:spPr bwMode="auto">
          <a:xfrm>
            <a:off x="271463" y="5176838"/>
            <a:ext cx="617537" cy="25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6386" tIns="48194" rIns="96386" bIns="48194"/>
          <a:lstStyle/>
          <a:p>
            <a:pPr defTabSz="960438">
              <a:defRPr/>
            </a:pPr>
            <a:r>
              <a:rPr lang="en-US" sz="1200" b="1" u="sng" dirty="0">
                <a:latin typeface="Times New Roman" pitchFamily="18" charset="0"/>
                <a:cs typeface="Times New Roman" pitchFamily="18" charset="0"/>
              </a:rPr>
              <a:t>Notes:</a:t>
            </a:r>
          </a:p>
        </p:txBody>
      </p:sp>
      <p:sp>
        <p:nvSpPr>
          <p:cNvPr id="438309" name="Rectangle 37"/>
          <p:cNvSpPr>
            <a:spLocks noGrp="1" noChangeArrowheads="1"/>
          </p:cNvSpPr>
          <p:nvPr>
            <p:ph type="body" sz="quarter" idx="3"/>
          </p:nvPr>
        </p:nvSpPr>
        <p:spPr bwMode="gray">
          <a:xfrm>
            <a:off x="322263" y="5462588"/>
            <a:ext cx="6607175" cy="3751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537" tIns="45768" rIns="91537" bIns="45768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noProof="0" dirty="0"/>
          </a:p>
        </p:txBody>
      </p:sp>
      <p:sp>
        <p:nvSpPr>
          <p:cNvPr id="438317" name="Line 45"/>
          <p:cNvSpPr>
            <a:spLocks noChangeShapeType="1"/>
          </p:cNvSpPr>
          <p:nvPr/>
        </p:nvSpPr>
        <p:spPr bwMode="auto">
          <a:xfrm>
            <a:off x="322263" y="9324975"/>
            <a:ext cx="6653212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</p:spPr>
        <p:txBody>
          <a:bodyPr/>
          <a:lstStyle/>
          <a:p>
            <a:pPr algn="ctr">
              <a:spcBef>
                <a:spcPct val="30000"/>
              </a:spcBef>
              <a:defRPr/>
            </a:pPr>
            <a:endParaRPr lang="en-US" dirty="0">
              <a:latin typeface="Garamond" pitchFamily="-11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53744030"/>
      </p:ext>
    </p:extLst>
  </p:cSld>
  <p:clrMap bg1="lt1" tx1="dk1" bg2="lt2" tx2="dk2" accent1="accent1" accent2="accent2" accent3="accent3" accent4="accent4" accent5="accent5" accent6="accent6" hlink="hlink" folHlink="folHlink"/>
  <p:hf dt="0"/>
  <p:notesStyle>
    <a:lvl1pPr marL="0" indent="0" algn="l" rtl="0" eaLnBrk="0" fontAlgn="base" hangingPunct="0">
      <a:spcBef>
        <a:spcPct val="30000"/>
      </a:spcBef>
      <a:spcAft>
        <a:spcPct val="0"/>
      </a:spcAft>
      <a:buSzPct val="65000"/>
      <a:buFont typeface="Wingdings" pitchFamily="2" charset="2"/>
      <a:buNone/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 pitchFamily="-110" charset="-128"/>
      </a:defRPr>
    </a:lvl1pPr>
    <a:lvl2pPr marL="282575" indent="0" algn="l" rtl="0" eaLnBrk="0" fontAlgn="base" hangingPunct="0">
      <a:spcBef>
        <a:spcPct val="30000"/>
      </a:spcBef>
      <a:spcAft>
        <a:spcPct val="0"/>
      </a:spcAft>
      <a:buNone/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/>
      </a:defRPr>
    </a:lvl2pPr>
    <a:lvl3pPr marL="744538" indent="-173038" algn="l" rtl="0" eaLnBrk="0" fontAlgn="base" hangingPunct="0">
      <a:spcBef>
        <a:spcPct val="30000"/>
      </a:spcBef>
      <a:spcAft>
        <a:spcPct val="0"/>
      </a:spcAft>
      <a:buChar char="•"/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/>
      </a:defRPr>
    </a:lvl3pPr>
    <a:lvl4pPr marL="16002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/>
      </a:defRPr>
    </a:lvl4pPr>
    <a:lvl5pPr marL="20574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7"/>
          <p:cNvPicPr preferRelativeResize="0">
            <a:picLocks noChangeArrowheads="1"/>
          </p:cNvPicPr>
          <p:nvPr/>
        </p:nvPicPr>
        <p:blipFill rotWithShape="1">
          <a:blip r:embed="rId2"/>
          <a:srcRect t="19473"/>
          <a:stretch/>
        </p:blipFill>
        <p:spPr bwMode="auto">
          <a:xfrm>
            <a:off x="1" y="-1801"/>
            <a:ext cx="2498725" cy="83089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04898" name="Rectangle 2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2498726" y="4984481"/>
            <a:ext cx="6335713" cy="400685"/>
          </a:xfrm>
        </p:spPr>
        <p:txBody>
          <a:bodyPr>
            <a:spAutoFit/>
          </a:bodyPr>
          <a:lstStyle>
            <a:lvl1pPr marL="0" indent="0" algn="r">
              <a:buFont typeface="Monotype Sorts" pitchFamily="-110" charset="2"/>
              <a:buNone/>
              <a:defRPr sz="2000"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104900" name="Rectangle 4"/>
          <p:cNvSpPr>
            <a:spLocks noGrp="1" noChangeArrowheads="1"/>
          </p:cNvSpPr>
          <p:nvPr>
            <p:ph type="ctrTitle" sz="quarter"/>
          </p:nvPr>
        </p:nvSpPr>
        <p:spPr>
          <a:xfrm>
            <a:off x="704850" y="3226947"/>
            <a:ext cx="8121650" cy="1469414"/>
          </a:xfrm>
        </p:spPr>
        <p:txBody>
          <a:bodyPr lIns="91440" anchor="ctr"/>
          <a:lstStyle>
            <a:lvl1pPr algn="ctr" defTabSz="1825625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Copyright © 2017 Elephant Scale. All rights reserved.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7EF9825-4C23-4085-A4E3-B5565466BD91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4850" y="1"/>
            <a:ext cx="8667750" cy="83554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234950" y="994976"/>
            <a:ext cx="4375150" cy="68284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762500" y="994975"/>
            <a:ext cx="4375150" cy="332106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762500" y="4500439"/>
            <a:ext cx="4375150" cy="33229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40E4B02-67B9-4228-B08B-2561CEE6B94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l">
              <a:defRPr/>
            </a:pPr>
            <a:r>
              <a:rPr lang="en-US" dirty="0"/>
              <a:t>Copyright © 2017 Elephant Scale. All rights reserved.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4850" y="1"/>
            <a:ext cx="8667750" cy="83554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234950" y="994976"/>
            <a:ext cx="4375150" cy="68284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62500" y="994976"/>
            <a:ext cx="4375150" cy="68284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86CC632-9864-46F1-8EAB-FCD3BB9CEC9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l">
              <a:defRPr/>
            </a:pPr>
            <a:r>
              <a:rPr lang="en-US" dirty="0"/>
              <a:t>Copyright © 2017 Elephant Scale. All rights reserved.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Relationship Id="rId6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234950" y="994976"/>
            <a:ext cx="8902700" cy="6828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007" tIns="46005" rIns="92007" bIns="46005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03876" name="Rectangle 4"/>
          <p:cNvSpPr>
            <a:spLocks noGrp="1" noChangeArrowheads="1"/>
          </p:cNvSpPr>
          <p:nvPr>
            <p:ph type="sldNum" sz="quarter" idx="4"/>
          </p:nvPr>
        </p:nvSpPr>
        <p:spPr bwMode="hidden">
          <a:xfrm>
            <a:off x="8777288" y="7961724"/>
            <a:ext cx="546100" cy="2727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b="1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fld id="{77EF9825-4C23-4085-A4E3-B5565466BD9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1103877" name="Rectangle 5"/>
          <p:cNvSpPr>
            <a:spLocks noGrp="1" noChangeArrowheads="1"/>
          </p:cNvSpPr>
          <p:nvPr>
            <p:ph type="ftr" sz="quarter" idx="3"/>
          </p:nvPr>
        </p:nvSpPr>
        <p:spPr bwMode="hidden">
          <a:xfrm>
            <a:off x="234950" y="8032785"/>
            <a:ext cx="5441950" cy="138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ctr" eaLnBrk="0" hangingPunct="0">
              <a:spcBef>
                <a:spcPct val="0"/>
              </a:spcBef>
              <a:defRPr sz="9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l">
              <a:defRPr/>
            </a:pPr>
            <a:r>
              <a:rPr lang="en-US" dirty="0"/>
              <a:t>Copyright © 2017 Elephant Scale. All rights reserved.</a:t>
            </a:r>
          </a:p>
        </p:txBody>
      </p:sp>
      <p:pic>
        <p:nvPicPr>
          <p:cNvPr id="1030" name="Picture 6"/>
          <p:cNvPicPr preferRelativeResize="0">
            <a:picLocks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ltGray">
          <a:xfrm>
            <a:off x="0" y="1"/>
            <a:ext cx="704850" cy="8355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31" name="Rectangle 7"/>
          <p:cNvSpPr>
            <a:spLocks noGrp="1" noChangeArrowheads="1"/>
          </p:cNvSpPr>
          <p:nvPr>
            <p:ph type="title"/>
          </p:nvPr>
        </p:nvSpPr>
        <p:spPr bwMode="invGray">
          <a:xfrm>
            <a:off x="704850" y="1"/>
            <a:ext cx="8667750" cy="835549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vert="horz" wrap="square" lIns="92007" tIns="46005" rIns="92007" bIns="46005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56" r:id="rId1"/>
    <p:sldLayoutId id="2147483655" r:id="rId2"/>
    <p:sldLayoutId id="2147483654" r:id="rId3"/>
    <p:sldLayoutId id="2147483653" r:id="rId4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+mj-lt"/>
          <a:ea typeface="ＭＳ Ｐゴシック" pitchFamily="-110" charset="-128"/>
          <a:cs typeface="ＭＳ Ｐゴシック" pitchFamily="-110" charset="-128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  <a:ea typeface="ＭＳ Ｐゴシック" pitchFamily="-110" charset="-128"/>
          <a:cs typeface="ＭＳ Ｐゴシック" pitchFamily="-110" charset="-12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  <a:ea typeface="ＭＳ Ｐゴシック" pitchFamily="-110" charset="-128"/>
          <a:cs typeface="ＭＳ Ｐゴシック" pitchFamily="-110" charset="-12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  <a:ea typeface="ＭＳ Ｐゴシック" pitchFamily="-110" charset="-128"/>
          <a:cs typeface="ＭＳ Ｐゴシック" pitchFamily="-110" charset="-12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  <a:ea typeface="ＭＳ Ｐゴシック" pitchFamily="-110" charset="-128"/>
          <a:cs typeface="ＭＳ Ｐゴシック" pitchFamily="-110" charset="-128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</a:defRPr>
      </a:lvl9pPr>
    </p:titleStyle>
    <p:bodyStyle>
      <a:lvl1pPr marL="290513" indent="-290513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65000"/>
        <a:buFont typeface="Wingdings" pitchFamily="2" charset="2"/>
        <a:buChar char=""/>
        <a:defRPr sz="2400">
          <a:solidFill>
            <a:srgbClr val="000000"/>
          </a:solidFill>
          <a:latin typeface="+mn-lt"/>
          <a:ea typeface="ＭＳ Ｐゴシック" pitchFamily="-110" charset="-128"/>
          <a:cs typeface="ＭＳ Ｐゴシック" pitchFamily="-110" charset="-128"/>
        </a:defRPr>
      </a:lvl1pPr>
      <a:lvl2pPr marL="633413" indent="-228600" algn="l" rtl="0" eaLnBrk="0" fontAlgn="base" hangingPunct="0">
        <a:spcBef>
          <a:spcPct val="20000"/>
        </a:spcBef>
        <a:spcAft>
          <a:spcPct val="0"/>
        </a:spcAft>
        <a:buClr>
          <a:srgbClr val="000000"/>
        </a:buClr>
        <a:buChar char="–"/>
        <a:defRPr sz="2200">
          <a:solidFill>
            <a:srgbClr val="000000"/>
          </a:solidFill>
          <a:latin typeface="+mn-lt"/>
          <a:ea typeface="ＭＳ Ｐゴシック" pitchFamily="-110" charset="-128"/>
          <a:cs typeface="ＭＳ Ｐゴシック"/>
        </a:defRPr>
      </a:lvl2pPr>
      <a:lvl3pPr marL="969963" indent="-22225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rgbClr val="000000"/>
          </a:solidFill>
          <a:latin typeface="+mn-lt"/>
          <a:ea typeface="ＭＳ Ｐゴシック" pitchFamily="-110" charset="-128"/>
          <a:cs typeface="ＭＳ Ｐゴシック"/>
        </a:defRPr>
      </a:lvl3pPr>
      <a:lvl4pPr marL="1258888" indent="-228600" algn="l" rtl="0" eaLnBrk="0" fontAlgn="base" hangingPunct="0">
        <a:spcBef>
          <a:spcPct val="0"/>
        </a:spcBef>
        <a:spcAft>
          <a:spcPct val="0"/>
        </a:spcAft>
        <a:buClr>
          <a:srgbClr val="5F5F5F"/>
        </a:buClr>
        <a:buSzPct val="65000"/>
        <a:buFont typeface="Arial Bold" pitchFamily="34" charset="0"/>
        <a:buChar char="‒"/>
        <a:defRPr lang="en-US" dirty="0">
          <a:solidFill>
            <a:srgbClr val="000000"/>
          </a:solidFill>
          <a:latin typeface="+mn-lt"/>
          <a:ea typeface="ＭＳ Ｐゴシック" pitchFamily="-110" charset="-128"/>
          <a:cs typeface="ＭＳ Ｐゴシック"/>
        </a:defRPr>
      </a:lvl4pPr>
      <a:lvl5pPr marL="20558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  <a:cs typeface="ＭＳ Ｐゴシック"/>
        </a:defRPr>
      </a:lvl5pPr>
      <a:lvl6pPr marL="25130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</a:defRPr>
      </a:lvl6pPr>
      <a:lvl7pPr marL="29702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</a:defRPr>
      </a:lvl7pPr>
      <a:lvl8pPr marL="34274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</a:defRPr>
      </a:lvl8pPr>
      <a:lvl9pPr marL="38846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3" Type="http://schemas.openxmlformats.org/officeDocument/2006/relationships/image" Target="../media/image8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9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0.png"/><Relationship Id="rId3" Type="http://schemas.openxmlformats.org/officeDocument/2006/relationships/image" Target="../media/image21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2.png"/><Relationship Id="rId3" Type="http://schemas.openxmlformats.org/officeDocument/2006/relationships/image" Target="../media/image23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4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5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6.png"/><Relationship Id="rId3" Type="http://schemas.openxmlformats.org/officeDocument/2006/relationships/image" Target="../media/image27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8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9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0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2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3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4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openai.com/business/learn/agent-security-enterprise/" TargetMode="Externa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 sz="quarter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ctrTitle" sz="quarter"/>
          </p:nvPr>
        </p:nvSpPr>
        <p:spPr/>
        <p:txBody>
          <a:bodyPr/>
          <a:lstStyle/>
          <a:p>
            <a:r>
              <a:t>Module 8 — Detection Engineering &amp; SOC Integration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Module 8 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Enterprise agent security: task authority and independently enforced boundaries</a:t>
            </a:r>
          </a:p>
          <a:p>
            <a:r>
              <a:t> AI telemetry: what to collect and why</a:t>
            </a:r>
          </a:p>
          <a:p>
            <a:r>
              <a:t> Prompt logging architecture</a:t>
            </a:r>
          </a:p>
          <a:p>
            <a:r>
              <a:t> Token analytics and cost anomalies</a:t>
            </a:r>
          </a:p>
          <a:p>
            <a:r>
              <a:t> Anomaly detection for AI workloads</a:t>
            </a:r>
          </a:p>
          <a:p>
            <a:r>
              <a:t> Building semantic SIEM pipelines</a:t>
            </a:r>
          </a:p>
          <a:p>
            <a:r>
              <a:t> AI attack indicators of compromise (IoC)</a:t>
            </a:r>
          </a:p>
          <a:p>
            <a:r>
              <a:t> Threat hunting for LLM abuse</a:t>
            </a:r>
          </a:p>
          <a:p>
            <a:r>
              <a:t> AI runtime observability</a:t>
            </a:r>
          </a:p>
          <a:p>
            <a:r>
              <a:t> Detecting jailbreak campaigns</a:t>
            </a:r>
          </a:p>
          <a:p>
            <a:r>
              <a:t> Spotting automated agent abuse</a:t>
            </a:r>
          </a:p>
          <a:p>
            <a:r>
              <a:t> Identifying model scraping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SOC Analysts Need AI-Specific Skills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Traditional SOC tooling was built for structured events:</a:t>
            </a:r>
          </a:p>
          <a:p>
            <a:r>
              <a:t> Failed login attempts</a:t>
            </a:r>
          </a:p>
          <a:p>
            <a:r>
              <a:t> Port scans</a:t>
            </a:r>
          </a:p>
          <a:p>
            <a:r>
              <a:t> Known malware signatures</a:t>
            </a:r>
          </a:p>
          <a:p>
            <a:r>
              <a:t> AI workloads produce</a:t>
            </a:r>
            <a:r>
              <a:rPr b="1"/>
              <a:t> unstructured, high-volume, semantically complex</a:t>
            </a:r>
            <a:r>
              <a:t> telemetry.</a:t>
            </a:r>
          </a:p>
          <a:p>
            <a:r>
              <a:t> A prompt injection attempt looks like a normal HTTP POST — unless you know what to look for.</a:t>
            </a:r>
          </a:p>
          <a:p/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sp>
        <p:nvSpPr>
          <p:cNvPr id="5" name="Rectangle 4"/>
          <p:cNvSpPr/>
          <p:nvPr/>
        </p:nvSpPr>
        <p:spPr>
          <a:xfrm>
            <a:off x="704088" y="4425696"/>
            <a:ext cx="7507224" cy="877824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73152" bIns="73152"/>
          <a:lstStyle/>
          <a:p>
            <a:pPr algn="ctr"/>
            <a:r>
              <a:rPr i="1" sz="1800">
                <a:solidFill>
                  <a:srgbClr val="333333"/>
                </a:solidFill>
              </a:rPr>
              <a:t>Without AI-aware detection, the SOC is blind to the most dangerous AI attack vectors.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AI Telemetry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/>
          <a:p/>
          <a:p/>
          <a:p/>
          <a:p/>
          <a:p/>
          <a:p/>
          <a:p/>
          <a:p/>
          <a:p/>
          <a:p/>
          <a:p/>
          <a:p/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14400"/>
            <a:ext cx="10198100" cy="5321300"/>
          </a:xfrm>
          <a:prstGeom prst="rect">
            <a:avLst/>
          </a:prstGeom>
        </p:spPr>
      </p:pic>
      <p:pic>
        <p:nvPicPr>
          <p:cNvPr id="6" name="Picture 5" descr="pexels-jakubzerdzicki-1642310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" y="3986783"/>
            <a:ext cx="7507224" cy="500733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AI Telemetry to Collect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/>
          <a:p/>
          <a:p/>
          <a:p/>
          <a:p/>
          <a:p/>
          <a:p/>
          <a:p/>
          <a:p/>
          <a:p/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37744" y="914400"/>
          <a:ext cx="89154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71800"/>
                <a:gridCol w="2971800"/>
                <a:gridCol w="2971800"/>
              </a:tblGrid>
              <a:tr h="457200">
                <a:tc>
                  <a:txBody>
                    <a:bodyPr/>
                    <a:lstStyle/>
                    <a:p>
                      <a:r>
                        <a:t>Signal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Source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Why It Matters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Raw prompt text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AI gateway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Injection detection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Completion text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AI gateway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Output filtering, DLP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Token count (in/out)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LLM API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Cost abuse, DoW detection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Latency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LLM API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Model scraping patterns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Classifier scores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Guardrails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Jailbreak, toxicity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Tool calls made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Agent framework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Privilege escalation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Retrieved chunks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RAG layer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Retrieval manipulation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User identity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Auth layer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Session correlation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Source IP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WAF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Campaign correlation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Prompt Logging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Logging prompts requires balancing</a:t>
            </a:r>
            <a:r>
              <a:rPr b="1"/>
              <a:t> security visibility</a:t>
            </a:r>
            <a:r>
              <a:t> vs</a:t>
            </a:r>
            <a:r>
              <a:rPr b="1"/>
              <a:t> privacy</a:t>
            </a:r>
            <a:r>
              <a:t> .</a:t>
            </a:r>
          </a:p>
          <a:p/>
          <a:p/>
          <a:p/>
          <a:p/>
          <a:p/>
          <a:p/>
          <a:p/>
          <a:p/>
          <a:p/>
          <a:p/>
          <a:p/>
          <a:p/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53312"/>
            <a:ext cx="10960100" cy="5054600"/>
          </a:xfrm>
          <a:prstGeom prst="rect">
            <a:avLst/>
          </a:prstGeom>
        </p:spPr>
      </p:pic>
      <p:pic>
        <p:nvPicPr>
          <p:cNvPr id="6" name="Picture 5" descr="pexels-buse-d-458095896-17227898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" y="3986783"/>
            <a:ext cx="7507224" cy="1126083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Prompt Log Schema (JSONL Format)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/>
          <a:p/>
          <a:p/>
          <a:p/>
          <a:p/>
          <a:p/>
          <a:p/>
          <a:p/>
          <a:p/>
          <a:p/>
          <a:p/>
          <a:p/>
          <a:p/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14400"/>
            <a:ext cx="11112500" cy="4787900"/>
          </a:xfrm>
          <a:prstGeom prst="rect">
            <a:avLst/>
          </a:prstGeom>
        </p:spPr>
      </p:pic>
      <p:pic>
        <p:nvPicPr>
          <p:cNvPr id="6" name="Picture 5" descr="pexels-peaky-3134363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" y="3547872"/>
            <a:ext cx="7507224" cy="46258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Token Analytics — The Numbers That Reveal Intent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Attackers leave token fingerprints:</a:t>
            </a:r>
          </a:p>
          <a:p/>
          <a:p/>
          <a:p/>
          <a:p/>
          <a:p/>
          <a:p/>
          <a:p/>
          <a:p/>
          <a:p/>
          <a:p/>
          <a:p/>
          <a:p/>
          <a:p/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37744" y="1353312"/>
          <a:ext cx="89154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71800"/>
                <a:gridCol w="2971800"/>
                <a:gridCol w="2971800"/>
              </a:tblGrid>
              <a:tr h="457200">
                <a:tc>
                  <a:txBody>
                    <a:bodyPr/>
                    <a:lstStyle/>
                    <a:p>
                      <a:r>
                        <a:t>Pattern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Token Signature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Attack Type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Unusually long prompts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input_tokens &gt; 5× baseline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Context flooding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Short prompts, huge outputs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output_tokens &gt;&gt; input_tokens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Extraction attempts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Repeated identical prompts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Hash collision rate spikes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Scraping / enumeration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Escalating token use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Session token totals grow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Denial-of-wallet setup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Many requests, max tokens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High RPM + max output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Automated agent abuse</a:t>
                      </a: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6" name="Picture 5" descr="pexels-black-ice-551383-131454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" y="4425696"/>
            <a:ext cx="7507224" cy="500481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Token Analytics — Baselining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Build per-user, per-application baselines:</a:t>
            </a:r>
          </a:p>
          <a:p/>
          <a:p/>
          <a:p/>
          <a:p>
            <a:r>
              <a:t> Baselines must be</a:t>
            </a:r>
            <a:r>
              <a:rPr b="1"/>
              <a:t> per-context</a:t>
            </a:r>
            <a:r>
              <a:t> — a developer IDE plugin has a different profile than a customer-facing chatbot.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53312"/>
            <a:ext cx="9283700" cy="23876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Anomaly Detection Approaches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Three complementary approaches for AI workloads:</a:t>
            </a:r>
          </a:p>
          <a:p>
            <a:r>
              <a:rPr b="1"/>
              <a:t> 1. Rule-based</a:t>
            </a:r>
            <a:r>
              <a:t> — fast, deterministic</a:t>
            </a:r>
          </a:p>
          <a:p/>
          <a:p>
            <a:r>
              <a:rPr b="1"/>
              <a:t> 2. Statistical</a:t>
            </a:r>
            <a:r>
              <a:t> — detect deviations from baseline</a:t>
            </a:r>
          </a:p>
          <a:p/>
          <a:p>
            <a:r>
              <a:rPr b="1"/>
              <a:t> 3. ML classifier</a:t>
            </a:r>
            <a:r>
              <a:t> — semantic understanding</a:t>
            </a:r>
          </a:p>
          <a:p/>
          <a:p>
            <a:r>
              <a:t> All three layers should run in parallel. No single approach catches everything.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92224"/>
            <a:ext cx="8204200" cy="787400"/>
          </a:xfrm>
          <a:prstGeom prst="rect">
            <a:avLst/>
          </a:prstGeom>
        </p:spPr>
      </p:pic>
      <p:pic>
        <p:nvPicPr>
          <p:cNvPr id="6" name="Picture 5" descr="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670048"/>
            <a:ext cx="8813800" cy="520700"/>
          </a:xfrm>
          <a:prstGeom prst="rect">
            <a:avLst/>
          </a:prstGeom>
        </p:spPr>
      </p:pic>
      <p:pic>
        <p:nvPicPr>
          <p:cNvPr id="7" name="Picture 6" descr="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547872"/>
            <a:ext cx="8509000" cy="5207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Semantic SIEM Pipelines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Traditional SIEM: parse structured fields, match signatures.</a:t>
            </a:r>
          </a:p>
          <a:p>
            <a:r>
              <a:t> AI SIEM: run ML classifiers on unstructured text at ingestion time.</a:t>
            </a:r>
          </a:p>
          <a:p/>
          <a:p/>
          <a:p/>
          <a:p/>
          <a:p/>
          <a:p/>
          <a:p/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70048"/>
            <a:ext cx="5918200" cy="58547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Integrating AI Logs with Splunk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Splunk sourcetype for AI gateway logs:</a:t>
            </a:r>
          </a:p>
          <a:p/>
          <a:p/>
          <a:p/>
          <a:p/>
          <a:p>
            <a:r>
              <a:t> Key Splunk searches:</a:t>
            </a:r>
          </a:p>
          <a:p/>
          <a:p/>
          <a:p/>
          <a:p/>
          <a:p/>
          <a:p/>
          <a:p/>
          <a:p/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53312"/>
            <a:ext cx="10198100" cy="2654300"/>
          </a:xfrm>
          <a:prstGeom prst="rect">
            <a:avLst/>
          </a:prstGeom>
        </p:spPr>
      </p:pic>
      <p:pic>
        <p:nvPicPr>
          <p:cNvPr id="6" name="Picture 5" descr="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547872"/>
            <a:ext cx="8204200" cy="1320800"/>
          </a:xfrm>
          <a:prstGeom prst="rect">
            <a:avLst/>
          </a:prstGeom>
        </p:spPr>
      </p:pic>
      <p:pic>
        <p:nvPicPr>
          <p:cNvPr id="7" name="Picture 6" descr="pexels-themob000-28428584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088" y="4425696"/>
            <a:ext cx="7507224" cy="422281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Integrating AI Logs with Elasticsearch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Index template for AI telemetry:</a:t>
            </a:r>
          </a:p>
          <a:p/>
          <a:p/>
          <a:p/>
          <a:p/>
          <a:p/>
          <a:p>
            <a:r>
              <a:t> Prompt text itself should be stored in a</a:t>
            </a:r>
            <a:r>
              <a:rPr b="1"/>
              <a:t> separate, access-controlled index</a:t>
            </a:r>
            <a:r>
              <a:t> due to sensitivity.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53312"/>
            <a:ext cx="8039100" cy="39878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Attack Indicators of Compromise (IoC)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Just as network attacks have signatures, AI attacks have behavioral IoCs.</a:t>
            </a:r>
          </a:p>
          <a:p>
            <a:r>
              <a:rPr b="1"/>
              <a:t> Prompt Injection IoCs:</a:t>
            </a:r>
          </a:p>
          <a:p>
            <a:r>
              <a:t> Presence of phrases: "ignore previous", "you are now", "system:", "DAN"</a:t>
            </a:r>
          </a:p>
          <a:p>
            <a:r>
              <a:t> Encoded text in prompts (base64, ROT13, hex)</a:t>
            </a:r>
          </a:p>
          <a:p>
            <a:r>
              <a:t> Sudden role-change instructions embedded mid-conversation</a:t>
            </a:r>
          </a:p>
          <a:p>
            <a:r>
              <a:rPr b="1"/>
              <a:t> Jailbreak IoCs:</a:t>
            </a:r>
          </a:p>
          <a:p>
            <a:r>
              <a:t> Rapid iteration on similar prompts (low edit distance between requests)</a:t>
            </a:r>
          </a:p>
          <a:p>
            <a:r>
              <a:t> Prompts with fictional framing ("in a story where...", "hypothetically...")</a:t>
            </a:r>
          </a:p>
          <a:p>
            <a:r>
              <a:t> Requests that escalate toward previously blocked content</a:t>
            </a:r>
          </a:p>
          <a:p>
            <a:r>
              <a:rPr b="1"/>
              <a:t> Model Scraping IoCs:</a:t>
            </a:r>
          </a:p>
          <a:p>
            <a:r>
              <a:t> High volume of unique prompts with systematic variation</a:t>
            </a:r>
          </a:p>
          <a:p>
            <a:r>
              <a:t> Requests probing edge cases (empty input, max-length input, special chars)</a:t>
            </a:r>
          </a:p>
          <a:p>
            <a:r>
              <a:t> No natural conversation flow — purely extraction-shaped queries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Attack Indicators — Quantified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/>
          <a:p/>
          <a:p/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14400"/>
            <a:ext cx="11722100" cy="31877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Threat Hunting for LLM Abuse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Threat hunting is</a:t>
            </a:r>
            <a:r>
              <a:rPr b="1"/>
              <a:t> proactive</a:t>
            </a:r>
            <a:r>
              <a:t> — looking for attacks that have not yet triggered alerts.</a:t>
            </a:r>
          </a:p>
          <a:p>
            <a:r>
              <a:t> AI-specific hunt hypotheses:</a:t>
            </a:r>
          </a:p>
          <a:p>
            <a:r>
              <a:t> "An attacker is iterating on jailbreaks across multiple sessions"</a:t>
            </a:r>
          </a:p>
          <a:p>
            <a:r>
              <a:t> "An automated bot is systematically extracting model knowledge"</a:t>
            </a:r>
          </a:p>
          <a:p>
            <a:r>
              <a:t> "A user account is being used by an agent to exfiltrate data via the LLM"</a:t>
            </a:r>
          </a:p>
          <a:p>
            <a:r>
              <a:t> "A poisoned document has been injected into our RAG vector store"</a:t>
            </a:r>
          </a:p>
          <a:p>
            <a:r>
              <a:t> Each hypothesis drives a structured hunt query.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Threat Hunt — Jailbreak Campaign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/>
              <a:t> Hypothesis:</a:t>
            </a:r>
            <a:r>
              <a:t> Attacker is iterating jailbreaks across multiple sessions.</a:t>
            </a:r>
          </a:p>
          <a:p>
            <a:r>
              <a:t> Look for: one user, many sessions, high classifier scores, distinct IPs (VPN rotation).</a:t>
            </a:r>
          </a:p>
          <a:p/>
          <a:p/>
          <a:p/>
          <a:p/>
          <a:p/>
          <a:p/>
          <a:p/>
          <a:p/>
          <a:p/>
          <a:p/>
          <a:p/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92224"/>
            <a:ext cx="7747000" cy="2921000"/>
          </a:xfrm>
          <a:prstGeom prst="rect">
            <a:avLst/>
          </a:prstGeom>
        </p:spPr>
      </p:pic>
      <p:pic>
        <p:nvPicPr>
          <p:cNvPr id="6" name="Picture 5" descr="pexels-introspectivedsgn-952466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" y="3986783"/>
            <a:ext cx="7507224" cy="11260836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Threat Hunt — Automated Agent Abuse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/>
              <a:t> Hypothesis:</a:t>
            </a:r>
            <a:r>
              <a:t> A bot is abusing the API at machine speed.</a:t>
            </a:r>
          </a:p>
          <a:p>
            <a:r>
              <a:t> Low unique_prompt ratio = repetitive machine-generated queries.</a:t>
            </a:r>
          </a:p>
          <a:p/>
          <a:p/>
          <a:p/>
          <a:p/>
          <a:p/>
          <a:p/>
          <a:p/>
          <a:p/>
          <a:p/>
          <a:p/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53312"/>
            <a:ext cx="7137400" cy="2387600"/>
          </a:xfrm>
          <a:prstGeom prst="rect">
            <a:avLst/>
          </a:prstGeom>
        </p:spPr>
      </p:pic>
      <p:pic>
        <p:nvPicPr>
          <p:cNvPr id="6" name="Picture 5" descr="pexels-ganajp-1963285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" y="3108960"/>
            <a:ext cx="7507224" cy="5520964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Threat Hunt — Model Scraping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/>
              <a:t> Hypothesis:</a:t>
            </a:r>
            <a:r>
              <a:t> An attacker is systematically probing model behavior to extract training knowledge.</a:t>
            </a:r>
          </a:p>
          <a:p>
            <a:r>
              <a:t> Indicators:</a:t>
            </a:r>
          </a:p>
          <a:p>
            <a:r>
              <a:t> Prompts that are slight variations of each other (enumeration pattern)</a:t>
            </a:r>
          </a:p>
          <a:p>
            <a:r>
              <a:t> Queries targeting factual recall rather than task completion</a:t>
            </a:r>
          </a:p>
          <a:p>
            <a:r>
              <a:t> High output-to-input token ratio (model generating long answers to short prompts)</a:t>
            </a:r>
          </a:p>
          <a:p>
            <a:r>
              <a:t> Probes at boundaries: empty prompts, single-character prompts, max-length prompts</a:t>
            </a:r>
          </a:p>
          <a:p/>
          <a:p/>
          <a:p/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742431"/>
            <a:ext cx="11112500" cy="23876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Detecting Jailbreak Campaigns — Case Study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/>
              <a:t> Scenario:</a:t>
            </a:r>
            <a:r>
              <a:t> A jailbreak campaign against a customer service bot.</a:t>
            </a:r>
          </a:p>
          <a:p>
            <a:r>
              <a:rPr b="1"/>
              <a:t> Timeline:</a:t>
            </a:r>
          </a:p>
          <a:p/>
          <a:p/>
          <a:p>
            <a:r>
              <a:rPr b="1"/>
              <a:t> What the SOC should catch at Day 2:</a:t>
            </a:r>
          </a:p>
          <a:p>
            <a:r>
              <a:t> Rising guardrail scores for semantically similar prompts</a:t>
            </a:r>
          </a:p>
          <a:p>
            <a:r>
              <a:t> Multiple source IPs accessing same</a:t>
            </a:r>
            <a:r>
              <a:rPr>
                <a:latin typeface="Courier New"/>
              </a:rPr>
              <a:t> user_id</a:t>
            </a:r>
          </a:p>
          <a:p>
            <a:r>
              <a:t> Edit distance clustering: prompts are variants of a template</a:t>
            </a:r>
          </a:p>
          <a:p>
            <a:r>
              <a:rPr b="1"/>
              <a:t> Response:</a:t>
            </a:r>
            <a:r>
              <a:t> Block the prompt template cluster, not just individual prompts.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92224"/>
            <a:ext cx="10655300" cy="13208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Detecting Automated Agent Abuse — Signals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An automated agent abusing an AI API looks different from a human:</a:t>
            </a:r>
          </a:p>
          <a:p/>
          <a:p/>
          <a:p/>
          <a:p/>
          <a:p/>
          <a:p/>
          <a:p/>
          <a:p/>
          <a:p>
            <a:r>
              <a:t> Use JA3/JA4 TLS fingerprinting at the WAF layer to distinguish browser from bot traffic even when user-agent is spoofed.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37744" y="1792224"/>
          <a:ext cx="89154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71800"/>
                <a:gridCol w="2971800"/>
                <a:gridCol w="2971800"/>
              </a:tblGrid>
              <a:tr h="457200">
                <a:tc>
                  <a:txBody>
                    <a:bodyPr/>
                    <a:lstStyle/>
                    <a:p>
                      <a:r>
                        <a:t>Signal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Human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Automated Agent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Inter-request timing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5–60 seconds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&lt; 1 second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Prompt length variance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Low (template-driven)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Session duration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Minutes–hours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Seconds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Tool call sequence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Varied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Deterministic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User-agent string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Browser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SDK / custom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TLS fingerprint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Browser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Python/Node client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Identifying Model Scraping — Detection Rules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WAF-level heuristics for model scraping:</a:t>
            </a:r>
          </a:p>
          <a:p>
            <a:r>
              <a:t> Combine with token-level rate limiting at the AI gateway for complete coverage.</a:t>
            </a:r>
          </a:p>
          <a:p/>
          <a:p/>
          <a:p/>
          <a:p/>
          <a:p/>
          <a:p/>
          <a:p/>
          <a:p/>
          <a:p/>
          <a:p/>
          <a:p/>
          <a:p/>
          <a:p/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53312"/>
            <a:ext cx="10807700" cy="3454400"/>
          </a:xfrm>
          <a:prstGeom prst="rect">
            <a:avLst/>
          </a:prstGeom>
        </p:spPr>
      </p:pic>
      <p:pic>
        <p:nvPicPr>
          <p:cNvPr id="6" name="Picture 5" descr="pexels-yaroslav-shuraev-488886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" y="3986783"/>
            <a:ext cx="7507224" cy="5004816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Runtime Observability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Observability =</a:t>
            </a:r>
            <a:r>
              <a:rPr b="1"/>
              <a:t> metrics + logs + traces</a:t>
            </a:r>
            <a:r>
              <a:t> applied to AI workloads.</a:t>
            </a:r>
          </a:p>
          <a:p>
            <a:r>
              <a:rPr b="1"/>
              <a:t> Metrics to track:</a:t>
            </a:r>
          </a:p>
          <a:p>
            <a:r>
              <a:t> Requests per second (RPS) by model and endpoint</a:t>
            </a:r>
          </a:p>
          <a:p>
            <a:r>
              <a:t> Token throughput (tokens/sec in, tokens/sec out)</a:t>
            </a:r>
          </a:p>
          <a:p>
            <a:r>
              <a:t> Guardrail block rate (% of requests blocked/flagged)</a:t>
            </a:r>
          </a:p>
          <a:p>
            <a:r>
              <a:t> Average latency and p95/p99 percentiles</a:t>
            </a:r>
          </a:p>
          <a:p>
            <a:r>
              <a:t> Cost per user / per application</a:t>
            </a:r>
          </a:p>
          <a:p>
            <a:r>
              <a:rPr b="1"/>
              <a:t> Traces to capture:</a:t>
            </a:r>
          </a:p>
          <a:p>
            <a:r>
              <a:t> Full prompt → retrieval → completion pipeline</a:t>
            </a:r>
          </a:p>
          <a:p>
            <a:r>
              <a:t> Tool call chains with timing</a:t>
            </a:r>
          </a:p>
          <a:p>
            <a:r>
              <a:t> Agent reasoning steps (where available)</a:t>
            </a:r>
          </a:p>
          <a:p>
            <a:r>
              <a:rPr b="1"/>
              <a:t> Dashboards:</a:t>
            </a:r>
            <a:r>
              <a:t> One per layer — WAF, AI Gateway, LLM provider, agent framework.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Observability Stack for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/>
          <a:p/>
          <a:p/>
          <a:p/>
          <a:p/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14400"/>
            <a:ext cx="9131300" cy="47879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OpenTelemetry for AI Workloads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OpenTelemetry (OTel) is the standard for distributed tracing — it can be applied to AI pipelines.</a:t>
            </a:r>
          </a:p>
          <a:p/>
          <a:p/>
          <a:p/>
          <a:p/>
          <a:p/>
          <a:p/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92224"/>
            <a:ext cx="11569700" cy="45212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Alerting — Tuning for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AI alert tuning challenges vs traditional security:</a:t>
            </a:r>
          </a:p>
          <a:p>
            <a:r>
              <a:t> Natural language is noisy — false positive rates are higher</a:t>
            </a:r>
          </a:p>
          <a:p>
            <a:r>
              <a:t> Thresholds must be</a:t>
            </a:r>
            <a:r>
              <a:rPr b="1"/>
              <a:t> per-application</a:t>
            </a:r>
            <a:r>
              <a:t> , not global</a:t>
            </a:r>
          </a:p>
          <a:p>
            <a:r>
              <a:t> New attack patterns emerge frequently (new jailbreak techniques)</a:t>
            </a:r>
          </a:p>
          <a:p>
            <a:r>
              <a:t> Recommended tiered alerting:</a:t>
            </a:r>
          </a:p>
          <a:p/>
          <a:p/>
          <a:p/>
          <a:p/>
          <a:p/>
          <a:p/>
          <a:p/>
          <a:p/>
          <a:p/>
          <a:p/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37744" y="3986783"/>
          <a:ext cx="89154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71800"/>
                <a:gridCol w="2971800"/>
                <a:gridCol w="2971800"/>
              </a:tblGrid>
              <a:tr h="457200">
                <a:tc>
                  <a:txBody>
                    <a:bodyPr/>
                    <a:lstStyle/>
                    <a:p>
                      <a:r>
                        <a:t>Level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Trigger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Response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INFO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Guardrail score 0.5–0.7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Log, no action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WARNING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Guardrail score 0.7–0.85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Log + soft block (CAPTCHA)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ALERT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Guardrail score &gt; 0.85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Block + notify SOC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CRITICAL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Campaign detected (10+ alerts same source)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Block IP range + escalate</a:t>
                      </a: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6" name="Picture 5" descr="pexels-regan-dsouza-1315522347-3397791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" y="6620256"/>
            <a:ext cx="7507224" cy="1126205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Incident Response for AI Attacks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When an AI-specific incident is confirmed:</a:t>
            </a:r>
          </a:p>
          <a:p/>
          <a:p/>
          <a:p/>
          <a:p/>
          <a:p/>
          <a:p/>
          <a:p/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53312"/>
            <a:ext cx="9436100" cy="53213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Security Information Sharing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Emerging standards and communities:</a:t>
            </a:r>
          </a:p>
          <a:p>
            <a:r>
              <a:rPr b="1"/>
              <a:t> MITRE ATLAS</a:t>
            </a:r>
            <a:r>
              <a:t> — AI threat knowledge base (analogous to ATT&amp;CK)</a:t>
            </a:r>
          </a:p>
          <a:p>
            <a:r>
              <a:rPr b="1"/>
              <a:t> OWASP GenAI</a:t>
            </a:r>
            <a:r>
              <a:t> — Top 10 and threat taxonomy</a:t>
            </a:r>
          </a:p>
          <a:p>
            <a:r>
              <a:rPr b="1"/>
              <a:t> AI-ISAC</a:t>
            </a:r>
            <a:r>
              <a:t> — Information sharing for AI security</a:t>
            </a:r>
          </a:p>
          <a:p>
            <a:r>
              <a:rPr b="1"/>
              <a:t> NIST AI RMF</a:t>
            </a:r>
            <a:r>
              <a:t> — Risk management framework</a:t>
            </a:r>
          </a:p>
          <a:p>
            <a:r>
              <a:t> Contribution to shared intel:</a:t>
            </a:r>
          </a:p>
          <a:p>
            <a:r>
              <a:t> Share prompt injection signatures (sanitized) with your threat intel feeds</a:t>
            </a:r>
          </a:p>
          <a:p>
            <a:r>
              <a:t> Tag AI-specific incidents in your SIEM with ATLAS technique IDs</a:t>
            </a:r>
          </a:p>
          <a:p>
            <a:r>
              <a:t> Example:</a:t>
            </a:r>
            <a:r>
              <a:rPr>
                <a:latin typeface="Courier New"/>
              </a:rPr>
              <a:t> AML.T0051</a:t>
            </a:r>
            <a:r>
              <a:t> (LLM prompt injection)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MITRE ATLAS — Key Techniques for SOC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/>
          <a:p/>
          <a:p/>
          <a:p/>
          <a:p/>
          <a:p/>
          <a:p/>
          <a:p>
            <a:r>
              <a:t> Map your SIEM alerts to ATLAS IDs for consistent reporting.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37744" y="914400"/>
          <a:ext cx="89154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71800"/>
                <a:gridCol w="2971800"/>
                <a:gridCol w="2971800"/>
              </a:tblGrid>
              <a:tr h="457200">
                <a:tc>
                  <a:txBody>
                    <a:bodyPr/>
                    <a:lstStyle/>
                    <a:p>
                      <a:r>
                        <a:t>ATLAS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Technique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Detection Focus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AML.T0051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LLM Prompt Injection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Classifier scores, keyword IoCs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AML.T0054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LLM Jailbreak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Iterative prompt patterns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AML.T0048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Exfiltration via Output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DLP on completions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AML.T0043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Craft Adversarial 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RAG poisoning detection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AML.T0056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Denial of ML Service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Token rate / cost anomalies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AML.T0052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Backdoor ML 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Model version integrity checks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Building an AI Threat Intelligence Feed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Recommended structure for an internal AI threat intel feed:</a:t>
            </a:r>
          </a:p>
          <a:p/>
          <a:p/>
          <a:p/>
          <a:p/>
          <a:p/>
          <a:p>
            <a:r>
              <a:t> Feed into guardrail classifiers and WAF rule updates automatically.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92224"/>
            <a:ext cx="10185400" cy="34544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SOC Dashboard — Key AI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Recommended panels for an AI Security SOC dashboard:</a:t>
            </a:r>
          </a:p>
          <a:p/>
          <a:p/>
          <a:p/>
          <a:p/>
          <a:p/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53312"/>
            <a:ext cx="7899400" cy="37211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Automation — Closing the Loop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SOC automation for AI incidents should be built into your SOAR playbook:</a:t>
            </a:r>
          </a:p>
          <a:p/>
          <a:p/>
          <a:p/>
          <a:p/>
          <a:p>
            <a:r>
              <a:t> SOAR tools: Splunk SOAR, Palo Alto XSOAR, Tines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92224"/>
            <a:ext cx="10502900" cy="2921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Agent Telemetry — Connect Authority to Effect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Collect enough evidence to connect:</a:t>
            </a:r>
          </a:p>
          <a:p>
            <a:r>
              <a:t> Initiating principal, runtime, task, and session</a:t>
            </a:r>
          </a:p>
          <a:p>
            <a:r>
              <a:t> Proposed tool action, resource, and destination</a:t>
            </a:r>
          </a:p>
          <a:p>
            <a:r>
              <a:t> Policy version and approval decision</a:t>
            </a:r>
          </a:p>
          <a:p>
            <a:r>
              <a:t> Actual result and material effect</a:t>
            </a:r>
          </a:p>
          <a:p>
            <a:r>
              <a:t> Related endpoint, gateway, and application events</a:t>
            </a:r>
          </a:p>
          <a:p>
            <a:r>
              <a:t> Minimize record contents and secrets in logs. A useful audit trail does not</a:t>
            </a:r>
            <a:r>
              <a:t> require unrestricted collection of prompts or private model reasoning.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Attempted Action Is Not Completed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/>
          <a:p/>
          <a:p/>
          <a:p/>
          <a:p>
            <a:r>
              <a:t> Retain evidence from the resource and destination, not just the assistant's</a:t>
            </a:r>
            <a:r>
              <a:t> summary. A post-action monitor cannot undo an irreversible disclosure.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37744" y="914400"/>
          <a:ext cx="89154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57700"/>
                <a:gridCol w="4457700"/>
              </a:tblGrid>
              <a:tr h="457200">
                <a:tc>
                  <a:txBody>
                    <a:bodyPr/>
                    <a:lstStyle/>
                    <a:p>
                      <a:r>
                        <a:t>Observation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Interpretation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Agent requests an unauthorized send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Unsafe attempt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Resource denies the request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Prevented effect on that path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Destination receives the record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Completed disclosure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Agent Incident Drill — Stop, Contain, Recover, Learn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Stop the affected task and remove the narrowest risky capability</a:t>
            </a:r>
          </a:p>
          <a:p>
            <a:r>
              <a:t> Revoke issued authority and verify downstream containment</a:t>
            </a:r>
          </a:p>
          <a:p>
            <a:r>
              <a:t> Preserve evidence of attempted and completed effects</a:t>
            </a:r>
          </a:p>
          <a:p>
            <a:r>
              <a:t> Repair state and define who approves resuming work</a:t>
            </a:r>
          </a:p>
          <a:p>
            <a:r>
              <a:t> Add a regression case for the failure</a:t>
            </a:r>
          </a:p>
          <a:p>
            <a:r>
              <a:t> Lab 8 exercises stopped workers, reusable credentials, queued work, and an</a:t>
            </a:r>
            <a:r>
              <a:t> unaffected task that should continue operating.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Reading — Agent Security in the Enterprise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OpenAI, August 2026: task authority, independent boundaries, capability</a:t>
            </a:r>
            <a:r>
              <a:t> composition, and incident response.</a:t>
            </a:r>
          </a:p>
          <a:p>
            <a:r>
              <a:rPr>
                <a:hlinkClick r:id="rId2"/>
              </a:rPr>
              <a:t> Download the paper</a:t>
            </a:r>
          </a:p>
          <a:p>
            <a:r>
              <a:t> These are architectural recommendations. The classroom fixtures illustrate them;</a:t>
            </a:r>
            <a:r>
              <a:t> they do not certify a product or reproduce a production security architecture.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Module 8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AI telemetry spans HTTP, AI gateway, LLM provider, and agent layers — collect from all of them</a:t>
            </a:r>
          </a:p>
          <a:p>
            <a:r>
              <a:t> Prompt logs must balance security visibility with PII handling</a:t>
            </a:r>
          </a:p>
          <a:p>
            <a:r>
              <a:t> Token analytics reveal attacker behavior through cost and volume patterns</a:t>
            </a:r>
          </a:p>
          <a:p>
            <a:r>
              <a:t> Semantic SIEM pipelines require NLP classifiers at ingestion, not just field parsing</a:t>
            </a:r>
          </a:p>
          <a:p>
            <a:r>
              <a:t> AI IoCs are behavioral, not just signature-based</a:t>
            </a:r>
          </a:p>
          <a:p>
            <a:r>
              <a:t> Threat hunting for LLM abuse requires cluster analysis and session-level correlation</a:t>
            </a:r>
          </a:p>
          <a:p>
            <a:r>
              <a:t> MITRE ATLAS provides the industry framework for classifying and communicating AI threats</a:t>
            </a:r>
          </a:p>
          <a:p>
            <a:r>
              <a:t> Incident response for AI includes RAG vector store integrity and credential exposure checks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What's Next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/>
              <a:t> Module 9 — Cloud WAFs and AI Security</a:t>
            </a:r>
          </a:p>
          <a:p>
            <a:r>
              <a:t> We move from detection principles to deployment:</a:t>
            </a:r>
          </a:p>
          <a:p>
            <a:r>
              <a:t> AWS WAF, Azure WAF, and Cloudflare AI Gateway configurations</a:t>
            </a:r>
          </a:p>
          <a:p>
            <a:r>
              <a:t> API gateway integration (Envoy, Kong, NGINX)</a:t>
            </a:r>
          </a:p>
          <a:p>
            <a:r>
              <a:t> Comparing proxy-based vs semantic filtering approaches</a:t>
            </a:r>
          </a:p>
          <a:p>
            <a:r>
              <a:t> Cloud-native AI security patterns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Lab Preview — Lab 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/>
              <a:t> Monitor AI abuse patterns in logs</a:t>
            </a:r>
          </a:p>
          <a:p>
            <a:r>
              <a:t> You will:</a:t>
            </a:r>
          </a:p>
          <a:p>
            <a:r>
              <a:t> Ingest a realistic AI gateway log stream into Elasticsearch</a:t>
            </a:r>
          </a:p>
          <a:p>
            <a:r>
              <a:t> Write detection queries to identify prompt injection attempts, token anomalies, and scraping patterns</a:t>
            </a:r>
          </a:p>
          <a:p>
            <a:r>
              <a:t> Build a Kibana dashboard showing real-time AI threat metrics</a:t>
            </a:r>
          </a:p>
          <a:p>
            <a:r>
              <a:t> Trigger a simulated jailbreak campaign and verify your detections fire</a:t>
            </a:r>
          </a:p>
          <a:p>
            <a:r>
              <a:t> Environment: Docker — Elasticsearch + Kibana + AI gateway log generator</a:t>
            </a:r>
            <a:r>
              <a:t> Time: 60 minutes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Pc_New">
  <a:themeElements>
    <a:clrScheme name="LPc_New 7">
      <a:dk1>
        <a:srgbClr val="000000"/>
      </a:dk1>
      <a:lt1>
        <a:srgbClr val="FFFFFF"/>
      </a:lt1>
      <a:dk2>
        <a:srgbClr val="CCECFF"/>
      </a:dk2>
      <a:lt2>
        <a:srgbClr val="003399"/>
      </a:lt2>
      <a:accent1>
        <a:srgbClr val="0794FF"/>
      </a:accent1>
      <a:accent2>
        <a:srgbClr val="800080"/>
      </a:accent2>
      <a:accent3>
        <a:srgbClr val="E2F4FF"/>
      </a:accent3>
      <a:accent4>
        <a:srgbClr val="DADADA"/>
      </a:accent4>
      <a:accent5>
        <a:srgbClr val="AAC8FF"/>
      </a:accent5>
      <a:accent6>
        <a:srgbClr val="730073"/>
      </a:accent6>
      <a:hlink>
        <a:srgbClr val="FF0000"/>
      </a:hlink>
      <a:folHlink>
        <a:srgbClr val="FFFFD2"/>
      </a:folHlink>
    </a:clrScheme>
    <a:fontScheme name="LPc_New">
      <a:majorFont>
        <a:latin typeface="Verdan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30000"/>
          </a:spcBef>
          <a:spcAft>
            <a:spcPct val="0"/>
          </a:spcAft>
          <a:buClrTx/>
          <a:buSzTx/>
          <a:buFontTx/>
          <a:buNone/>
          <a:tabLst/>
          <a:defRPr kumimoji="0" lang="en-US" sz="10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Garamond" pitchFamily="-110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30000"/>
          </a:spcBef>
          <a:spcAft>
            <a:spcPct val="0"/>
          </a:spcAft>
          <a:buClrTx/>
          <a:buSzTx/>
          <a:buFontTx/>
          <a:buNone/>
          <a:tabLst/>
          <a:defRPr kumimoji="0" lang="en-US" sz="10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Garamond" pitchFamily="-110" charset="0"/>
          </a:defRPr>
        </a:defPPr>
      </a:lstStyle>
    </a:lnDef>
  </a:objectDefaults>
  <a:extraClrSchemeLst>
    <a:extraClrScheme>
      <a:clrScheme name="LPc_New 1">
        <a:dk1>
          <a:srgbClr val="000099"/>
        </a:dk1>
        <a:lt1>
          <a:srgbClr val="FFFFFF"/>
        </a:lt1>
        <a:dk2>
          <a:srgbClr val="0000FF"/>
        </a:dk2>
        <a:lt2>
          <a:srgbClr val="FFFF00"/>
        </a:lt2>
        <a:accent1>
          <a:srgbClr val="FF6633"/>
        </a:accent1>
        <a:accent2>
          <a:srgbClr val="FF00FF"/>
        </a:accent2>
        <a:accent3>
          <a:srgbClr val="AAAAFF"/>
        </a:accent3>
        <a:accent4>
          <a:srgbClr val="DADADA"/>
        </a:accent4>
        <a:accent5>
          <a:srgbClr val="FFB8AD"/>
        </a:accent5>
        <a:accent6>
          <a:srgbClr val="E700E7"/>
        </a:accent6>
        <a:hlink>
          <a:srgbClr val="FF0000"/>
        </a:hlink>
        <a:folHlink>
          <a:srgbClr val="80808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Pc_New 2">
        <a:dk1>
          <a:srgbClr val="000066"/>
        </a:dk1>
        <a:lt1>
          <a:srgbClr val="CCECFF"/>
        </a:lt1>
        <a:dk2>
          <a:srgbClr val="000080"/>
        </a:dk2>
        <a:lt2>
          <a:srgbClr val="000000"/>
        </a:lt2>
        <a:accent1>
          <a:srgbClr val="9999FF"/>
        </a:accent1>
        <a:accent2>
          <a:srgbClr val="CC00FF"/>
        </a:accent2>
        <a:accent3>
          <a:srgbClr val="E2F4FF"/>
        </a:accent3>
        <a:accent4>
          <a:srgbClr val="000056"/>
        </a:accent4>
        <a:accent5>
          <a:srgbClr val="CACAFF"/>
        </a:accent5>
        <a:accent6>
          <a:srgbClr val="B900E7"/>
        </a:accent6>
        <a:hlink>
          <a:srgbClr val="00CC99"/>
        </a:hlink>
        <a:folHlink>
          <a:srgbClr val="0099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Pc_New 3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B2B2B2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D5D5D5"/>
        </a:accent5>
        <a:accent6>
          <a:srgbClr val="797979"/>
        </a:accent6>
        <a:hlink>
          <a:srgbClr val="5F5F5F"/>
        </a:hlink>
        <a:folHlink>
          <a:srgbClr val="DDDDD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Pc_New 4">
        <a:dk1>
          <a:srgbClr val="000000"/>
        </a:dk1>
        <a:lt1>
          <a:srgbClr val="FFFFFF"/>
        </a:lt1>
        <a:dk2>
          <a:srgbClr val="660033"/>
        </a:dk2>
        <a:lt2>
          <a:srgbClr val="FFFF66"/>
        </a:lt2>
        <a:accent1>
          <a:srgbClr val="FF0033"/>
        </a:accent1>
        <a:accent2>
          <a:srgbClr val="CC6600"/>
        </a:accent2>
        <a:accent3>
          <a:srgbClr val="B8AAAD"/>
        </a:accent3>
        <a:accent4>
          <a:srgbClr val="DADADA"/>
        </a:accent4>
        <a:accent5>
          <a:srgbClr val="FFAAAD"/>
        </a:accent5>
        <a:accent6>
          <a:srgbClr val="B95C00"/>
        </a:accent6>
        <a:hlink>
          <a:srgbClr val="999933"/>
        </a:hlink>
        <a:folHlink>
          <a:srgbClr val="A5002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Pc_New 5">
        <a:dk1>
          <a:srgbClr val="000000"/>
        </a:dk1>
        <a:lt1>
          <a:srgbClr val="FFFFFF"/>
        </a:lt1>
        <a:dk2>
          <a:srgbClr val="CCECFF"/>
        </a:dk2>
        <a:lt2>
          <a:srgbClr val="000080"/>
        </a:lt2>
        <a:accent1>
          <a:srgbClr val="9999FF"/>
        </a:accent1>
        <a:accent2>
          <a:srgbClr val="CC00FF"/>
        </a:accent2>
        <a:accent3>
          <a:srgbClr val="E2F4FF"/>
        </a:accent3>
        <a:accent4>
          <a:srgbClr val="DADADA"/>
        </a:accent4>
        <a:accent5>
          <a:srgbClr val="CACAFF"/>
        </a:accent5>
        <a:accent6>
          <a:srgbClr val="B900E7"/>
        </a:accent6>
        <a:hlink>
          <a:srgbClr val="00CC99"/>
        </a:hlink>
        <a:folHlink>
          <a:srgbClr val="0099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Pc_New 6">
        <a:dk1>
          <a:srgbClr val="000000"/>
        </a:dk1>
        <a:lt1>
          <a:srgbClr val="FFFFFF"/>
        </a:lt1>
        <a:dk2>
          <a:srgbClr val="CCECFF"/>
        </a:dk2>
        <a:lt2>
          <a:srgbClr val="003399"/>
        </a:lt2>
        <a:accent1>
          <a:srgbClr val="9999FF"/>
        </a:accent1>
        <a:accent2>
          <a:srgbClr val="800080"/>
        </a:accent2>
        <a:accent3>
          <a:srgbClr val="E2F4FF"/>
        </a:accent3>
        <a:accent4>
          <a:srgbClr val="DADADA"/>
        </a:accent4>
        <a:accent5>
          <a:srgbClr val="CACAFF"/>
        </a:accent5>
        <a:accent6>
          <a:srgbClr val="730073"/>
        </a:accent6>
        <a:hlink>
          <a:srgbClr val="FF0000"/>
        </a:hlink>
        <a:folHlink>
          <a:srgbClr val="FFFFD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Pc_New 7">
        <a:dk1>
          <a:srgbClr val="000000"/>
        </a:dk1>
        <a:lt1>
          <a:srgbClr val="FFFFFF"/>
        </a:lt1>
        <a:dk2>
          <a:srgbClr val="CCECFF"/>
        </a:dk2>
        <a:lt2>
          <a:srgbClr val="003399"/>
        </a:lt2>
        <a:accent1>
          <a:srgbClr val="0794FF"/>
        </a:accent1>
        <a:accent2>
          <a:srgbClr val="800080"/>
        </a:accent2>
        <a:accent3>
          <a:srgbClr val="E2F4FF"/>
        </a:accent3>
        <a:accent4>
          <a:srgbClr val="DADADA"/>
        </a:accent4>
        <a:accent5>
          <a:srgbClr val="AAC8FF"/>
        </a:accent5>
        <a:accent6>
          <a:srgbClr val="730073"/>
        </a:accent6>
        <a:hlink>
          <a:srgbClr val="FF0000"/>
        </a:hlink>
        <a:folHlink>
          <a:srgbClr val="FFFFD2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378292</TotalTime>
  <Words>0</Words>
  <Application>Microsoft Macintosh PowerPoint</Application>
  <PresentationFormat>Custom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9" baseType="lpstr">
      <vt:lpstr>ＭＳ Ｐゴシック</vt:lpstr>
      <vt:lpstr>Arial</vt:lpstr>
      <vt:lpstr>Arial Bold</vt:lpstr>
      <vt:lpstr>Garamond</vt:lpstr>
      <vt:lpstr>Monotype Sorts</vt:lpstr>
      <vt:lpstr>Times New Roman</vt:lpstr>
      <vt:lpstr>Verdana</vt:lpstr>
      <vt:lpstr>Wingdings</vt:lpstr>
      <vt:lpstr>LPc_New</vt:lpstr>
    </vt:vector>
  </TitlesOfParts>
  <Company>Elephant Scale LLC &amp; LearningPatterns Inc.</Company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Spark</dc:title>
  <dc:subject>Spark</dc:subject>
  <dc:creator>Elephant Scale</dc:creator>
  <cp:lastModifiedBy>fateme</cp:lastModifiedBy>
  <cp:revision>4135</cp:revision>
  <cp:lastPrinted>2010-01-03T02:41:41Z</cp:lastPrinted>
  <dcterms:created xsi:type="dcterms:W3CDTF">2010-07-13T15:22:01Z</dcterms:created>
  <dcterms:modified xsi:type="dcterms:W3CDTF">2019-10-02T11:26:38Z</dcterms:modified>
</cp:coreProperties>
</file>