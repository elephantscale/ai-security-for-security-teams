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png"/><Relationship Id="rId3" Type="http://schemas.openxmlformats.org/officeDocument/2006/relationships/image" Target="../media/image29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3" Type="http://schemas.openxmlformats.org/officeDocument/2006/relationships/image" Target="../media/image32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Relationship Id="rId3" Type="http://schemas.openxmlformats.org/officeDocument/2006/relationships/image" Target="../media/image3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Module 7 — API Security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7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API gateways as AI enforcement points</a:t>
            </a:r>
          </a:p>
          <a:p>
            <a:r>
              <a:t> GraphQL risks in AI systems</a:t>
            </a:r>
          </a:p>
          <a:p>
            <a:r>
              <a:t> MCP and AI plugin attack surface</a:t>
            </a:r>
          </a:p>
          <a:p>
            <a:r>
              <a:t> JWT protection for agent authentication</a:t>
            </a:r>
          </a:p>
          <a:p>
            <a:r>
              <a:t> Agent identity and delegated authorization</a:t>
            </a:r>
          </a:p>
          <a:p>
            <a:r>
              <a:t> Secret management for AI workloads</a:t>
            </a:r>
          </a:p>
          <a:p>
            <a:r>
              <a:t> Signed prompts and request integrity</a:t>
            </a:r>
          </a:p>
          <a:p>
            <a:r>
              <a:t> API inventory for AI</a:t>
            </a:r>
          </a:p>
          <a:p>
            <a:r>
              <a:t> OWASP API Security Top 10 — applied to AI</a:t>
            </a:r>
          </a:p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dmytkopl-349299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4864608"/>
            <a:ext cx="7507224" cy="60051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APIs Are the AI Attack Surface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Every AI system is, at its core, a collection of API calls.</a:t>
            </a:r>
          </a:p>
          <a:p/>
          <a:p/>
          <a:p/>
          <a:p/>
          <a:p>
            <a:r>
              <a:t> Securing the LLM prompt is necessary. Securing the APIs around it is equally critical.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8978900" cy="2921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AI API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Each layer is a potential attack or misconfiguration point.</a:t>
            </a:r>
          </a:p>
          <a:p/>
          <a:p/>
          <a:p/>
          <a:p/>
          <a:p/>
          <a:p/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Protocol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WAF / CDN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HTTP/S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API 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HTTP/S, gRPC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Identity Provider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OAuth 2.0, OIDC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LLM Inference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HTTP/S (REST or streaming)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External service APIs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HTTP/S, WebSocket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Agent 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MCP 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HTTP/S + SSE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Vector DB, 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HTTP/S, TCP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Secrets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Vault / KMS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HTTP/S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 descr="pexels-freestockpro-12956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5742431"/>
            <a:ext cx="7507224" cy="112608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Gateways as AI Enforcement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 API gateway sits between clients (or agents) and backend services. For AI, it is a critical control plane.</a:t>
            </a:r>
          </a:p>
          <a:p>
            <a:r>
              <a:rPr b="1"/>
              <a:t> What an AI-aware API gateway should enforce:</a:t>
            </a:r>
          </a:p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9283700" cy="4521200"/>
          </a:xfrm>
          <a:prstGeom prst="rect">
            <a:avLst/>
          </a:prstGeom>
        </p:spPr>
      </p:pic>
      <p:pic>
        <p:nvPicPr>
          <p:cNvPr id="6" name="Picture 5" descr="pexels-peter-dyllong-2158803154-3631076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864608"/>
            <a:ext cx="7507224" cy="112620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Gateway vs Traditional API Gateway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>
            <a:r>
              <a:t> Products: Kong AI Gateway, Apigee, AWS API Gateway + Lambda, LiteLLM Proxy, Portkey, Cloudflare AI Gateway.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Traditional Gateway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Gateway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Auth/AuthZ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Rate limiting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Requests/sec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Requests + Tokens/sec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Schema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JSON schema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+ response policy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Threat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SQL/XSS patterns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Prompt injection patterns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Cost tracking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Token consumption per tenant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Streaming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Required (SSE, chunked)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Semantic routing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Yes (route by intent)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PII 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Optional plugin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Core requirement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GraphQL in AI Systems — The Risk Surface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GraphQL is increasingly used in AI backends for flexible data fetching by agents.</a:t>
            </a:r>
          </a:p>
          <a:p>
            <a:r>
              <a:rPr b="1"/>
              <a:t> Why GraphQL is higher risk for AI:</a:t>
            </a:r>
          </a:p>
          <a:p>
            <a:r>
              <a:rPr b="1"/>
              <a:t> Introspection</a:t>
            </a:r>
            <a:r>
              <a:t> — the schema is self-describing. An attacker (or compromised agent) can discover all available data types and relationships.</a:t>
            </a:r>
          </a:p>
          <a:p>
            <a:r>
              <a:rPr b="1"/>
              <a:t> Deep queries</a:t>
            </a:r>
            <a:r>
              <a:t> — a single GraphQL query can join many resources; agents may generate expensive queries based on user intent.</a:t>
            </a:r>
          </a:p>
          <a:p>
            <a:r>
              <a:rPr b="1"/>
              <a:t> No endpoint-level rate limiting</a:t>
            </a:r>
            <a:r>
              <a:t> — all queries go to one endpoint (</a:t>
            </a:r>
            <a:r>
              <a:rPr>
                <a:latin typeface="Courier New"/>
              </a:rPr>
              <a:t> /graphql</a:t>
            </a:r>
            <a:r>
              <a:t> ). Traditional per-endpoint rate limits don't apply.</a:t>
            </a:r>
          </a:p>
          <a:p>
            <a:r>
              <a:rPr b="1"/>
              <a:t> Batch attacks</a:t>
            </a:r>
            <a:r>
              <a:t> — multiple operations in one request bypass per-request limits.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GraphQL Attack: Introspection Abuse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 agent or attacker queries the schema to map the data model:</a:t>
            </a:r>
          </a:p>
          <a:p/>
          <a:p/>
          <a:p/>
          <a:p/>
          <a:p>
            <a:r>
              <a:t> This returns every type, field, and relationship in the API.</a:t>
            </a:r>
          </a:p>
          <a:p>
            <a:r>
              <a:rPr b="1"/>
              <a:t> Mitigation:</a:t>
            </a:r>
          </a:p>
          <a:p>
            <a:r>
              <a:t> Disable introspection in production</a:t>
            </a:r>
          </a:p>
          <a:p>
            <a:r>
              <a:t> If agents need schema access, serve a curated subset</a:t>
            </a:r>
          </a:p>
          <a:p>
            <a:r>
              <a:t> Log and alert on introspection queries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39243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GraphQL Attack: Nested Query 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deeply nested query can cause exponential backend work:</a:t>
            </a:r>
          </a:p>
          <a:p/>
          <a:p/>
          <a:p/>
          <a:p/>
          <a:p/>
          <a:p/>
          <a:p>
            <a:r>
              <a:rPr b="1"/>
              <a:t> Mitigations:</a:t>
            </a:r>
          </a:p>
          <a:p>
            <a:r>
              <a:t> Query depth limiting (max depth: 5–7)</a:t>
            </a:r>
          </a:p>
          <a:p>
            <a:r>
              <a:t> Query complexity scoring (reject if score &gt; threshold)</a:t>
            </a:r>
          </a:p>
          <a:p>
            <a:r>
              <a:t> Query cost analysis before execution</a:t>
            </a:r>
          </a:p>
          <a:p>
            <a:r>
              <a:t> Persisted queries only (reject ad-hoc queries from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7289800" cy="47879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GraphQL Attack: Batched Brute Force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GraphQL allows multiple operations in one request:</a:t>
            </a:r>
          </a:p>
          <a:p/>
          <a:p/>
          <a:p/>
          <a:p>
            <a:r>
              <a:t> This sends 500 login attempts as a single HTTP request, bypassing per-request rate limits.</a:t>
            </a:r>
          </a:p>
          <a:p>
            <a:r>
              <a:rPr b="1"/>
              <a:t> Mitigation:</a:t>
            </a:r>
          </a:p>
          <a:p>
            <a:r>
              <a:t> Limit batch operation count (max 10 per request)</a:t>
            </a:r>
          </a:p>
          <a:p>
            <a:r>
              <a:t> Apply per-alias rate limiting</a:t>
            </a:r>
          </a:p>
          <a:p>
            <a:r>
              <a:t> Require authentication before any mutation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813800" cy="1854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MCP — Model Context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MCP is the emerging standard for connecting LLMs to tools and data sources. It defines how agents discover and call tools.</a:t>
            </a:r>
          </a:p>
          <a:p/>
          <a:p/>
          <a:p/>
          <a:p/>
          <a:p>
            <a:r>
              <a:t> MCP servers are HTTP services with SSE (Server-Sent Events) for streaming.</a:t>
            </a:r>
          </a:p>
          <a:p>
            <a:r>
              <a:t> Security implication:</a:t>
            </a:r>
            <a:r>
              <a:rPr b="1"/>
              <a:t> MCP servers are privileged API endpoints</a:t>
            </a:r>
            <a:r>
              <a:t> — they execute tool calls on behalf of the model.</a:t>
            </a:r>
          </a:p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9588500" cy="2654300"/>
          </a:xfrm>
          <a:prstGeom prst="rect">
            <a:avLst/>
          </a:prstGeom>
        </p:spPr>
      </p:pic>
      <p:pic>
        <p:nvPicPr>
          <p:cNvPr id="6" name="Picture 5" descr="ChatGPT_Image_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5303520"/>
            <a:ext cx="7507224" cy="75072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MCP Security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Description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Unauthenticated MCP 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Any client can call any tool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Tool definition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Malicious MCP server poisons tool descriptions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Prompt injection via 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MCP resource returns injected content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Overprivileged tool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MCP server exposes more tools than needed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No input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Tool args passed directly to backend systems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Eavesdropping on SSE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Tool results exposed in transit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Server spoofing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 connects to attacker-controlled MCP server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Securing MCP Endpoints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Authentication:</a:t>
            </a:r>
          </a:p>
          <a:p>
            <a:r>
              <a:t> Require OAuth 2.0 bearer token for every MCP connection</a:t>
            </a:r>
          </a:p>
          <a:p>
            <a:r>
              <a:t> Use short-lived tokens scoped to specific tool sets</a:t>
            </a:r>
          </a:p>
          <a:p>
            <a:r>
              <a:t> Mutual TLS for server-to-server MCP calls</a:t>
            </a:r>
          </a:p>
          <a:p>
            <a:r>
              <a:rPr b="1"/>
              <a:t> Tool exposure:</a:t>
            </a:r>
          </a:p>
          <a:p/>
          <a:p/>
          <a:p/>
          <a:p/>
          <a:p>
            <a:r>
              <a:t> Strict input schemas prevent parameter injection.</a:t>
            </a:r>
            <a:r>
              <a:rPr b="1"/>
              <a:t> Network:</a:t>
            </a:r>
            <a:r>
              <a:t> MCP servers should not be publicly reachable. Place behind API gateway with IP allowlist.</a:t>
            </a:r>
          </a:p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08960"/>
            <a:ext cx="8915400" cy="2335872"/>
          </a:xfrm>
          <a:prstGeom prst="rect">
            <a:avLst/>
          </a:prstGeom>
        </p:spPr>
      </p:pic>
      <p:pic>
        <p:nvPicPr>
          <p:cNvPr id="6" name="Picture 5" descr="pexels-cottonbro-87206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5742431"/>
            <a:ext cx="7507224" cy="112618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Plugin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AI plugins (ChatGPT plugins, Copilot extensions, agent tools) follow a similar trust model to MCP.</a:t>
            </a:r>
          </a:p>
          <a:p>
            <a:r>
              <a:t> Common vulnerabilities:</a:t>
            </a:r>
          </a:p>
          <a:p>
            <a:r>
              <a:rPr b="1"/>
              <a:t> Plugin manifest abuse:</a:t>
            </a:r>
          </a:p>
          <a:p/>
          <a:p/>
          <a:p/>
          <a:p>
            <a:r>
              <a:t> The model reads the plugin description as trusted instruction.</a:t>
            </a:r>
          </a:p>
          <a:p>
            <a:r>
              <a:rPr b="1"/>
              <a:t> Mitigation:</a:t>
            </a:r>
          </a:p>
          <a:p>
            <a:r>
              <a:t> Review plugin manifests before installation</a:t>
            </a:r>
          </a:p>
          <a:p>
            <a:r>
              <a:t> Sandbox plugin execution</a:t>
            </a:r>
          </a:p>
          <a:p>
            <a:r>
              <a:t> Monitor what plugins are installed and by whom</a:t>
            </a:r>
          </a:p>
          <a:p>
            <a:r>
              <a:t> Treat third-party plugins as untrusted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0048"/>
            <a:ext cx="10807700" cy="1854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JWT Protection for Agent Authentication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Agents making API calls must prove their identity. JWT (JSON Web Token) is the common mechanism.</a:t>
            </a:r>
          </a:p>
          <a:p>
            <a:r>
              <a:rPr b="1"/>
              <a:t> A well-formed agent JWT:</a:t>
            </a:r>
          </a:p>
          <a:p>
            <a:r>
              <a:t> Short TTL, narrow scope, specific audience. Not a generic long-lived API key.</a:t>
            </a:r>
          </a:p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9410700" cy="3721100"/>
          </a:xfrm>
          <a:prstGeom prst="rect">
            <a:avLst/>
          </a:prstGeom>
        </p:spPr>
      </p:pic>
      <p:pic>
        <p:nvPicPr>
          <p:cNvPr id="6" name="Picture 5" descr="pexels-realtoughcandy-110353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864608"/>
            <a:ext cx="7507224" cy="50048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JWT Vulnerabilities in AI Contexts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Mitigation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alg: 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Token with no signature 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Reject `none` algorithm explicitly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>
                          <a:latin typeface="Courier New"/>
                        </a:rPr>
                        <a:t>alg: HS256` with RS256 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Symmetric downgrade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Allowlist algorithms per issuer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Long TTL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Stolen token remains valid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Max 60s for agent-to-service calls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Broad `scope`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 can call any endpoint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Scope to specific resources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Missing `aud`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Token accepted by wrong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Validate audience on every call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Leaked token in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Token replayable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Redact Authorization headers in logs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JWT in 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Token exposed in access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Always in header, never in query string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Identity — Beyond API Keys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API keys are static, shared, and hard to rotate. Agents need dynamic identity.</a:t>
            </a:r>
          </a:p>
          <a:p>
            <a:r>
              <a:rPr b="1"/>
              <a:t> Workload Identity Pattern:</a:t>
            </a:r>
          </a:p>
          <a:p/>
          <a:p/>
          <a:p>
            <a:r>
              <a:rPr b="1"/>
              <a:t> Tools:</a:t>
            </a:r>
          </a:p>
          <a:p>
            <a:r>
              <a:t> SPIFFE/SPIRE — workload identity federation</a:t>
            </a:r>
          </a:p>
          <a:p>
            <a:r>
              <a:t> AWS IAM Roles for Service Accounts</a:t>
            </a:r>
          </a:p>
          <a:p>
            <a:r>
              <a:t> GCP Workload Identity Federation</a:t>
            </a:r>
          </a:p>
          <a:p>
            <a:r>
              <a:t> Azure Managed Identity</a:t>
            </a:r>
            <a:r>
              <a:rPr b="1"/>
              <a:t> Never:</a:t>
            </a:r>
            <a:r>
              <a:t> hard-code API keys in agent code, Docker images, or prompt templates.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10960100" cy="1587500"/>
          </a:xfrm>
          <a:prstGeom prst="rect">
            <a:avLst/>
          </a:prstGeom>
        </p:spPr>
      </p:pic>
      <p:pic>
        <p:nvPicPr>
          <p:cNvPr id="6" name="Picture 5" descr="pexels-eye4dtail-33383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5742431"/>
            <a:ext cx="7507224" cy="50048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Delegated Authorization — OAuth 2.0 for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When an agent acts on behalf of a user, it must carry delegated authority — not its own identity.</a:t>
            </a:r>
          </a:p>
          <a:p>
            <a:r>
              <a:rPr b="1"/>
              <a:t> OAuth 2.0 Token Exchange (RFC 8693):</a:t>
            </a:r>
          </a:p>
          <a:p/>
          <a:p/>
          <a:p/>
          <a:p/>
          <a:p/>
          <a:p/>
          <a:p/>
          <a:p/>
          <a:p/>
          <a:p/>
          <a:p/>
          <a:p/>
          <a:p>
            <a:r>
              <a:t> This preserves the audit trail — the backend knows which user triggered which agent 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11264900" cy="2921000"/>
          </a:xfrm>
          <a:prstGeom prst="rect">
            <a:avLst/>
          </a:prstGeom>
        </p:spPr>
      </p:pic>
      <p:pic>
        <p:nvPicPr>
          <p:cNvPr id="6" name="Picture 5" descr="pexels-cottonbro-547429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986783"/>
            <a:ext cx="7507224" cy="500441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Authorization Failures in AI APIs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These map directly to OWASP API Security Top 10:</a:t>
            </a:r>
          </a:p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915400" cy="23022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OWASP API Security Top 10 — AI Mapping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OWASP API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AI-Specific Manifestation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API1: BOLA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 iterates resource IDs; no ownership check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API2: Broken 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Shared/static agent API keys; no rotation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API3: Excessive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Full objects returned to LLM context; PII leaks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API4: Resource Consumption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Runaway agent exhausts token/rate budgets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API5: BFLA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 with broad scope calls admin functions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API6: Unrestricted Mass Assignment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 PATCHes arbitrary fields via JSON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API7: Security Misconfiguration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MCP server exposed without auth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API8: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 input passed unsanitized to SQL/shell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API9: Improper Assets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Undiscovered agent endpoints not in WAF policy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API10: Unsafe Consumption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 trusts third-party API output unconditionally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API10 Deep Dive — Unsafe Consumption of Third-Party APIs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OWASP API10 is the most underappreciated risk in AI systems.</a:t>
            </a:r>
          </a:p>
          <a:p>
            <a:r>
              <a:rPr b="1"/>
              <a:t> Pattern:</a:t>
            </a:r>
          </a:p>
          <a:p/>
          <a:p/>
          <a:p/>
          <a:p>
            <a:r>
              <a:t> The agent treats the API response as data. It is actually adversarial input.</a:t>
            </a:r>
          </a:p>
          <a:p>
            <a:r>
              <a:rPr b="1"/>
              <a:t> Controls:</a:t>
            </a:r>
          </a:p>
          <a:p>
            <a:r>
              <a:t> Validate API responses against a strict schema before passing to LLM context</a:t>
            </a:r>
          </a:p>
          <a:p>
            <a:r>
              <a:t> Never pass raw third-party API output directly into a prompt</a:t>
            </a:r>
          </a:p>
          <a:p>
            <a:r>
              <a:t> Treat third-party API responses as untrusted — same as user input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8661400" cy="2387600"/>
          </a:xfrm>
          <a:prstGeom prst="rect">
            <a:avLst/>
          </a:prstGeom>
        </p:spPr>
      </p:pic>
      <p:pic>
        <p:nvPicPr>
          <p:cNvPr id="6" name="Picture 5" descr="pexels-mert-dundul-680827349-3336214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7498079"/>
            <a:ext cx="7507224" cy="1171821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Secret Management for AI Workloads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AI systems accumulate secrets rapidly: LLM API keys, DB credentials, OAuth secrets, signing keys.</a:t>
            </a:r>
          </a:p>
          <a:p>
            <a:r>
              <a:rPr b="1"/>
              <a:t> What not to do:</a:t>
            </a:r>
          </a:p>
          <a:p/>
          <a:p/>
          <a:p>
            <a:r>
              <a:rPr b="1"/>
              <a:t> Correct pattern:</a:t>
            </a:r>
          </a:p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11264900" cy="15875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47872"/>
            <a:ext cx="10350500" cy="3454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Secret Management —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/>
          <a:p/>
          <a:p>
            <a:r>
              <a:t> Recommended tools: HashiCorp Vault, AWS Secrets Manager, GCP Secret Manager, Azure Key Vault.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/>
                <a:gridCol w="4457700"/>
              </a:tblGrid>
              <a:tr h="457200">
                <a:tc>
                  <a:txBody>
                    <a:bodyPr/>
                    <a:lstStyle/>
                    <a:p>
                      <a:r>
                        <a:t>Practice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Detail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No secrets in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Use secret manager or env injection at runtime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No secrets in prompts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Credentials must not appear in LLM context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Rotation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LLM API keys rotate every 30 days minimum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Least privilege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Each agent role has its own key with scoped access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Every secret access logged with agent identity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Break-glass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Emergency revocation procedure documented and tested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Alert on secrets appearing in logs, responses, or memory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Signed Prompts and Request Integrity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How do you know a prompt has not been tampered with in transit — or in the pipeline?</a:t>
            </a:r>
          </a:p>
          <a:p>
            <a:r>
              <a:rPr b="1"/>
              <a:t> Signed prompt pattern:</a:t>
            </a:r>
          </a:p>
          <a:p/>
          <a:p/>
          <a:p/>
          <a:p>
            <a:r>
              <a:t> This detects prompt tampering by attackers who gain access to the prompt assembly layer.</a:t>
            </a:r>
          </a:p>
          <a:p>
            <a:r>
              <a:rPr b="1"/>
              <a:t> Extended:</a:t>
            </a:r>
            <a:r>
              <a:t> Sign the full context window (system + retrieved context + user message). Alert if any segment fails verification.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10045700" cy="21209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Signed Prompts — Implementation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Use</a:t>
            </a:r>
            <a:r>
              <a:rPr>
                <a:latin typeface="Courier New"/>
              </a:rPr>
              <a:t> hmac.compare_digest</a:t>
            </a:r>
            <a:r>
              <a:t> — it is constant-time and prevents timing attacks.</a:t>
            </a:r>
          </a:p>
          <a:p/>
          <a:p/>
          <a:p/>
          <a:p/>
          <a:p/>
          <a:p/>
          <a:p/>
          <a:p/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0350500" cy="5054600"/>
          </a:xfrm>
          <a:prstGeom prst="rect">
            <a:avLst/>
          </a:prstGeom>
        </p:spPr>
      </p:pic>
      <p:pic>
        <p:nvPicPr>
          <p:cNvPr id="6" name="Picture 5" descr="pexels-pixabay-2616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547872"/>
            <a:ext cx="7507224" cy="563041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Inventory for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You cannot protect what you cannot see. AI systems create new undocumented API surfaces quickly.</a:t>
            </a:r>
          </a:p>
          <a:p>
            <a:r>
              <a:rPr b="1"/>
              <a:t> What to inventory:</a:t>
            </a:r>
          </a:p>
          <a:p/>
          <a:p/>
          <a:p/>
          <a:p/>
          <a:p>
            <a:r>
              <a:rPr b="1"/>
              <a:t> Process:</a:t>
            </a:r>
          </a:p>
          <a:p>
            <a:r>
              <a:t> Enumerate all AI-related endpoints via code scan and traffic analysis</a:t>
            </a:r>
          </a:p>
          <a:p>
            <a:r>
              <a:t> Tag each endpoint in the WAF with</a:t>
            </a:r>
            <a:r>
              <a:rPr>
                <a:latin typeface="Courier New"/>
              </a:rPr>
              <a:t> ai-traffic: true</a:t>
            </a:r>
          </a:p>
          <a:p>
            <a:r>
              <a:t> Apply AI-specific policies to tagged endpoints</a:t>
            </a:r>
          </a:p>
          <a:p>
            <a:r>
              <a:t> Alert on AI-tagged endpoints with no WAF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8826500" cy="2921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API Discovery — Practical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Passive discovery (traffic analysis):</a:t>
            </a:r>
          </a:p>
          <a:p/>
          <a:p/>
          <a:p>
            <a:r>
              <a:rPr b="1"/>
              <a:t> Active discovery:</a:t>
            </a:r>
          </a:p>
          <a:p>
            <a:r>
              <a:t> Scan codebases for</a:t>
            </a:r>
            <a:r>
              <a:rPr>
                <a:latin typeface="Courier New"/>
              </a:rPr>
              <a:t> import openai</a:t>
            </a:r>
            <a:r>
              <a:t> ,</a:t>
            </a:r>
            <a:r>
              <a:rPr>
                <a:latin typeface="Courier New"/>
              </a:rPr>
              <a:t> anthropic.Anthropic()</a:t>
            </a:r>
            <a:r>
              <a:t> ,</a:t>
            </a:r>
            <a:r>
              <a:rPr>
                <a:latin typeface="Courier New"/>
              </a:rPr>
              <a:t> requests.post</a:t>
            </a:r>
          </a:p>
          <a:p>
            <a:r>
              <a:t> Search CI/CD pipeline definitions for LLM API keys</a:t>
            </a:r>
          </a:p>
          <a:p>
            <a:r>
              <a:t> Check</a:t>
            </a:r>
            <a:r>
              <a:rPr>
                <a:latin typeface="Courier New"/>
              </a:rPr>
              <a:t> package.json</a:t>
            </a:r>
            <a:r>
              <a:t> ,</a:t>
            </a:r>
            <a:r>
              <a:rPr>
                <a:latin typeface="Courier New"/>
              </a:rPr>
              <a:t> requirements.txt</a:t>
            </a:r>
            <a:r>
              <a:t> for AI SDK dependencies</a:t>
            </a:r>
          </a:p>
          <a:p>
            <a:r>
              <a:t> Review Docker images for embedded credentials or model files</a:t>
            </a:r>
            <a:r>
              <a:rPr b="1"/>
              <a:t> Automated:</a:t>
            </a:r>
            <a:r>
              <a:t> Use API discovery tools (42Crunch, Traceable, Salt Security) tuned for AI endpoint signatures.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10045700" cy="1320800"/>
          </a:xfrm>
          <a:prstGeom prst="rect">
            <a:avLst/>
          </a:prstGeom>
        </p:spPr>
      </p:pic>
      <p:pic>
        <p:nvPicPr>
          <p:cNvPr id="6" name="Picture 5" descr="pexels-anna-alexes-18139455-782267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5303520"/>
            <a:ext cx="7507224" cy="1126083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Rate Limiting for AI APIs — Beyond Requests/Sec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Traditional rate limiting counts requests. AI APIs need token-aware limits.</a:t>
            </a:r>
          </a:p>
          <a:p>
            <a:r>
              <a:rPr b="1"/>
              <a:t> Multi-dimensional rate limiting:</a:t>
            </a:r>
          </a:p>
          <a:p/>
          <a:p/>
          <a:p/>
          <a:p/>
          <a:p/>
          <a:p>
            <a:r>
              <a:t> Implement at the API gateway layer. The LLM provider's own rate limits are a backstop, not the primary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10198100" cy="37211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Denial-of-Wallet: The AI-Specific 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Unlike traditional DoS, denial-of-wallet does not require overwhelming a server — it requires running up costs.</a:t>
            </a:r>
          </a:p>
          <a:p>
            <a:r>
              <a:rPr b="1"/>
              <a:t> How it works:</a:t>
            </a:r>
          </a:p>
          <a:p/>
          <a:p/>
          <a:p/>
          <a:p>
            <a:r>
              <a:rPr b="1"/>
              <a:t> Defenses:</a:t>
            </a:r>
          </a:p>
          <a:p>
            <a:r>
              <a:t> Token budget hard limits per user/session</a:t>
            </a:r>
          </a:p>
          <a:p>
            <a:r>
              <a:t> Reject requests with prompt length &gt; threshold</a:t>
            </a:r>
          </a:p>
          <a:p>
            <a:r>
              <a:t> Alert on cost anomalies in real time</a:t>
            </a:r>
          </a:p>
          <a:p>
            <a:r>
              <a:t> Circuit breaker: pause an account exceeding N× normal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0048"/>
            <a:ext cx="8813800" cy="2387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TLS and Transport Security for AI APIs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AI API traffic carries sensitive data: prompts, user PII, retrieved documents, model responses. Transport security is non-negotiable.</a:t>
            </a:r>
          </a:p>
          <a:p>
            <a:r>
              <a:rPr b="1"/>
              <a:t> Minimum requirements:</a:t>
            </a:r>
          </a:p>
          <a:p>
            <a:r>
              <a:t> TLS 1.2 minimum; TLS 1.3 preferred for all AI API calls</a:t>
            </a:r>
          </a:p>
          <a:p>
            <a:r>
              <a:t> Certificate pinning for agent-to-LLM-provider calls (prevent MITM)</a:t>
            </a:r>
          </a:p>
          <a:p>
            <a:r>
              <a:t> Mutual TLS (mTLS) for agent-to-agent and agent-to-MCP-server calls</a:t>
            </a:r>
          </a:p>
          <a:p>
            <a:r>
              <a:t> Disable TLS inspection on AI traffic if it would expose model outputs to a third-party device</a:t>
            </a:r>
          </a:p>
          <a:p>
            <a:r>
              <a:rPr b="1"/>
              <a:t> What to watch for:</a:t>
            </a:r>
          </a:p>
          <a:p/>
          <a:p/>
          <a:p>
            <a:r>
              <a:t> Treat your TLS inspection infrastructure as part of your AI attack surface.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81344"/>
            <a:ext cx="9436100" cy="1587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Versioning and Deprecation for AI Endpoints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AI APIs evolve rapidly. Deprecated endpoints are often left running and unmonitored.</a:t>
            </a:r>
          </a:p>
          <a:p>
            <a:r>
              <a:rPr b="1"/>
              <a:t> Risks of unmanaged versioning:</a:t>
            </a:r>
          </a:p>
          <a:p>
            <a:r>
              <a:t> Old agent code calls deprecated</a:t>
            </a:r>
            <a:r>
              <a:rPr>
                <a:latin typeface="Courier New"/>
              </a:rPr>
              <a:t> /v1/</a:t>
            </a:r>
            <a:r>
              <a:t> endpoint with weaker auth</a:t>
            </a:r>
          </a:p>
          <a:p>
            <a:r>
              <a:t> Deprecated endpoint has no WAF coverage</a:t>
            </a:r>
          </a:p>
          <a:p>
            <a:r>
              <a:t> Attacker discovers undocumented</a:t>
            </a:r>
            <a:r>
              <a:rPr>
                <a:latin typeface="Courier New"/>
              </a:rPr>
              <a:t> /v0/</a:t>
            </a:r>
            <a:r>
              <a:t> endpoint via fuzzing</a:t>
            </a:r>
          </a:p>
          <a:p>
            <a:r>
              <a:t> Shadow AI APIs spin up during development and are never decommissioned</a:t>
            </a:r>
          </a:p>
          <a:p>
            <a:r>
              <a:rPr b="1"/>
              <a:t> Controls:</a:t>
            </a:r>
          </a:p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64608"/>
            <a:ext cx="10350500" cy="2120900"/>
          </a:xfrm>
          <a:prstGeom prst="rect">
            <a:avLst/>
          </a:prstGeom>
        </p:spPr>
      </p:pic>
      <p:pic>
        <p:nvPicPr>
          <p:cNvPr id="6" name="Picture 5" descr="pexels-jan-van-der-wolf-11680885-120480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6181344"/>
            <a:ext cx="7507224" cy="500481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Abuse via Embedded AI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Many existing APIs now embed AI features invisibly. These create new risk.</a:t>
            </a:r>
          </a:p>
          <a:p>
            <a:r>
              <a:rPr b="1"/>
              <a:t> Examples:</a:t>
            </a:r>
          </a:p>
          <a:p>
            <a:r>
              <a:t> GitHub Copilot API — exposes code context to external model</a:t>
            </a:r>
          </a:p>
          <a:p>
            <a:r>
              <a:t> Salesforce Einstein — CRM data flows to LLM</a:t>
            </a:r>
          </a:p>
          <a:p>
            <a:r>
              <a:t> Microsoft 365 Copilot — email/document content processed externally</a:t>
            </a:r>
          </a:p>
          <a:p>
            <a:r>
              <a:t> Zendesk AI — support ticket content sent to third-party model</a:t>
            </a:r>
          </a:p>
          <a:p>
            <a:r>
              <a:rPr b="1"/>
              <a:t> Risks:</a:t>
            </a:r>
          </a:p>
          <a:p>
            <a:r>
              <a:t> Data you thought stayed on-premises now leaves to a cloud LLM</a:t>
            </a:r>
          </a:p>
          <a:p>
            <a:r>
              <a:t> PII, trade secrets, or regulated data in AI context</a:t>
            </a:r>
          </a:p>
          <a:p>
            <a:r>
              <a:t> No DLP policy covers the new data flow</a:t>
            </a:r>
          </a:p>
          <a:p>
            <a:r>
              <a:t> Third-party model retains training rights (check terms of service)</a:t>
            </a:r>
          </a:p>
          <a:p>
            <a:r>
              <a:rPr b="1"/>
              <a:t> Control:</a:t>
            </a:r>
            <a:r>
              <a:t> Maintain an inventory of all SaaS products with embedded AI features. Review data flows. Apply DLP rules to AI API egress.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7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Key takeaways:</a:t>
            </a:r>
          </a:p>
          <a:p>
            <a:r>
              <a:rPr b="1"/>
              <a:t> Every AI system is an API system</a:t>
            </a:r>
            <a:r>
              <a:t> — secure the APIs, not just the prompts</a:t>
            </a:r>
          </a:p>
          <a:p>
            <a:r>
              <a:rPr b="1"/>
              <a:t> API gateways must be AI-aware</a:t>
            </a:r>
            <a:r>
              <a:t> — token budgets, prompt policies, and semantic routing extend beyond traditional gateway capabilities</a:t>
            </a:r>
          </a:p>
          <a:p>
            <a:r>
              <a:rPr b="1"/>
              <a:t> GraphQL amplifies AI risks</a:t>
            </a:r>
            <a:r>
              <a:t> — introspection, deep queries, and batch attacks need specific controls</a:t>
            </a:r>
          </a:p>
          <a:p>
            <a:r>
              <a:rPr b="1"/>
              <a:t> MCP and plugins are privileged endpoints</a:t>
            </a:r>
            <a:r>
              <a:t> — treat them with the same scrutiny as admin APIs</a:t>
            </a:r>
          </a:p>
          <a:p>
            <a:r>
              <a:rPr b="1"/>
              <a:t> JWT and workload identity replace static API keys</a:t>
            </a:r>
            <a:r>
              <a:t> for agents — short-lived, narrowly scoped</a:t>
            </a:r>
          </a:p>
          <a:p>
            <a:r>
              <a:rPr b="1"/>
              <a:t> OWASP API Security Top 10 applies directly</a:t>
            </a:r>
            <a:r>
              <a:t> — especially API1, API4, and API10</a:t>
            </a:r>
          </a:p>
          <a:p>
            <a:r>
              <a:rPr b="1"/>
              <a:t> Signed prompts and secret managers</a:t>
            </a:r>
            <a:r>
              <a:t> close the integrity and credential gaps</a:t>
            </a:r>
          </a:p>
          <a:p>
            <a:r>
              <a:rPr b="1"/>
              <a:t> You cannot protect APIs you do not know exist</a:t>
            </a:r>
            <a:r>
              <a:t> — AI API inventory is a prerequisite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 — Module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Monitoring, Detection, and Response for AI Systems</a:t>
            </a:r>
          </a:p>
          <a:p>
            <a:r>
              <a:t> Building AI-aware SIEM rules</a:t>
            </a:r>
          </a:p>
          <a:p>
            <a:r>
              <a:t> Log analysis for LLM traffic</a:t>
            </a:r>
          </a:p>
          <a:p>
            <a:r>
              <a:t> Behavioral baselines for agents</a:t>
            </a:r>
          </a:p>
          <a:p>
            <a:r>
              <a:t> Incident response playbooks for AI attacks</a:t>
            </a:r>
          </a:p>
          <a:p>
            <a:r>
              <a:t> Forensics on a compromised agent</a:t>
            </a:r>
          </a:p>
          <a:p>
            <a:r>
              <a:t> Red team vs blue team for AI systems</a:t>
            </a:r>
          </a:p>
          <a:p>
            <a:r>
              <a:t> If Module 6 was about preventing agentic attacks, and Module 7 was about securing the APIs, Module 8 is about what to do when something gets through.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5 Preview — Detect Denial-of-Wallet Attacks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Objective:</a:t>
            </a:r>
            <a:r>
              <a:t> Identify and block denial-of-wallet attack patterns before they cause significant cost.</a:t>
            </a:r>
          </a:p>
          <a:p>
            <a:r>
              <a:rPr b="1"/>
              <a:t> Environment:</a:t>
            </a:r>
          </a:p>
          <a:p>
            <a:r>
              <a:t> A simulated API gateway fronting an LLM endpoint</a:t>
            </a:r>
          </a:p>
          <a:p>
            <a:r>
              <a:t> A token usage dashboard with real-time cost metrics</a:t>
            </a:r>
          </a:p>
          <a:p>
            <a:r>
              <a:t> An attack script that generates high-token requests at volume</a:t>
            </a:r>
          </a:p>
          <a:p>
            <a:r>
              <a:rPr b="1"/>
              <a:t> Tasks:</a:t>
            </a:r>
          </a:p>
          <a:p>
            <a:r>
              <a:t> Establish a normal token usage baseline over 10 minutes of synthetic traffic</a:t>
            </a:r>
          </a:p>
          <a:p>
            <a:r>
              <a:t> Launch the denial-of-wallet attack script — observe cost spike in dashboard</a:t>
            </a:r>
          </a:p>
          <a:p>
            <a:r>
              <a:t> Write a rate limiting rule: block sessions exceeding 50,000 tokens/hour</a:t>
            </a:r>
          </a:p>
          <a:p>
            <a:r>
              <a:t> Write a prompt size rule: reject requests with body &gt; 8,000 tokens</a:t>
            </a:r>
          </a:p>
          <a:p>
            <a:r>
              <a:t> Implement a cost circuit breaker: alert and pause if spend exceeds $10/hour</a:t>
            </a:r>
          </a:p>
          <a:p>
            <a:r>
              <a:t> Detect prompt padding: identify requests where input tokens &gt;&gt; output tokens by anomalous ratio</a:t>
            </a:r>
          </a:p>
          <a:p>
            <a:r>
              <a:t> (Bonus) Implement per-tenant budget enforcement and verify it isolates the attack to the attacker's tenant</a:t>
            </a:r>
          </a:p>
          <a:p>
            <a:r>
              <a:rPr b="1"/>
              <a:t> Deliverable:</a:t>
            </a:r>
            <a:r>
              <a:t> A gateway configuration file containing all rules, plus a short analysis comparing cost before and after controls.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