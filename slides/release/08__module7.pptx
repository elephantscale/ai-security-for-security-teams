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7 — API Security for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7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API gateways as AI enforcement points</a:t>
            </a:r>
          </a:p>
          <a:p>
            <a:r>
              <a:t> GraphQL risks in AI systems</a:t>
            </a:r>
          </a:p>
          <a:p>
            <a:r>
              <a:t> MCP and AI plugin attack surface</a:t>
            </a:r>
          </a:p>
          <a:p>
            <a:r>
              <a:t> JWT protection for agent authentication</a:t>
            </a:r>
          </a:p>
          <a:p>
            <a:r>
              <a:t> Agent identity and delegated authorization</a:t>
            </a:r>
          </a:p>
          <a:p>
            <a:r>
              <a:t> Secret management for AI workloads</a:t>
            </a:r>
          </a:p>
          <a:p>
            <a:r>
              <a:t> Signed prompts and request integrity</a:t>
            </a:r>
          </a:p>
          <a:p>
            <a:r>
              <a:t> API inventory for AI</a:t>
            </a:r>
          </a:p>
          <a:p>
            <a:r>
              <a:t> OWASP API Security Top 10 — applied to AI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dmytkopl-349299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226" y="5133105"/>
            <a:ext cx="3773424" cy="30184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APIs Are the AI Attack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Every AI system is, at its core, a collection of API calls.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Securing the LLM prompt is necessary. Securing the APIs around it is equally critical.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408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API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Each layer is a potential attack or misconfiguration point.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Protocol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 / CDN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HTTP/S, gRPC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Identity 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OAuth 2.0, OIDC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Inference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HTTP/S (REST or streaming)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External service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HTTP/S, WebSocket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Agent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MCP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HTTP/S + 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Vector DB, 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HTTP/S, TCP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Secrets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Vault / KMS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 descr="pexels-freestockpro-12956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5393611"/>
            <a:ext cx="1780932" cy="26713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Gateways as AI Enforcement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API gateway sits between clients (or agents) and backend services. For AI, it is a critical control plane.</a:t>
            </a:r>
          </a:p>
          <a:p>
            <a:r>
              <a:rPr b="1"/>
              <a:t> What an AI-aware API gateway should enforce:</a:t>
            </a:r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136"/>
            <a:ext cx="9245600" cy="4521200"/>
          </a:xfrm>
          <a:prstGeom prst="rect">
            <a:avLst/>
          </a:prstGeom>
        </p:spPr>
      </p:pic>
      <p:pic>
        <p:nvPicPr>
          <p:cNvPr id="6" name="Picture 5" descr="pexels-peter-dyllong-2158803154-363107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812" y="6106534"/>
            <a:ext cx="1351788" cy="20278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Gateway vs Traditional 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Products: Kong AI Gateway, Apigee, AWS API Gateway + Lambda, LiteLLM Proxy, Portkey, Cloudflare AI Gateway.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Traditional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Auth/AuthZ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Requests/sec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Requests + Tokens/sec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Schema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+ response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Threat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SQL/XSS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 patterns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Cost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consumption per tenant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Streaming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Required (SSE, chunked)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Semantic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 (route by intent)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PII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Optional plugin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Core requirement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GraphQL in AI Systems — The Risk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GraphQL is increasingly used in AI backends for flexible data fetching by agents.</a:t>
            </a:r>
          </a:p>
          <a:p>
            <a:r>
              <a:rPr b="1"/>
              <a:t> Why GraphQL is higher risk for AI:</a:t>
            </a:r>
          </a:p>
          <a:p>
            <a:r>
              <a:rPr b="1"/>
              <a:t> Introspection</a:t>
            </a:r>
            <a:r>
              <a:t> — the schema is self-describing. An attacker (or compromised agent) can discover all available data types and relationships.</a:t>
            </a:r>
          </a:p>
          <a:p>
            <a:r>
              <a:rPr b="1"/>
              <a:t> Deep queries</a:t>
            </a:r>
            <a:r>
              <a:t> — a single GraphQL query can join many resources; agents may generate expensive queries based on user intent.</a:t>
            </a:r>
          </a:p>
          <a:p>
            <a:r>
              <a:rPr b="1"/>
              <a:t> No endpoint-level rate limiting</a:t>
            </a:r>
            <a:r>
              <a:t> — all queries go to one endpoint (</a:t>
            </a:r>
            <a:r>
              <a:rPr>
                <a:latin typeface="Courier New"/>
              </a:rPr>
              <a:t> /graphql</a:t>
            </a:r>
            <a:r>
              <a:t> ). Traditional per-endpoint rate limits don't apply.</a:t>
            </a:r>
          </a:p>
          <a:p>
            <a:r>
              <a:rPr b="1"/>
              <a:t> Batch attacks</a:t>
            </a:r>
            <a:r>
              <a:t> — multiple operations in one request bypass per-request limits.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GraphQL Attack: Introspection Abuse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agent or attacker queries the schema to map the data model: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This returns every type, field, and relationship in the API.</a:t>
            </a:r>
          </a:p>
          <a:p>
            <a:r>
              <a:rPr b="1"/>
              <a:t> Mitigation:</a:t>
            </a:r>
          </a:p>
          <a:p>
            <a:r>
              <a:t> Disable introspection in production</a:t>
            </a:r>
          </a:p>
          <a:p>
            <a:r>
              <a:t> If agents need schema access, serve a curated subset</a:t>
            </a:r>
          </a:p>
          <a:p>
            <a:r>
              <a:t> Log and alert on introspection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3911600" cy="3187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GraphQL Attack: Nested Query 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 deeply nested query can cause exponential backend work: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Mitigations:</a:t>
            </a:r>
          </a:p>
          <a:p>
            <a:r>
              <a:rPr dirty="0"/>
              <a:t> Query depth limiting (max depth: 5–7)</a:t>
            </a:r>
          </a:p>
          <a:p>
            <a:r>
              <a:rPr dirty="0"/>
              <a:t> Query complexity scoring (reject if score &gt; threshold)</a:t>
            </a:r>
          </a:p>
          <a:p>
            <a:r>
              <a:rPr dirty="0"/>
              <a:t> Query cost analysis before execution</a:t>
            </a:r>
          </a:p>
          <a:p>
            <a:r>
              <a:rPr dirty="0"/>
              <a:t> Persisted queries only (reject ad-hoc queries from agents)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7" y="1634331"/>
            <a:ext cx="5318235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GraphQL Attack: Batched Brute 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GraphQL</a:t>
            </a:r>
            <a:r>
              <a:rPr dirty="0"/>
              <a:t> allows multiple operations in one request:</a:t>
            </a:r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 This sends 500 login attempts as a single HTTP request, bypassing per-request rate limits.</a:t>
            </a:r>
          </a:p>
          <a:p>
            <a:r>
              <a:rPr b="1" dirty="0"/>
              <a:t> Mitigation:</a:t>
            </a:r>
          </a:p>
          <a:p>
            <a:r>
              <a:rPr dirty="0"/>
              <a:t> Limit batch operation count (max 10 per request)</a:t>
            </a:r>
          </a:p>
          <a:p>
            <a:r>
              <a:rPr dirty="0"/>
              <a:t> Apply per-alias rate limiting</a:t>
            </a:r>
          </a:p>
          <a:p>
            <a:r>
              <a:rPr dirty="0"/>
              <a:t> Require authentication before any mutation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24" y="1786731"/>
            <a:ext cx="9029176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— Model Context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MCP is the emerging standard for connecting LLMs to tools and data sources. It defines how agents discover and call tools.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dirty="0"/>
          </a:p>
          <a:p>
            <a:r>
              <a:rPr dirty="0"/>
              <a:t> MCP servers are HTTP services with SSE (Server-Sent Events) for streaming.</a:t>
            </a:r>
          </a:p>
          <a:p>
            <a:r>
              <a:rPr dirty="0"/>
              <a:t> Security implication:</a:t>
            </a:r>
            <a:r>
              <a:rPr b="1" dirty="0"/>
              <a:t> MCP servers are privileged API endpoints</a:t>
            </a:r>
            <a:r>
              <a:rPr dirty="0"/>
              <a:t> — they execute tool calls on behalf of the model.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243931"/>
            <a:ext cx="7559675" cy="2101027"/>
          </a:xfrm>
          <a:prstGeom prst="rect">
            <a:avLst/>
          </a:prstGeom>
        </p:spPr>
      </p:pic>
      <p:pic>
        <p:nvPicPr>
          <p:cNvPr id="6" name="Picture 5" descr="ChatGPT_Image_MC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484" y="6112411"/>
            <a:ext cx="2101028" cy="21010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Security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Unauthenticated MCP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Any client can call any tool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Tool definition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Malicious MCP server poisons tool descriptions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Prompt injection via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MCP resource returns injected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Overprivileged tool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MCP server exposes more tools than needed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No input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 args passed directly to backend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Eavesdropping on SSE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 results exposed in transit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Server spoofing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connects to attacker-controlled MCP 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Securing MCP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Authentication:</a:t>
            </a:r>
          </a:p>
          <a:p>
            <a:r>
              <a:rPr dirty="0"/>
              <a:t> Require OAuth 2.0 bearer token for every MCP connection</a:t>
            </a:r>
          </a:p>
          <a:p>
            <a:r>
              <a:rPr dirty="0"/>
              <a:t> Use short-lived tokens scoped to specific tool sets</a:t>
            </a:r>
          </a:p>
          <a:p>
            <a:r>
              <a:rPr dirty="0"/>
              <a:t> Mutual TLS for server-to-server MCP calls</a:t>
            </a:r>
          </a:p>
          <a:p>
            <a:r>
              <a:rPr b="1" dirty="0"/>
              <a:t> Tool exposure:</a:t>
            </a:r>
          </a:p>
          <a:p>
            <a:endParaRPr b="1" dirty="0"/>
          </a:p>
          <a:p>
            <a:endParaRPr b="1" dirty="0"/>
          </a:p>
          <a:p>
            <a:endParaRPr lang="en-US" b="1" dirty="0"/>
          </a:p>
          <a:p>
            <a:endParaRPr b="1" dirty="0"/>
          </a:p>
          <a:p>
            <a:endParaRPr b="1" dirty="0"/>
          </a:p>
          <a:p>
            <a:r>
              <a:rPr dirty="0"/>
              <a:t> Strict input schemas prevent parameter injection.</a:t>
            </a:r>
            <a:r>
              <a:rPr b="1" dirty="0"/>
              <a:t> Network:</a:t>
            </a:r>
            <a:r>
              <a:rPr dirty="0"/>
              <a:t> MCP servers should not be publicly reachable. Place behind API gateway with IP allowlist.</a:t>
            </a:r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3167769"/>
            <a:ext cx="8484362" cy="2227589"/>
          </a:xfrm>
          <a:prstGeom prst="rect">
            <a:avLst/>
          </a:prstGeom>
        </p:spPr>
      </p:pic>
      <p:pic>
        <p:nvPicPr>
          <p:cNvPr id="6" name="Picture 5" descr="pexels-cottonbro-87206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6198723"/>
            <a:ext cx="1295400" cy="19432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Plugin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AI plugins (ChatGPT plugins, Copilot extensions, agent tools) follow a similar trust model to MCP.</a:t>
            </a:r>
          </a:p>
          <a:p>
            <a:r>
              <a:rPr dirty="0"/>
              <a:t> Common vulnerabilities:</a:t>
            </a:r>
          </a:p>
          <a:p>
            <a:r>
              <a:rPr b="1" dirty="0"/>
              <a:t> Plugin manifest abuse:</a:t>
            </a:r>
          </a:p>
          <a:p>
            <a:endParaRPr b="1" dirty="0"/>
          </a:p>
          <a:p>
            <a:endParaRPr b="1" dirty="0"/>
          </a:p>
          <a:p>
            <a:endParaRPr lang="en-US" b="1" dirty="0"/>
          </a:p>
          <a:p>
            <a:endParaRPr lang="en-US" b="1" dirty="0"/>
          </a:p>
          <a:p>
            <a:endParaRPr b="1" dirty="0"/>
          </a:p>
          <a:p>
            <a:r>
              <a:rPr dirty="0"/>
              <a:t> The model reads the plugin description as trusted instruction.</a:t>
            </a:r>
          </a:p>
          <a:p>
            <a:r>
              <a:rPr b="1" dirty="0"/>
              <a:t> Mitigation:</a:t>
            </a:r>
          </a:p>
          <a:p>
            <a:r>
              <a:rPr dirty="0"/>
              <a:t> Review plugin manifests before installation</a:t>
            </a:r>
          </a:p>
          <a:p>
            <a:r>
              <a:rPr dirty="0"/>
              <a:t> Sandbox plugin execution</a:t>
            </a:r>
          </a:p>
          <a:p>
            <a:r>
              <a:rPr dirty="0"/>
              <a:t> Monitor what plugins are installed and by whom</a:t>
            </a:r>
          </a:p>
          <a:p>
            <a:r>
              <a:rPr dirty="0"/>
              <a:t> Treat third-party plugins as untrusted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2777331"/>
            <a:ext cx="9363075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JWT Protection for Agent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Agents making API calls must prove their identity. JWT (JSON Web Token) is the common mechanism.</a:t>
            </a:r>
          </a:p>
          <a:p>
            <a:r>
              <a:rPr b="1" dirty="0"/>
              <a:t> A well-formed agent JWT:</a:t>
            </a:r>
          </a:p>
          <a:p>
            <a:r>
              <a:rPr dirty="0"/>
              <a:t> Short TTL, narrow scope, specific audience. Not a generic long-lived API key.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3234530"/>
            <a:ext cx="8963463" cy="3549047"/>
          </a:xfrm>
          <a:prstGeom prst="rect">
            <a:avLst/>
          </a:prstGeom>
        </p:spPr>
      </p:pic>
      <p:pic>
        <p:nvPicPr>
          <p:cNvPr id="6" name="Picture 5" descr="pexels-realtoughcandy-110353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6805450"/>
            <a:ext cx="1708150" cy="11387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JWT Vulnerabilities in AI Contexts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Vulnerability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alg: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with no signature accepted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Reject `none` algorithm explicitly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alg: HS256` with RS256 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Symmetric downgrade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Allowlist algorithms per issuer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Long TTL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Stolen token remains 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 60s for agent-to-service 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Broad `scope`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can call any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Scope to specific resources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Missing `aud`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accepted by wrong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Validate audience on every 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Leaked token in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replayable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Redact Authorization headers in logs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JWT in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exposed in access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Always in header, never in query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Identity — Beyond API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API keys are static, shared, and hard to rotate. Agents need dynamic identity.</a:t>
            </a:r>
          </a:p>
          <a:p>
            <a:r>
              <a:rPr b="1" dirty="0"/>
              <a:t> Workload Identity Pattern:</a:t>
            </a:r>
          </a:p>
          <a:p>
            <a:endParaRPr b="1" dirty="0"/>
          </a:p>
          <a:p>
            <a:endParaRPr b="1" dirty="0"/>
          </a:p>
          <a:p>
            <a:endParaRPr lang="en-US" b="1" dirty="0"/>
          </a:p>
          <a:p>
            <a:r>
              <a:rPr b="1" dirty="0"/>
              <a:t> Tools:</a:t>
            </a:r>
          </a:p>
          <a:p>
            <a:r>
              <a:rPr dirty="0"/>
              <a:t> SPIFFE/SPIRE — workload identity federation</a:t>
            </a:r>
          </a:p>
          <a:p>
            <a:r>
              <a:rPr dirty="0"/>
              <a:t> AWS IAM Roles for Service Accounts</a:t>
            </a:r>
          </a:p>
          <a:p>
            <a:r>
              <a:rPr dirty="0"/>
              <a:t> GCP Workload Identity Federation</a:t>
            </a:r>
          </a:p>
          <a:p>
            <a:r>
              <a:rPr dirty="0"/>
              <a:t> Azure Managed Identity</a:t>
            </a:r>
            <a:r>
              <a:rPr b="1" dirty="0"/>
              <a:t> Never:</a:t>
            </a:r>
            <a:r>
              <a:rPr dirty="0"/>
              <a:t> hard-code API keys in agent code, Docker images, or prompt templates.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03" y="2241280"/>
            <a:ext cx="8797759" cy="1278744"/>
          </a:xfrm>
          <a:prstGeom prst="rect">
            <a:avLst/>
          </a:prstGeom>
        </p:spPr>
      </p:pic>
      <p:pic>
        <p:nvPicPr>
          <p:cNvPr id="6" name="Picture 5" descr="pexels-eye4dtail-3338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819" y="6206331"/>
            <a:ext cx="2425643" cy="16170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Delegated Authorization — OAuth 2.0 for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When an agent acts on behalf of a user, it must carry delegated authority — not its own identity.</a:t>
            </a:r>
          </a:p>
          <a:p>
            <a:r>
              <a:rPr b="1" dirty="0"/>
              <a:t> OAuth 2.0 Token Exchange (RFC 8693):</a:t>
            </a:r>
          </a:p>
          <a:p>
            <a:endParaRPr b="1" dirty="0"/>
          </a:p>
          <a:p>
            <a:endParaRPr b="1" dirty="0"/>
          </a:p>
          <a:p>
            <a:endParaRPr b="1" dirty="0"/>
          </a:p>
          <a:p>
            <a:endParaRPr b="1" dirty="0"/>
          </a:p>
          <a:p>
            <a:endParaRPr b="1" dirty="0"/>
          </a:p>
          <a:p>
            <a:endParaRPr b="1" dirty="0"/>
          </a:p>
          <a:p>
            <a:endParaRPr b="1" dirty="0"/>
          </a:p>
          <a:p>
            <a:endParaRPr b="1" dirty="0"/>
          </a:p>
          <a:p>
            <a:endParaRPr b="1" dirty="0"/>
          </a:p>
          <a:p>
            <a:pPr marL="0" indent="0">
              <a:buNone/>
            </a:pPr>
            <a:endParaRPr b="1" dirty="0"/>
          </a:p>
          <a:p>
            <a:r>
              <a:rPr dirty="0"/>
              <a:t> This preserves the audit trail — the backend knows which user triggered which agent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2472531"/>
            <a:ext cx="9104313" cy="2921000"/>
          </a:xfrm>
          <a:prstGeom prst="rect">
            <a:avLst/>
          </a:prstGeom>
        </p:spPr>
      </p:pic>
      <p:pic>
        <p:nvPicPr>
          <p:cNvPr id="6" name="Picture 5" descr="pexels-cottonbro-547429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93531"/>
            <a:ext cx="1912874" cy="12751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Authorization Failures in AI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These map directly to OWASP API Security Top 10: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0531"/>
            <a:ext cx="8915400" cy="231174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API Security Top 10 — AI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OWASP API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AI-Specific Manifestation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API1: BOLA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iterates resource IDs; no ownership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API2: Broken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Shared/static agent API keys; no rotation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API3: Excessive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objects returned to LLM context; PII leaks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API4: Resource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Runaway agent exhausts token/rate budgets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API5: BFLA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with broad scope calls admin functions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API6: Unrestricted Mass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PATCHes arbitrary fields via 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API7: Security Misconfiguration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MCP server exposed without auth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API8: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input passed unsanitized to SQL/shell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API9: Improper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Undiscovered agent endpoints not in WAF policy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API10: Unsafe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trusts third-party API output unconditionally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API10 Deep Dive — Unsafe Consumption of Third-Party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OWASP API10 is the most underappreciated risk in AI systems.</a:t>
            </a:r>
          </a:p>
          <a:p>
            <a:r>
              <a:rPr b="1"/>
              <a:t> Pattern:</a:t>
            </a:r>
          </a:p>
          <a:p>
            <a:endParaRPr b="1"/>
          </a:p>
          <a:p>
            <a:endParaRPr b="1"/>
          </a:p>
          <a:p>
            <a:endParaRPr b="1"/>
          </a:p>
          <a:p>
            <a:r>
              <a:t> The agent treats the API response as data. It is actually adversarial input.</a:t>
            </a:r>
          </a:p>
          <a:p>
            <a:r>
              <a:rPr b="1"/>
              <a:t> Controls:</a:t>
            </a:r>
          </a:p>
          <a:p>
            <a:r>
              <a:t> Validate API responses against a strict schema before passing to LLM context</a:t>
            </a:r>
          </a:p>
          <a:p>
            <a:r>
              <a:t> Never pass raw third-party API output directly into a prompt</a:t>
            </a:r>
          </a:p>
          <a:p>
            <a:r>
              <a:t> Treat third-party API responses as untrusted — same as user input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1939131"/>
            <a:ext cx="5791200" cy="1601096"/>
          </a:xfrm>
          <a:prstGeom prst="rect">
            <a:avLst/>
          </a:prstGeom>
        </p:spPr>
      </p:pic>
      <p:pic>
        <p:nvPicPr>
          <p:cNvPr id="6" name="Picture 5" descr="pexels-mert-dundul-680827349-3336214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900" y="6602131"/>
            <a:ext cx="1010412" cy="157717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Secret Management for AI Workloads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 systems accumulate secrets rapidly: LLM API keys, DB credentials, OAuth secrets, signing keys.</a:t>
            </a:r>
          </a:p>
          <a:p>
            <a:r>
              <a:rPr b="1"/>
              <a:t> What not to do:</a:t>
            </a:r>
          </a:p>
          <a:p>
            <a:endParaRPr b="1"/>
          </a:p>
          <a:p>
            <a:endParaRPr b="1"/>
          </a:p>
          <a:p>
            <a:r>
              <a:rPr b="1"/>
              <a:t> Correct pattern:</a:t>
            </a:r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2341336"/>
            <a:ext cx="9334500" cy="15875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338" y="4365057"/>
            <a:ext cx="9405938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Secret Management —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Recommended tools: HashiCorp Vault, AWS Secrets Manager, GCP Secret Manager, Azure Key Vault.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No secrets in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 secret manager or env injection at runtime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No secrets in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Credentials must not appear in LLM 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API keys rotate every 30 days minimum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Least privilege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Each agent role has its own key with scoped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Every secret access logged with agent identity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Break-glass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Emergency revocation procedure documented and tested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Alert on secrets appearing in logs, responses, or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Signed Prompts and Request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How do you know a prompt has not been tampered with in transit — or in the pipeline?</a:t>
            </a:r>
          </a:p>
          <a:p>
            <a:r>
              <a:rPr b="1" dirty="0"/>
              <a:t> Signed prompt pattern:</a:t>
            </a:r>
          </a:p>
          <a:p>
            <a:endParaRPr b="1" dirty="0"/>
          </a:p>
          <a:p>
            <a:endParaRPr b="1" dirty="0"/>
          </a:p>
          <a:p>
            <a:endParaRPr b="1" dirty="0"/>
          </a:p>
          <a:p>
            <a:r>
              <a:rPr dirty="0"/>
              <a:t> </a:t>
            </a:r>
            <a:endParaRPr lang="en-US" dirty="0"/>
          </a:p>
          <a:p>
            <a:endParaRPr lang="en-US" dirty="0"/>
          </a:p>
          <a:p>
            <a:r>
              <a:rPr dirty="0"/>
              <a:t>This detects prompt tampering by attackers who gain access to the prompt assembly layer.</a:t>
            </a:r>
          </a:p>
          <a:p>
            <a:r>
              <a:rPr b="1" dirty="0"/>
              <a:t> Extended:</a:t>
            </a:r>
            <a:r>
              <a:rPr dirty="0"/>
              <a:t> Sign the full context window (system + retrieved context + user message). Alert if any segment fails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8619"/>
            <a:ext cx="9337675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Signed Prompts — Implementation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</a:t>
            </a:r>
            <a:r>
              <a:rPr>
                <a:latin typeface="Courier New"/>
              </a:rPr>
              <a:t> hmac.compare_digest</a:t>
            </a:r>
            <a:r>
              <a:t> — it is constant-time and prevents timing attacks.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12" y="1855027"/>
            <a:ext cx="9107396" cy="4463970"/>
          </a:xfrm>
          <a:prstGeom prst="rect">
            <a:avLst/>
          </a:prstGeom>
        </p:spPr>
      </p:pic>
      <p:pic>
        <p:nvPicPr>
          <p:cNvPr id="6" name="Picture 5" descr="pexels-pixabay-2616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135" y="6319790"/>
            <a:ext cx="2480415" cy="186031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Inventory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You cannot protect what you cannot see. AI systems create new undocumented API surfaces quickly.</a:t>
            </a:r>
          </a:p>
          <a:p>
            <a:r>
              <a:rPr b="1" dirty="0"/>
              <a:t> What to inventory:</a:t>
            </a:r>
          </a:p>
          <a:p>
            <a:endParaRPr b="1" dirty="0"/>
          </a:p>
          <a:p>
            <a:endParaRPr b="1" dirty="0"/>
          </a:p>
          <a:p>
            <a:endParaRPr b="1" dirty="0"/>
          </a:p>
          <a:p>
            <a:endParaRPr b="1" dirty="0"/>
          </a:p>
          <a:p>
            <a:r>
              <a:rPr b="1" dirty="0"/>
              <a:t> </a:t>
            </a:r>
            <a:endParaRPr lang="en-US" b="1" dirty="0"/>
          </a:p>
          <a:p>
            <a:endParaRPr lang="en-US" b="1" dirty="0"/>
          </a:p>
          <a:p>
            <a:r>
              <a:rPr b="1" dirty="0"/>
              <a:t>Process:</a:t>
            </a:r>
          </a:p>
          <a:p>
            <a:r>
              <a:rPr dirty="0"/>
              <a:t> Enumerate all AI-related endpoints via code scan and traffic analysis</a:t>
            </a:r>
          </a:p>
          <a:p>
            <a:r>
              <a:rPr dirty="0"/>
              <a:t> Tag each endpoint in the WAF with</a:t>
            </a:r>
            <a:r>
              <a:rPr dirty="0">
                <a:latin typeface="Courier New"/>
              </a:rPr>
              <a:t> ai-traffic: true</a:t>
            </a:r>
          </a:p>
          <a:p>
            <a:r>
              <a:rPr dirty="0"/>
              <a:t> Apply AI-specific policies to tagged endpoints</a:t>
            </a:r>
          </a:p>
          <a:p>
            <a:r>
              <a:rPr dirty="0"/>
              <a:t> Alert on AI-tagged endpoints with no WAF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2243931"/>
            <a:ext cx="7658100" cy="25416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API Discovery — Practical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Passive discovery (traffic analysis):</a:t>
            </a:r>
          </a:p>
          <a:p>
            <a:endParaRPr b="1" dirty="0"/>
          </a:p>
          <a:p>
            <a:endParaRPr b="1" dirty="0"/>
          </a:p>
          <a:p>
            <a:r>
              <a:rPr b="1" dirty="0"/>
              <a:t> </a:t>
            </a:r>
            <a:endParaRPr lang="en-US" b="1" dirty="0"/>
          </a:p>
          <a:p>
            <a:r>
              <a:rPr b="1" dirty="0"/>
              <a:t>Active discovery:</a:t>
            </a:r>
          </a:p>
          <a:p>
            <a:r>
              <a:rPr dirty="0"/>
              <a:t> Scan codebases for</a:t>
            </a:r>
            <a:r>
              <a:rPr dirty="0">
                <a:latin typeface="Courier New"/>
              </a:rPr>
              <a:t> import </a:t>
            </a:r>
            <a:r>
              <a:rPr dirty="0" err="1">
                <a:latin typeface="Courier New"/>
              </a:rPr>
              <a:t>openai</a:t>
            </a:r>
            <a:r>
              <a:rPr dirty="0"/>
              <a:t> ,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anthropic.Anthropic</a:t>
            </a:r>
            <a:r>
              <a:rPr dirty="0">
                <a:latin typeface="Courier New"/>
              </a:rPr>
              <a:t>()</a:t>
            </a:r>
            <a:r>
              <a:rPr dirty="0"/>
              <a:t> ,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requests.post</a:t>
            </a:r>
            <a:endParaRPr dirty="0">
              <a:latin typeface="Courier New"/>
            </a:endParaRPr>
          </a:p>
          <a:p>
            <a:r>
              <a:rPr dirty="0"/>
              <a:t> Search CI/CD pipeline definitions for LLM API keys</a:t>
            </a:r>
          </a:p>
          <a:p>
            <a:r>
              <a:rPr dirty="0"/>
              <a:t> Check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package.json</a:t>
            </a:r>
            <a:r>
              <a:rPr dirty="0"/>
              <a:t> ,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requirements.txt</a:t>
            </a:r>
            <a:r>
              <a:rPr dirty="0"/>
              <a:t> for AI SDK dependencies</a:t>
            </a:r>
          </a:p>
          <a:p>
            <a:r>
              <a:rPr dirty="0"/>
              <a:t> Review Docker images for embedded credentials or model files</a:t>
            </a:r>
            <a:r>
              <a:rPr b="1" dirty="0"/>
              <a:t> Automated:</a:t>
            </a:r>
            <a:r>
              <a:rPr dirty="0"/>
              <a:t> Use API discovery tools (42Crunch, Traceable, Salt Security) tuned for AI endpoint signatures.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5731"/>
            <a:ext cx="9372600" cy="1320800"/>
          </a:xfrm>
          <a:prstGeom prst="rect">
            <a:avLst/>
          </a:prstGeom>
        </p:spPr>
      </p:pic>
      <p:pic>
        <p:nvPicPr>
          <p:cNvPr id="6" name="Picture 5" descr="pexels-anna-alexes-18139455-782267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038" y="6459696"/>
            <a:ext cx="1070208" cy="16053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Rate Limiting for AI APIs — Beyond Requests/Sec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rate limiting counts requests. AI APIs need token-aware limits.</a:t>
            </a:r>
          </a:p>
          <a:p>
            <a:r>
              <a:rPr b="1"/>
              <a:t> Multi-dimensional rate limiting:</a:t>
            </a:r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r>
              <a:t> Implement at the API gateway layer. The LLM provider's own rate limits are a backstop, not the primary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8" y="2929731"/>
            <a:ext cx="9290812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Denial-of-Wallet: The AI-Specific 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Unlike traditional DoS, denial-of-wallet does not require overwhelming a server — it requires running up costs.</a:t>
            </a:r>
          </a:p>
          <a:p>
            <a:r>
              <a:rPr b="1" dirty="0"/>
              <a:t> How it works:</a:t>
            </a:r>
          </a:p>
          <a:p>
            <a:endParaRPr b="1" dirty="0"/>
          </a:p>
          <a:p>
            <a:endParaRPr b="1" dirty="0"/>
          </a:p>
          <a:p>
            <a:endParaRPr b="1" dirty="0"/>
          </a:p>
          <a:p>
            <a:r>
              <a:rPr b="1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b="1" dirty="0"/>
              <a:t>Defenses:</a:t>
            </a:r>
          </a:p>
          <a:p>
            <a:r>
              <a:rPr dirty="0"/>
              <a:t> Token budget hard limits per user/session</a:t>
            </a:r>
          </a:p>
          <a:p>
            <a:r>
              <a:rPr dirty="0"/>
              <a:t> Reject requests with prompt length &gt; threshold</a:t>
            </a:r>
          </a:p>
          <a:p>
            <a:r>
              <a:rPr dirty="0"/>
              <a:t> Alert on cost anomalies in real time</a:t>
            </a:r>
          </a:p>
          <a:p>
            <a:r>
              <a:rPr dirty="0"/>
              <a:t> Circuit breaker: pause an account exceeding N× normal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2320131"/>
            <a:ext cx="87884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TLS and Transport Security for AI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 AI API traffic carries sensitive data: prompts, user PII, retrieved documents, model responses. Transport security is non-negotiable.</a:t>
            </a:r>
          </a:p>
          <a:p>
            <a:r>
              <a:rPr b="1" dirty="0"/>
              <a:t> Minimum requirements:</a:t>
            </a:r>
          </a:p>
          <a:p>
            <a:r>
              <a:rPr dirty="0"/>
              <a:t> TLS 1.2 minimum; TLS 1.3 preferred for all AI API calls</a:t>
            </a:r>
          </a:p>
          <a:p>
            <a:r>
              <a:rPr dirty="0"/>
              <a:t> Certificate pinning for agent-to-LLM-provider calls (prevent MITM)</a:t>
            </a:r>
          </a:p>
          <a:p>
            <a:r>
              <a:rPr dirty="0"/>
              <a:t> Mutual TLS (</a:t>
            </a:r>
            <a:r>
              <a:rPr dirty="0" err="1"/>
              <a:t>mTLS</a:t>
            </a:r>
            <a:r>
              <a:rPr dirty="0"/>
              <a:t>) for agent-to-agent and agent-to-MCP-server calls</a:t>
            </a:r>
          </a:p>
          <a:p>
            <a:r>
              <a:rPr dirty="0"/>
              <a:t> Disable TLS inspection on AI traffic if it would expose model outputs to a third-party device</a:t>
            </a:r>
          </a:p>
          <a:p>
            <a:r>
              <a:rPr b="1" dirty="0"/>
              <a:t> What to watch for:</a:t>
            </a:r>
          </a:p>
          <a:p>
            <a:endParaRPr b="1" dirty="0"/>
          </a:p>
          <a:p>
            <a:endParaRPr lang="en-US" b="1" dirty="0"/>
          </a:p>
          <a:p>
            <a:endParaRPr b="1" dirty="0"/>
          </a:p>
          <a:p>
            <a:r>
              <a:rPr dirty="0"/>
              <a:t> Treat your TLS inspection infrastructure as part of your AI attack surface.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5444331"/>
            <a:ext cx="7239000" cy="129083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Versioning and Deprecation for AI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 APIs evolve rapidly. Deprecated endpoints are often left running and unmonitored.</a:t>
            </a:r>
          </a:p>
          <a:p>
            <a:r>
              <a:rPr b="1"/>
              <a:t> Risks of unmanaged versioning:</a:t>
            </a:r>
          </a:p>
          <a:p>
            <a:r>
              <a:t> Old agent code calls deprecated</a:t>
            </a:r>
            <a:r>
              <a:rPr>
                <a:latin typeface="Courier New"/>
              </a:rPr>
              <a:t> /v1/</a:t>
            </a:r>
            <a:r>
              <a:t> endpoint with weaker auth</a:t>
            </a:r>
          </a:p>
          <a:p>
            <a:r>
              <a:t> Deprecated endpoint has no WAF coverage</a:t>
            </a:r>
          </a:p>
          <a:p>
            <a:r>
              <a:t> Attacker discovers undocumented</a:t>
            </a:r>
            <a:r>
              <a:rPr>
                <a:latin typeface="Courier New"/>
              </a:rPr>
              <a:t> /v0/</a:t>
            </a:r>
            <a:r>
              <a:t> endpoint via fuzzing</a:t>
            </a:r>
          </a:p>
          <a:p>
            <a:r>
              <a:t> Shadow AI APIs spin up during development and are never decommissioned</a:t>
            </a:r>
          </a:p>
          <a:p>
            <a:r>
              <a:rPr b="1"/>
              <a:t> Controls:</a:t>
            </a:r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0" y="5215731"/>
            <a:ext cx="9231759" cy="1898650"/>
          </a:xfrm>
          <a:prstGeom prst="rect">
            <a:avLst/>
          </a:prstGeom>
        </p:spPr>
      </p:pic>
      <p:pic>
        <p:nvPicPr>
          <p:cNvPr id="6" name="Picture 5" descr="pexels-jan-van-der-wolf-11680885-120480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861" y="7114381"/>
            <a:ext cx="1737053" cy="11580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Abuse via Embedded AI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Many existing APIs now embed AI features invisibly. These create new risk.</a:t>
            </a:r>
          </a:p>
          <a:p>
            <a:r>
              <a:rPr b="1" dirty="0"/>
              <a:t> Examples:</a:t>
            </a:r>
          </a:p>
          <a:p>
            <a:pPr lvl="1"/>
            <a:r>
              <a:rPr dirty="0"/>
              <a:t> GitHub Copilot API — exposes code context to external model</a:t>
            </a:r>
          </a:p>
          <a:p>
            <a:pPr lvl="1"/>
            <a:r>
              <a:rPr dirty="0"/>
              <a:t> Salesforce Einstein — CRM data flows to LLM</a:t>
            </a:r>
          </a:p>
          <a:p>
            <a:pPr lvl="1"/>
            <a:r>
              <a:rPr dirty="0"/>
              <a:t> Microsoft 365 Copilot — email/document content processed externally</a:t>
            </a:r>
          </a:p>
          <a:p>
            <a:pPr lvl="1"/>
            <a:r>
              <a:rPr dirty="0"/>
              <a:t> Zendesk AI — support ticket content sent to third-party model</a:t>
            </a:r>
          </a:p>
          <a:p>
            <a:pPr lvl="1"/>
            <a:r>
              <a:rPr b="1" dirty="0"/>
              <a:t> Risks:</a:t>
            </a:r>
          </a:p>
          <a:p>
            <a:pPr lvl="1"/>
            <a:r>
              <a:rPr dirty="0"/>
              <a:t> Data you thought stayed on-premises now leaves to a cloud LLM</a:t>
            </a:r>
          </a:p>
          <a:p>
            <a:pPr lvl="1"/>
            <a:r>
              <a:rPr dirty="0"/>
              <a:t> PII, trade secrets, or regulated data in AI context</a:t>
            </a:r>
          </a:p>
          <a:p>
            <a:pPr lvl="1"/>
            <a:r>
              <a:rPr dirty="0"/>
              <a:t> No DLP policy covers the new data flow</a:t>
            </a:r>
          </a:p>
          <a:p>
            <a:pPr lvl="1"/>
            <a:r>
              <a:rPr dirty="0"/>
              <a:t> Third-party model retains training rights (check terms of service)</a:t>
            </a:r>
          </a:p>
          <a:p>
            <a:r>
              <a:rPr b="1" dirty="0"/>
              <a:t> Control:</a:t>
            </a:r>
            <a:r>
              <a:rPr dirty="0"/>
              <a:t> Maintain an inventory of all SaaS products with embedded AI features. Review data flows. Apply DLP rules to AI API egress.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7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Key takeaways:</a:t>
            </a:r>
          </a:p>
          <a:p>
            <a:r>
              <a:rPr b="1"/>
              <a:t> Every AI system is an API system</a:t>
            </a:r>
            <a:r>
              <a:t> — secure the APIs, not just the prompts</a:t>
            </a:r>
          </a:p>
          <a:p>
            <a:r>
              <a:rPr b="1"/>
              <a:t> API gateways must be AI-aware</a:t>
            </a:r>
            <a:r>
              <a:t> — token budgets, prompt policies, and semantic routing extend beyond traditional gateway capabilities</a:t>
            </a:r>
          </a:p>
          <a:p>
            <a:r>
              <a:rPr b="1"/>
              <a:t> GraphQL amplifies AI risks</a:t>
            </a:r>
            <a:r>
              <a:t> — introspection, deep queries, and batch attacks need specific controls</a:t>
            </a:r>
          </a:p>
          <a:p>
            <a:r>
              <a:rPr b="1"/>
              <a:t> MCP and plugins are privileged endpoints</a:t>
            </a:r>
            <a:r>
              <a:t> — treat them with the same scrutiny as admin APIs</a:t>
            </a:r>
          </a:p>
          <a:p>
            <a:r>
              <a:rPr b="1"/>
              <a:t> JWT and workload identity replace static API keys</a:t>
            </a:r>
            <a:r>
              <a:t> for agents — short-lived, narrowly scoped</a:t>
            </a:r>
          </a:p>
          <a:p>
            <a:r>
              <a:rPr b="1"/>
              <a:t> OWASP API Security Top 10 applies directly</a:t>
            </a:r>
            <a:r>
              <a:t> — especially API1, API4, and API10</a:t>
            </a:r>
          </a:p>
          <a:p>
            <a:r>
              <a:rPr b="1"/>
              <a:t> Signed prompts and secret managers</a:t>
            </a:r>
            <a:r>
              <a:t> close the integrity and credential gaps</a:t>
            </a:r>
          </a:p>
          <a:p>
            <a:r>
              <a:rPr b="1"/>
              <a:t> You cannot protect APIs you do not know exist</a:t>
            </a:r>
            <a:r>
              <a:t> — AI API inventory is a prerequisite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 — Module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Monitoring, Detection, and Response for AI Systems</a:t>
            </a:r>
          </a:p>
          <a:p>
            <a:r>
              <a:t> Building AI-aware SIEM rules</a:t>
            </a:r>
          </a:p>
          <a:p>
            <a:r>
              <a:t> Log analysis for LLM traffic</a:t>
            </a:r>
          </a:p>
          <a:p>
            <a:r>
              <a:t> Behavioral baselines for agents</a:t>
            </a:r>
          </a:p>
          <a:p>
            <a:r>
              <a:t> Incident response playbooks for AI attacks</a:t>
            </a:r>
          </a:p>
          <a:p>
            <a:r>
              <a:t> Forensics on a compromised agent</a:t>
            </a:r>
          </a:p>
          <a:p>
            <a:r>
              <a:t> Red team vs blue team for AI systems</a:t>
            </a:r>
          </a:p>
          <a:p>
            <a:r>
              <a:t> If Module 6 was about preventing agentic attacks, and Module 7 was about securing the APIs, Module 8 is about what to do when something gets through.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5 Preview — Detect Denial-of-Wallet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b="1" dirty="0"/>
              <a:t> Objective:</a:t>
            </a:r>
            <a:r>
              <a:rPr dirty="0"/>
              <a:t> Identify and block denial-of-wallet attack patterns before they cause significant cost.</a:t>
            </a:r>
          </a:p>
          <a:p>
            <a:r>
              <a:rPr b="1" dirty="0"/>
              <a:t> Environment:</a:t>
            </a:r>
          </a:p>
          <a:p>
            <a:pPr lvl="1"/>
            <a:r>
              <a:rPr dirty="0"/>
              <a:t> A simulated API gateway fronting an LLM endpoint</a:t>
            </a:r>
          </a:p>
          <a:p>
            <a:pPr lvl="1"/>
            <a:r>
              <a:rPr dirty="0"/>
              <a:t> A token usage dashboard with real-time cost metrics</a:t>
            </a:r>
          </a:p>
          <a:p>
            <a:pPr lvl="1"/>
            <a:r>
              <a:rPr dirty="0"/>
              <a:t> An attack script that generates high-token requests at volume</a:t>
            </a:r>
          </a:p>
          <a:p>
            <a:r>
              <a:rPr b="1" dirty="0"/>
              <a:t> Tasks:</a:t>
            </a:r>
          </a:p>
          <a:p>
            <a:pPr lvl="1"/>
            <a:r>
              <a:rPr dirty="0"/>
              <a:t> Establish a normal token usage baseline over 10 minutes of synthetic traffic</a:t>
            </a:r>
          </a:p>
          <a:p>
            <a:pPr lvl="1"/>
            <a:r>
              <a:rPr dirty="0"/>
              <a:t> Launch the denial-of-wallet attack script — observe cost spike in dashboard</a:t>
            </a:r>
          </a:p>
          <a:p>
            <a:pPr lvl="1"/>
            <a:r>
              <a:rPr dirty="0"/>
              <a:t> Write a rate limiting rule: block sessions exceeding 50,000 tokens/hour</a:t>
            </a:r>
          </a:p>
          <a:p>
            <a:pPr lvl="1"/>
            <a:r>
              <a:rPr dirty="0"/>
              <a:t> Write a prompt size rule: reject requests with body &gt; 8,000 tokens</a:t>
            </a:r>
          </a:p>
          <a:p>
            <a:pPr lvl="1"/>
            <a:r>
              <a:rPr dirty="0"/>
              <a:t> Implement a cost circuit breaker: alert and pause if spend exceeds $10/hour</a:t>
            </a:r>
          </a:p>
          <a:p>
            <a:pPr lvl="1"/>
            <a:r>
              <a:rPr dirty="0"/>
              <a:t> Detect prompt padding: identify requests where input tokens &gt;&gt; output tokens by anomalous ratio</a:t>
            </a:r>
          </a:p>
          <a:p>
            <a:pPr lvl="1"/>
            <a:r>
              <a:rPr dirty="0"/>
              <a:t> (Bonus) Implement per-tenant budget enforcement and verify it isolates the attack to the attacker's tenant</a:t>
            </a:r>
          </a:p>
          <a:p>
            <a:r>
              <a:rPr b="1" dirty="0"/>
              <a:t> Deliverable:</a:t>
            </a:r>
            <a:r>
              <a:rPr dirty="0"/>
              <a:t> A gateway configuration file containing all rules, plus a short analysis comparing cost before and after controls.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378319</TotalTime>
  <Words>2963</Words>
  <Application>Microsoft Macintosh PowerPoint</Application>
  <PresentationFormat>Custom</PresentationFormat>
  <Paragraphs>560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Module 7 — API Security for AI</vt:lpstr>
      <vt:lpstr>Module 7 Agenda</vt:lpstr>
      <vt:lpstr>Why APIs Are the AI Attack Surface</vt:lpstr>
      <vt:lpstr>The AI API Stack</vt:lpstr>
      <vt:lpstr>API Gateways as AI Enforcement Points</vt:lpstr>
      <vt:lpstr>AI Gateway vs Traditional API Gateway</vt:lpstr>
      <vt:lpstr>GraphQL in AI Systems — The Risk Surface</vt:lpstr>
      <vt:lpstr>GraphQL Attack: Introspection Abuse</vt:lpstr>
      <vt:lpstr>GraphQL Attack: Nested Query DoS</vt:lpstr>
      <vt:lpstr>GraphQL Attack: Batched Brute Force</vt:lpstr>
      <vt:lpstr>MCP — Model Context Protocol</vt:lpstr>
      <vt:lpstr>MCP Security Risks</vt:lpstr>
      <vt:lpstr>Securing MCP Endpoints</vt:lpstr>
      <vt:lpstr>AI Plugin Security</vt:lpstr>
      <vt:lpstr>JWT Protection for Agent Authentication</vt:lpstr>
      <vt:lpstr>JWT Vulnerabilities in AI Contexts</vt:lpstr>
      <vt:lpstr>Agent Identity — Beyond API Keys</vt:lpstr>
      <vt:lpstr>Delegated Authorization — OAuth 2.0 for Agents</vt:lpstr>
      <vt:lpstr>Common Authorization Failures in AI APIs</vt:lpstr>
      <vt:lpstr>OWASP API Security Top 10 — AI Mapping</vt:lpstr>
      <vt:lpstr>API10 Deep Dive — Unsafe Consumption of Third-Party APIs</vt:lpstr>
      <vt:lpstr>Secret Management for AI Workloads</vt:lpstr>
      <vt:lpstr>Secret Management — Best Practices</vt:lpstr>
      <vt:lpstr>Signed Prompts and Request Integrity</vt:lpstr>
      <vt:lpstr>Signed Prompts — Implementation Sketch</vt:lpstr>
      <vt:lpstr>API Inventory for AI</vt:lpstr>
      <vt:lpstr>AI API Discovery — Practical Techniques</vt:lpstr>
      <vt:lpstr>Rate Limiting for AI APIs — Beyond Requests/Sec</vt:lpstr>
      <vt:lpstr>Denial-of-Wallet: The AI-Specific DoS</vt:lpstr>
      <vt:lpstr>TLS and Transport Security for AI APIs</vt:lpstr>
      <vt:lpstr>API Versioning and Deprecation for AI Endpoints</vt:lpstr>
      <vt:lpstr>API Abuse via Embedded AI Features</vt:lpstr>
      <vt:lpstr>Module 7 Summary</vt:lpstr>
      <vt:lpstr>What's Next — Module 8</vt:lpstr>
      <vt:lpstr>Lab 5 Preview — Detect Denial-of-Wallet Attacks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Tim Abou Hassan</cp:lastModifiedBy>
  <cp:revision>4144</cp:revision>
  <cp:lastPrinted>2010-01-03T02:41:41Z</cp:lastPrinted>
  <dcterms:created xsi:type="dcterms:W3CDTF">2010-07-13T15:22:01Z</dcterms:created>
  <dcterms:modified xsi:type="dcterms:W3CDTF">2026-05-27T19:08:41Z</dcterms:modified>
</cp:coreProperties>
</file>