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2017 Elephant Scale.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ADD5D-AF76-45EE-AA5F-6DAC73BF167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14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4 — AI-Aware WAF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traditional WAF rules fail on AI endpoints</a:t>
            </a:r>
          </a:p>
          <a:p>
            <a:r>
              <a:t> Anatomy of an inference API request</a:t>
            </a:r>
          </a:p>
          <a:p>
            <a:r>
              <a:t> Token-aware rate limiting</a:t>
            </a:r>
          </a:p>
          <a:p>
            <a:r>
              <a:t> Prompt size inspection</a:t>
            </a:r>
          </a:p>
          <a:p>
            <a:r>
              <a:t> AI-specific signatures and patterns</a:t>
            </a:r>
          </a:p>
          <a:p>
            <a:r>
              <a:t> Conversation anomaly detection</a:t>
            </a:r>
          </a:p>
          <a:p>
            <a:r>
              <a:t> Multi-turn abuse patterns</a:t>
            </a:r>
          </a:p>
          <a:p>
            <a:r>
              <a:t> Model enumeration and inference scraping</a:t>
            </a:r>
          </a:p>
          <a:p>
            <a:r>
              <a:t> Denial-of-wallet protection</a:t>
            </a:r>
          </a:p>
          <a:p>
            <a:r>
              <a:t> Protecting streaming APIs</a:t>
            </a:r>
          </a:p>
          <a:p>
            <a:r>
              <a:t> Blocking recursive agent calls</a:t>
            </a:r>
          </a:p>
          <a:p>
            <a:r>
              <a:t> Lab 3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Traditional WAF Rules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Traditional WAF rules are built around structured payloads:</a:t>
            </a:r>
          </a:p>
          <a:p>
            <a:r>
              <a:t> SQL injection:</a:t>
            </a:r>
            <a:r>
              <a:rPr>
                <a:latin typeface="Courier New"/>
              </a:rPr>
              <a:t> ' OR 1=1 --</a:t>
            </a:r>
          </a:p>
          <a:p>
            <a:r>
              <a:t> XSS:</a:t>
            </a:r>
            <a:r>
              <a:rPr>
                <a:latin typeface="Courier New"/>
              </a:rPr>
              <a:t> &lt;script&gt;alert(1)&lt;/script&gt;</a:t>
            </a:r>
          </a:p>
          <a:p>
            <a:r>
              <a:t> Path traversal:</a:t>
            </a:r>
            <a:r>
              <a:rPr>
                <a:latin typeface="Courier New"/>
              </a:rPr>
              <a:t> ../../etc/passwd</a:t>
            </a:r>
          </a:p>
          <a:p>
            <a:r>
              <a:t> AI inference APIs accept</a:t>
            </a:r>
            <a:r>
              <a:rPr b="1"/>
              <a:t> freeform natural language</a:t>
            </a:r>
            <a:r>
              <a:t> 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The attack is</a:t>
            </a:r>
            <a:r>
              <a:rPr b="1"/>
              <a:t> semantically encoded</a:t>
            </a:r>
            <a:r>
              <a:t> — pattern matching on strings is not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8915400" cy="1145817"/>
          </a:xfrm>
          <a:prstGeom prst="rect">
            <a:avLst/>
          </a:prstGeom>
        </p:spPr>
      </p:pic>
      <p:pic>
        <p:nvPicPr>
          <p:cNvPr id="6" name="Picture 5" descr="pexels-raymond-petrik-1448389535-351566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700" y="6084601"/>
            <a:ext cx="1390650" cy="20859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Inference API as an Attack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Courier New"/>
              </a:rPr>
              <a:t> POST /v1/chat/completions</a:t>
            </a:r>
            <a:r>
              <a:t> is not an ordinary API endpoint.</a:t>
            </a:r>
          </a:p>
          <a:p>
            <a:r>
              <a:t> Accepts arbitrary text of arbitrary length</a:t>
            </a:r>
          </a:p>
          <a:p>
            <a:r>
              <a:t> No schema enforcement on message content</a:t>
            </a:r>
          </a:p>
          <a:p>
            <a:r>
              <a:t> Token consumption varies wildly by input</a:t>
            </a:r>
          </a:p>
          <a:p>
            <a:r>
              <a:t> Responses can be long, streamed, and expensive</a:t>
            </a:r>
          </a:p>
          <a:p>
            <a:r>
              <a:t> Same endpoint serves normal users and attackers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Chat Completions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WAF-relevant fields: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5" y="1249871"/>
            <a:ext cx="9075101" cy="3267869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324989"/>
              </p:ext>
            </p:extLst>
          </p:nvPr>
        </p:nvGraphicFramePr>
        <p:xfrm>
          <a:off x="237744" y="4883912"/>
          <a:ext cx="8915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messages[].content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Prompt injection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max_tokens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Denial-of-wallet amplification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enumeration / unauthorized model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Bypasses response inspection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Token-Aware Rate Limiting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HTTP rate limiting counts</a:t>
            </a:r>
            <a:r>
              <a:rPr b="1"/>
              <a:t> requests</a:t>
            </a:r>
            <a:r>
              <a:t> . Tokens are the real cost unit.</a:t>
            </a:r>
          </a:p>
          <a:p>
            <a:endParaRPr/>
          </a:p>
          <a:p>
            <a:endParaRPr/>
          </a:p>
          <a:p>
            <a:r>
              <a:t> A low-volume, high-token attack is invisible to request-count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5904"/>
            <a:ext cx="9372600" cy="9580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Token-Aware Rate Limiting —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Enforce limits on</a:t>
            </a:r>
            <a:r>
              <a:rPr b="1"/>
              <a:t> tokens per time window</a:t>
            </a:r>
            <a:r>
              <a:t> at the WAF or AI gateway layer.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75" y="2091531"/>
            <a:ext cx="9137650" cy="23774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Estimating Tokens at the WAF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Exact tokenization requires running the model's tokenizer. The WAF uses heuristics.</a:t>
            </a:r>
          </a:p>
          <a:p>
            <a:r>
              <a:t> For production: use the model provider's tokenizer library (e.g.,</a:t>
            </a:r>
            <a:r>
              <a:rPr>
                <a:latin typeface="Courier New"/>
              </a:rPr>
              <a:t> tiktoken</a:t>
            </a:r>
            <a:r>
              <a:t> for OpenAI).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0" y="2686773"/>
            <a:ext cx="9345332" cy="3225800"/>
          </a:xfrm>
          <a:prstGeom prst="rect">
            <a:avLst/>
          </a:prstGeom>
        </p:spPr>
      </p:pic>
      <p:pic>
        <p:nvPicPr>
          <p:cNvPr id="6" name="Picture 5" descr="pexels-karola-g-76806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471" y="5853145"/>
            <a:ext cx="1567179" cy="23507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Size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Large prompts are a signal — inspect them structurally.</a:t>
            </a:r>
          </a:p>
          <a:p>
            <a:r>
              <a:rPr b="1" dirty="0"/>
              <a:t> Hard limits:</a:t>
            </a:r>
          </a:p>
          <a:p>
            <a:endParaRPr b="1" dirty="0"/>
          </a:p>
          <a:p>
            <a:endParaRPr b="1" dirty="0"/>
          </a:p>
          <a:p>
            <a:r>
              <a:rPr b="1" dirty="0"/>
              <a:t> Soft signals (log + alert):</a:t>
            </a:r>
          </a:p>
          <a:p>
            <a:r>
              <a:rPr dirty="0"/>
              <a:t> </a:t>
            </a:r>
            <a:endParaRPr lang="en-US" dirty="0"/>
          </a:p>
          <a:p>
            <a:r>
              <a:rPr dirty="0"/>
              <a:t>Structural limits are cheap to enforce and stop naive volume attacks immediately.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013539"/>
            <a:ext cx="8026400" cy="15875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9602"/>
            <a:ext cx="6197600" cy="1320800"/>
          </a:xfrm>
          <a:prstGeom prst="rect">
            <a:avLst/>
          </a:prstGeom>
        </p:spPr>
      </p:pic>
      <p:pic>
        <p:nvPicPr>
          <p:cNvPr id="7" name="Picture 6" descr="pexels-redwan-habib-224183836-121665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4895464"/>
            <a:ext cx="2359894" cy="3146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Size Inspection — ModSecurity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1063638"/>
            <a:ext cx="8940800" cy="29210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4183062"/>
            <a:ext cx="8026400" cy="2120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AI-Specific Signatures — What to Match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Traditional signatures look for known bad strings. AI signatures look for</a:t>
            </a:r>
            <a:r>
              <a:rPr b="1" dirty="0"/>
              <a:t> instruction-manipulation patterns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30396"/>
              </p:ext>
            </p:extLst>
          </p:nvPr>
        </p:nvGraphicFramePr>
        <p:xfrm>
          <a:off x="255206" y="2053336"/>
          <a:ext cx="8915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181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Role 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ignore previous instructions`, `disregard your system prompt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Persona 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you are now DAN`, `act as if you have no restrictions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Jailbreak framing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in a hypothetical scenario`, `for a fictional 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Token manipulation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repeat the word "yes" 1000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Extraction attempts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output your full system prompt`, `what were you told at the start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Encoding evasion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Base64-encoded instructions, </a:t>
                      </a:r>
                      <a:r>
                        <a:rPr dirty="0" err="1"/>
                        <a:t>leetspeak</a:t>
                      </a:r>
                      <a:r>
                        <a:rPr dirty="0"/>
                        <a:t>, Unicode lookalikes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 descr="pexels-apyfz-328209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81" y="6615906"/>
            <a:ext cx="943711" cy="14165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AI-Specific Signatures — Rule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1256952"/>
            <a:ext cx="8915400" cy="2891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Evasion in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encode malicious instructions to bypass string matching.</a:t>
            </a:r>
          </a:p>
          <a:p>
            <a:r>
              <a:rPr b="1"/>
              <a:t> Base64 encoding:</a:t>
            </a:r>
          </a:p>
          <a:p>
            <a:endParaRPr b="1"/>
          </a:p>
          <a:p>
            <a:r>
              <a:rPr b="1"/>
              <a:t> Unicode homoglyphs:</a:t>
            </a:r>
          </a:p>
          <a:p>
            <a:endParaRPr b="1"/>
          </a:p>
          <a:p>
            <a:r>
              <a:rPr b="1"/>
              <a:t> Token splitting:</a:t>
            </a:r>
          </a:p>
          <a:p>
            <a:endParaRPr b="1"/>
          </a:p>
          <a:p>
            <a:r>
              <a:t> Defenses:</a:t>
            </a:r>
          </a:p>
          <a:p>
            <a:r>
              <a:t> Normalize Unicode (NFC/NFKC) before inspection</a:t>
            </a:r>
          </a:p>
          <a:p>
            <a:r>
              <a:t> Decode base64 content and re-inspect</a:t>
            </a:r>
          </a:p>
          <a:p>
            <a:r>
              <a:t> Apply transformations:</a:t>
            </a:r>
            <a:r>
              <a:rPr>
                <a:latin typeface="Courier New"/>
              </a:rPr>
              <a:t> t:lowercase,t:removeWhitespace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2231136"/>
            <a:ext cx="9372600" cy="423212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93980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986783"/>
            <a:ext cx="83312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Single-turn inspection misses attacks that unfold across a conversation.</a:t>
            </a:r>
          </a:p>
          <a:p>
            <a:r>
              <a:rPr dirty="0"/>
              <a:t> Anomalies to detect:</a:t>
            </a:r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Implement a</a:t>
            </a:r>
            <a:r>
              <a:rPr b="1" dirty="0"/>
              <a:t> session fingerprint</a:t>
            </a:r>
            <a:r>
              <a:rPr dirty="0"/>
              <a:t> — track conversation structure across turns.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309058"/>
              </p:ext>
            </p:extLst>
          </p:nvPr>
        </p:nvGraphicFramePr>
        <p:xfrm>
          <a:off x="237744" y="2548731"/>
          <a:ext cx="89154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605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Role 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 messages begin asserting `system` or `assistant`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Escalating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Each user turn grows significantly longer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635">
                <a:tc>
                  <a:txBody>
                    <a:bodyPr/>
                    <a:lstStyle/>
                    <a:p>
                      <a:r>
                        <a:t>Topic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Conversation shifts abruptly from stated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Repetition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Same or similar message sent many 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Turn count spike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Session far exceeds normal conversation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Conversation Anomaly Detection — Session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5" y="1253331"/>
            <a:ext cx="8915400" cy="35509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Multi-Turn Abuse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Some attacks require multiple turns to execute:</a:t>
            </a:r>
          </a:p>
          <a:p>
            <a:r>
              <a:rPr b="1" dirty="0"/>
              <a:t> Gradual jailbreak:</a:t>
            </a:r>
          </a:p>
          <a:p>
            <a:endParaRPr b="1" dirty="0"/>
          </a:p>
          <a:p>
            <a:endParaRPr b="1" dirty="0"/>
          </a:p>
          <a:p>
            <a:r>
              <a:rPr b="1" dirty="0"/>
              <a:t> Context poisoning:</a:t>
            </a:r>
            <a:endParaRPr lang="en-US" b="1" dirty="0"/>
          </a:p>
          <a:p>
            <a:endParaRPr b="1" dirty="0"/>
          </a:p>
          <a:p>
            <a:endParaRPr b="1" dirty="0"/>
          </a:p>
          <a:p>
            <a:r>
              <a:rPr b="1" dirty="0"/>
              <a:t> Instruction smuggling:</a:t>
            </a:r>
          </a:p>
          <a:p>
            <a:endParaRPr b="1" dirty="0"/>
          </a:p>
          <a:p>
            <a:r>
              <a:rPr dirty="0"/>
              <a:t> </a:t>
            </a:r>
            <a:endParaRPr lang="en-US" dirty="0"/>
          </a:p>
          <a:p>
            <a:r>
              <a:rPr dirty="0"/>
              <a:t>Detection: look for rapid topic shifts, instruction keywords late in long sessions, and cross-turn reference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224"/>
            <a:ext cx="8420100" cy="10541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8960"/>
            <a:ext cx="9398000" cy="7874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" y="4536948"/>
            <a:ext cx="9137650" cy="787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Multi-Turn Abuse — Detection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For high-risk deployments, maintain a sliding window embedding of conversation topics and alert on sudden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1143146"/>
            <a:ext cx="9396413" cy="33987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Enumeration Attempts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Attackers probe inference APIs to map what models are available.</a:t>
            </a:r>
          </a:p>
          <a:p>
            <a:r>
              <a:rPr b="1" dirty="0"/>
              <a:t> Common enumeration patterns: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r>
              <a:rPr b="1" dirty="0"/>
              <a:t> </a:t>
            </a:r>
            <a:endParaRPr lang="en-US" b="1" dirty="0"/>
          </a:p>
          <a:p>
            <a:r>
              <a:rPr b="1" dirty="0"/>
              <a:t>Defenses:</a:t>
            </a:r>
          </a:p>
          <a:p>
            <a:r>
              <a:rPr dirty="0"/>
              <a:t> Block</a:t>
            </a:r>
            <a:r>
              <a:rPr dirty="0">
                <a:latin typeface="Courier New"/>
              </a:rPr>
              <a:t> GET /v1/models</a:t>
            </a:r>
            <a:r>
              <a:rPr dirty="0"/>
              <a:t> for unauthenticated requests</a:t>
            </a:r>
          </a:p>
          <a:p>
            <a:r>
              <a:rPr dirty="0"/>
              <a:t> Return uniform error responses — do not differentiate 404 from 403</a:t>
            </a:r>
          </a:p>
          <a:p>
            <a:r>
              <a:rPr dirty="0"/>
              <a:t> Rate-limit failed model requests per API key</a:t>
            </a:r>
          </a:p>
          <a:p>
            <a:r>
              <a:rPr dirty="0"/>
              <a:t> Alert on &gt; 5 distinct model IDs from one identity in 60 seconds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8684"/>
            <a:ext cx="9372600" cy="148677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686"/>
            <a:ext cx="6807200" cy="520700"/>
          </a:xfrm>
          <a:prstGeom prst="rect">
            <a:avLst/>
          </a:prstGeom>
        </p:spPr>
      </p:pic>
      <p:pic>
        <p:nvPicPr>
          <p:cNvPr id="7" name="Picture 6" descr="pexels-pixabay-2195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262" y="6694321"/>
            <a:ext cx="2342388" cy="14000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Scraping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Attackers extract model knowledge or training data at scale.</a:t>
            </a:r>
          </a:p>
          <a:p>
            <a:r>
              <a:rPr b="1"/>
              <a:t> Scraping patterns:</a:t>
            </a:r>
          </a:p>
          <a:p>
            <a:r>
              <a:t> High-volume systematic queries (topic enumeration)</a:t>
            </a:r>
          </a:p>
          <a:p>
            <a:r>
              <a:t> Prompts designed to reproduce training data verbatim (</a:t>
            </a:r>
            <a:r>
              <a:rPr>
                <a:latin typeface="Courier New"/>
              </a:rPr>
              <a:t> "repeat the following text exactly: ..."</a:t>
            </a:r>
            <a:r>
              <a:t> )</a:t>
            </a:r>
          </a:p>
          <a:p>
            <a:r>
              <a:t> Structured extraction: querying the same topic with thousands of variations</a:t>
            </a:r>
          </a:p>
          <a:p>
            <a:r>
              <a:t> Competitor intelligence gathering via your deployed model</a:t>
            </a:r>
          </a:p>
          <a:p>
            <a:r>
              <a:rPr b="1"/>
              <a:t> WAF/gateway signals:</a:t>
            </a:r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5303520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Threshold (tune per deployment)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Requests per API key per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1,000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Unique prompt similarity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0.3 (all prompts very different — breadth attack)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Unique prompt similarity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0.95 (all prompts nearly identical — repeat attack)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Response-to-request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&gt; 5:1 average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Scraping — Rate Limiting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330"/>
            <a:ext cx="9385259" cy="2582069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8" y="4746073"/>
            <a:ext cx="9399547" cy="197222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The AI-Specific 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Traditional DoS exhausts CPU or bandwidth. Denial-of-Wallet (</a:t>
            </a:r>
            <a:r>
              <a:rPr dirty="0" err="1"/>
              <a:t>DoW</a:t>
            </a:r>
            <a:r>
              <a:rPr dirty="0"/>
              <a:t>) exhausts</a:t>
            </a:r>
            <a:r>
              <a:rPr b="1" dirty="0"/>
              <a:t> budget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Even a medium-scale attack can generate thousands of dollars in unexpected bills before an alert fires.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0933"/>
            <a:ext cx="9372600" cy="19665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Defense in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3" y="1087450"/>
            <a:ext cx="88011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Denial-of-Wallet — ModSecurity Kill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9618"/>
            <a:ext cx="9288770" cy="3686513"/>
          </a:xfrm>
          <a:prstGeom prst="rect">
            <a:avLst/>
          </a:prstGeom>
        </p:spPr>
      </p:pic>
      <p:pic>
        <p:nvPicPr>
          <p:cNvPr id="6" name="Picture 5" descr="pexels-emil-kalibradov-3013808-70857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506" y="4111963"/>
            <a:ext cx="2782824" cy="41686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Protecting Streaming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Streaming responses (</a:t>
            </a:r>
            <a:r>
              <a:rPr dirty="0">
                <a:latin typeface="Courier New"/>
              </a:rPr>
              <a:t> stream: true</a:t>
            </a:r>
            <a:r>
              <a:rPr dirty="0"/>
              <a:t> ) use</a:t>
            </a:r>
            <a:r>
              <a:rPr b="1" dirty="0"/>
              <a:t> Server-Sent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b="1" dirty="0"/>
              <a:t> Events (SSE)</a:t>
            </a:r>
            <a:r>
              <a:rPr dirty="0"/>
              <a:t> 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 WAF challenges:</a:t>
            </a:r>
          </a:p>
          <a:p>
            <a:r>
              <a:rPr dirty="0"/>
              <a:t> Response body is never complete during transmission</a:t>
            </a:r>
          </a:p>
          <a:p>
            <a:r>
              <a:rPr dirty="0"/>
              <a:t> Per-chunk inspection is expensive</a:t>
            </a:r>
          </a:p>
          <a:p>
            <a:r>
              <a:rPr dirty="0"/>
              <a:t> Blocking mid-stream causes partial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131"/>
            <a:ext cx="84836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— WAF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256" y="1036054"/>
            <a:ext cx="8902700" cy="6828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Recommended approach for most deployments: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Enforce strict request-side controls (prompt inspection, rate limiting)</a:t>
            </a:r>
          </a:p>
          <a:p>
            <a:r>
              <a:rPr dirty="0"/>
              <a:t> Buffer and inspect streaming responses only on elevated-risk sessions</a:t>
            </a:r>
          </a:p>
          <a:p>
            <a:r>
              <a:rPr dirty="0"/>
              <a:t> Log all streaming responses for async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701350"/>
              </p:ext>
            </p:extLst>
          </p:nvPr>
        </p:nvGraphicFramePr>
        <p:xfrm>
          <a:off x="228600" y="1558131"/>
          <a:ext cx="8915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Buffer full response, then inspect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Latency, memory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Inspect first N chunks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Misses late-arriving malicious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Inspect request only, trust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Zero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output filtering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Async post-delivery inspection + alert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latency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Reactive, not preventive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Disable streaming for high-risk routes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Degrades UX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Streaming — Detecting Abuse via SSE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Even without full buffering, heuristics on stream metadata are useful: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" y="2050296"/>
            <a:ext cx="9432067" cy="419727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Agent Calls —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Agentic systems allow the LLM to call tools, which may call other LLMs.</a:t>
            </a:r>
          </a:p>
          <a:p>
            <a:endParaRPr dirty="0"/>
          </a:p>
          <a:p>
            <a:endParaRPr dirty="0"/>
          </a:p>
          <a:p>
            <a:r>
              <a:rPr dirty="0"/>
              <a:t> This creates:</a:t>
            </a:r>
          </a:p>
          <a:p>
            <a:r>
              <a:rPr dirty="0"/>
              <a:t> Unbounded cost (each hop generates tokens)</a:t>
            </a:r>
          </a:p>
          <a:p>
            <a:r>
              <a:rPr dirty="0"/>
              <a:t> Infinite loops if agents call each other</a:t>
            </a:r>
          </a:p>
          <a:p>
            <a:r>
              <a:rPr dirty="0"/>
              <a:t> Prompt injection that propagates across agents</a:t>
            </a:r>
          </a:p>
          <a:p>
            <a:r>
              <a:rPr dirty="0"/>
              <a:t> Attribution loss — who authorized the innermost call?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731"/>
            <a:ext cx="8915400" cy="941237"/>
          </a:xfrm>
          <a:prstGeom prst="rect">
            <a:avLst/>
          </a:prstGeom>
        </p:spPr>
      </p:pic>
      <p:pic>
        <p:nvPicPr>
          <p:cNvPr id="6" name="Picture 5" descr="pexels-max-laurell-1958001-94542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269" y="5139531"/>
            <a:ext cx="1702131" cy="25526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Blocking Recursive Agent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Use a</a:t>
            </a:r>
            <a:r>
              <a:rPr b="1"/>
              <a:t> recursion depth header</a:t>
            </a:r>
            <a:r>
              <a:t> pattern: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0119"/>
            <a:ext cx="5892800" cy="13208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" y="3539331"/>
            <a:ext cx="9017501" cy="4012788"/>
          </a:xfrm>
          <a:prstGeom prst="rect">
            <a:avLst/>
          </a:prstGeom>
        </p:spPr>
      </p:pic>
      <p:pic>
        <p:nvPicPr>
          <p:cNvPr id="7" name="Picture 6" descr="pexels-jan-van-der-wolf-11680885-2961499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097" y="1402685"/>
            <a:ext cx="2903503" cy="193566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Agent Call — Depth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7428"/>
            <a:ext cx="9137650" cy="560167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Gateway vs WAF —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WAF and AI gateway are</a:t>
            </a:r>
            <a:r>
              <a:rPr b="1"/>
              <a:t> complementary</a:t>
            </a:r>
            <a:r>
              <a:t> , not redundant. Deploy WAF in front of the AI gateway.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Gateway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DDoS / flood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TLS termination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Sometimes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Prompt injection signatures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Token budget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Heuristic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(exact)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Model routing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Semantic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Output filtering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Cost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 — Rule Layering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7884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Ruleset — Quick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Rule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body &gt; 512 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max_tokens &gt; 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Jailbreak phrase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 override attempt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Encoding evasion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Request rate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Token budget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enumeration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Alert + throttle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Scraping signature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Kill switch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503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Agent depth exceeded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9201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Missing agent depth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When Writing AI WAF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Mistake 1 — Blocking too aggressively on content</a:t>
            </a:r>
          </a:p>
          <a:p>
            <a:r>
              <a:rPr dirty="0"/>
              <a:t> "Ignore" and "previous" are common English words</a:t>
            </a:r>
          </a:p>
          <a:p>
            <a:r>
              <a:rPr dirty="0"/>
              <a:t> Overly broad patterns cause false positives on legitimate prompts</a:t>
            </a:r>
          </a:p>
          <a:p>
            <a:r>
              <a:rPr b="1" dirty="0"/>
              <a:t> Mistake 2 — Ignoring token economics</a:t>
            </a:r>
          </a:p>
          <a:p>
            <a:r>
              <a:rPr dirty="0"/>
              <a:t> Blocking by request count while ignoring token volume is a false sense of security</a:t>
            </a:r>
          </a:p>
          <a:p>
            <a:r>
              <a:rPr b="1" dirty="0"/>
              <a:t> Mistake 3 — Not normalizing encoding</a:t>
            </a:r>
          </a:p>
          <a:p>
            <a:r>
              <a:rPr dirty="0"/>
              <a:t> Attackers exploit Unicode and encoding variations to bypass string rules</a:t>
            </a:r>
          </a:p>
          <a:p>
            <a:r>
              <a:rPr b="1" dirty="0"/>
              <a:t> Mistake 4 — Treating the WAF as the only control</a:t>
            </a:r>
          </a:p>
          <a:p>
            <a:r>
              <a:rPr dirty="0"/>
              <a:t> WAF rules are a first layer — semantic controls belong in the AI gateway</a:t>
            </a:r>
          </a:p>
          <a:p>
            <a:r>
              <a:rPr b="1" dirty="0"/>
              <a:t> Mistake 5 — No kill switch</a:t>
            </a:r>
          </a:p>
          <a:p>
            <a:r>
              <a:rPr dirty="0"/>
              <a:t> When an anomaly fires, you need a way to stop all inference traffic instantly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rdne-8363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7273038"/>
            <a:ext cx="1403350" cy="9356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Key takeaways:</a:t>
            </a:r>
          </a:p>
          <a:p>
            <a:r>
              <a:t> AI inference APIs require</a:t>
            </a:r>
            <a:r>
              <a:rPr b="1"/>
              <a:t> token-aware</a:t>
            </a:r>
            <a:r>
              <a:t> rate limiting, not just request counting</a:t>
            </a:r>
          </a:p>
          <a:p>
            <a:r>
              <a:t> Prompt size inspection stops naive volume attacks cheaply</a:t>
            </a:r>
          </a:p>
          <a:p>
            <a:r>
              <a:t> AI-specific signatures target instruction manipulation, not just code injection</a:t>
            </a:r>
          </a:p>
          <a:p>
            <a:r>
              <a:t> Conversation anomaly detection catches multi-turn attacks that single-turn inspection misses</a:t>
            </a:r>
          </a:p>
          <a:p>
            <a:r>
              <a:t> Model enumeration and scraping are distinct attack patterns with distinct signals</a:t>
            </a:r>
          </a:p>
          <a:p>
            <a:r>
              <a:t> Denial-of-wallet is a real financial threat — defend at every layer</a:t>
            </a:r>
          </a:p>
          <a:p>
            <a:r>
              <a:t> Streaming APIs limit response-side inspection; strengthen request-side controls</a:t>
            </a:r>
          </a:p>
          <a:p>
            <a:r>
              <a:t> Recursive agent calls need explicit depth tracking and cycle detection</a:t>
            </a:r>
          </a:p>
          <a:p>
            <a:r>
              <a:t> WAF and AI gateway are complementary — deploy both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— Module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Securing RAG Pipelines</a:t>
            </a:r>
          </a:p>
          <a:p>
            <a:r>
              <a:t> RAG (Retrieval-Augmented Generation) pipelines introduce a new class of threats:</a:t>
            </a:r>
          </a:p>
          <a:p>
            <a:r>
              <a:t> The attack surface extends to document stores and vector databases</a:t>
            </a:r>
          </a:p>
          <a:p>
            <a:r>
              <a:t> Malicious content embedded in documents can hijack the AI at retrieval time</a:t>
            </a:r>
          </a:p>
          <a:p>
            <a:r>
              <a:t> Data can be exfiltrated through retrieval responses</a:t>
            </a:r>
          </a:p>
          <a:p>
            <a:r>
              <a:t> Module 5 covers:</a:t>
            </a:r>
          </a:p>
          <a:p>
            <a:r>
              <a:t> Vector database threats and embedding poisoning</a:t>
            </a:r>
          </a:p>
          <a:p>
            <a:r>
              <a:t> Malicious document ingestion</a:t>
            </a:r>
          </a:p>
          <a:p>
            <a:r>
              <a:t> Retrieval manipulation and semantic poisoning</a:t>
            </a:r>
          </a:p>
          <a:p>
            <a:r>
              <a:t> Defenses: ingestion sanitization, trust scoring, provenance tracking</a:t>
            </a:r>
          </a:p>
          <a:p>
            <a:r>
              <a:t> Case study: poisoning a RAG pipeline with a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3 Preview — Build AI-Aware WAF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Objective:</a:t>
            </a:r>
            <a:r>
              <a:t> Configure a WAF to protect a live</a:t>
            </a:r>
            <a:r>
              <a:rPr>
                <a:latin typeface="Courier New"/>
              </a:rPr>
              <a:t> /v1/chat/completions</a:t>
            </a:r>
            <a:r>
              <a:t> endpoint.</a:t>
            </a:r>
          </a:p>
          <a:p>
            <a:r>
              <a:rPr b="1"/>
              <a:t> Environment:</a:t>
            </a:r>
          </a:p>
          <a:p>
            <a:r>
              <a:t> NGINX + ModSecurity WAF</a:t>
            </a:r>
          </a:p>
          <a:p>
            <a:r>
              <a:t> Mock LLM API backend (token-counted)</a:t>
            </a:r>
          </a:p>
          <a:p>
            <a:r>
              <a:t> Attacker tooling: jailbreak prompts, high-volume scraper, recursive agent simulator</a:t>
            </a:r>
          </a:p>
          <a:p>
            <a:r>
              <a:rPr b="1"/>
              <a:t> Tasks:</a:t>
            </a:r>
          </a:p>
          <a:p>
            <a:r>
              <a:t> Write ModSecurity rules to cap</a:t>
            </a:r>
            <a:r>
              <a:rPr>
                <a:latin typeface="Courier New"/>
              </a:rPr>
              <a:t> max_tokens</a:t>
            </a:r>
            <a:r>
              <a:t> and block oversized payloads</a:t>
            </a:r>
          </a:p>
          <a:p>
            <a:r>
              <a:t> Implement token-budget rate limiting per API key</a:t>
            </a:r>
          </a:p>
          <a:p>
            <a:r>
              <a:t> Add jailbreak detection signatures with encoding normalization</a:t>
            </a:r>
          </a:p>
          <a:p>
            <a:r>
              <a:t> Configure agent depth headers and recursion blocking</a:t>
            </a:r>
          </a:p>
          <a:p>
            <a:r>
              <a:t> Trigger the denial-of-wallet simulator and verify the kill switch fires</a:t>
            </a:r>
          </a:p>
          <a:p>
            <a:r>
              <a:rPr b="1"/>
              <a:t> Success criteria:</a:t>
            </a:r>
            <a:r>
              <a:t> All five attack scenarios blocked or alerted with &lt; 2% false positive rate on the legitimate traffic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378312</TotalTime>
  <Words>2155</Words>
  <Application>Microsoft Macintosh PowerPoint</Application>
  <PresentationFormat>Custom</PresentationFormat>
  <Paragraphs>526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4 — AI-Aware WAF Rules</vt:lpstr>
      <vt:lpstr>Module 4 Agenda</vt:lpstr>
      <vt:lpstr>Why Traditional WAF Rules Fall Short</vt:lpstr>
      <vt:lpstr>The Inference API as an Attack Surface</vt:lpstr>
      <vt:lpstr>Anatomy of a Chat Completions Request</vt:lpstr>
      <vt:lpstr>Token-Aware Rate Limiting — The Problem</vt:lpstr>
      <vt:lpstr>Token-Aware Rate Limiting — Design</vt:lpstr>
      <vt:lpstr>Estimating Tokens at the WAF Layer</vt:lpstr>
      <vt:lpstr>Prompt Size Inspection</vt:lpstr>
      <vt:lpstr>Prompt Size Inspection — ModSecurity Example</vt:lpstr>
      <vt:lpstr>AI-Specific Signatures — What to Match</vt:lpstr>
      <vt:lpstr>AI-Specific Signatures — Rule Examples</vt:lpstr>
      <vt:lpstr>Encoding Evasion in Prompts</vt:lpstr>
      <vt:lpstr>Conversation Anomaly Detection</vt:lpstr>
      <vt:lpstr>Conversation Anomaly Detection — Session Tracking</vt:lpstr>
      <vt:lpstr>Multi-Turn Abuse Patterns</vt:lpstr>
      <vt:lpstr>Multi-Turn Abuse — Detection Heuristics</vt:lpstr>
      <vt:lpstr>Model Enumeration Attempts</vt:lpstr>
      <vt:lpstr>Inference Scraping</vt:lpstr>
      <vt:lpstr>Inference Scraping — Rate Limiting Rules</vt:lpstr>
      <vt:lpstr>Denial-of-Wallet — The AI-Specific DoS</vt:lpstr>
      <vt:lpstr>Denial-of-Wallet — Defense in Depth</vt:lpstr>
      <vt:lpstr>Denial-of-Wallet — ModSecurity Kill Switch</vt:lpstr>
      <vt:lpstr>Protecting Streaming APIs</vt:lpstr>
      <vt:lpstr>Streaming — WAF Strategies</vt:lpstr>
      <vt:lpstr>Streaming — Detecting Abuse via SSE Patterns</vt:lpstr>
      <vt:lpstr>Recursive Agent Calls — The Problem</vt:lpstr>
      <vt:lpstr>Blocking Recursive Agent Calls</vt:lpstr>
      <vt:lpstr>Recursive Agent Call — Depth Tracking</vt:lpstr>
      <vt:lpstr>AI Gateway vs WAF — Responsibilities</vt:lpstr>
      <vt:lpstr>Putting It Together — Rule Layering</vt:lpstr>
      <vt:lpstr>Sample Ruleset — Quick Reference</vt:lpstr>
      <vt:lpstr>Common Mistakes When Writing AI WAF Rules</vt:lpstr>
      <vt:lpstr>Module 4 Summary</vt:lpstr>
      <vt:lpstr>What's Next — Module 5</vt:lpstr>
      <vt:lpstr>Lab 3 Preview — Build AI-Aware WAF Rules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Tim Abou Hassan</cp:lastModifiedBy>
  <cp:revision>4142</cp:revision>
  <cp:lastPrinted>2010-01-03T02:41:41Z</cp:lastPrinted>
  <dcterms:created xsi:type="dcterms:W3CDTF">2010-07-13T15:22:01Z</dcterms:created>
  <dcterms:modified xsi:type="dcterms:W3CDTF">2026-05-26T04:23:01Z</dcterms:modified>
</cp:coreProperties>
</file>