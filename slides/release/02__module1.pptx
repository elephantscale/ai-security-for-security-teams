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4" autoAdjust="0"/>
    <p:restoredTop sz="86027" autoAdjust="0"/>
  </p:normalViewPr>
  <p:slideViewPr>
    <p:cSldViewPr>
      <p:cViewPr varScale="1">
        <p:scale>
          <a:sx n="78" d="100"/>
          <a:sy n="78" d="100"/>
        </p:scale>
        <p:origin x="3640" y="480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1 — AI Systems for WAF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are LLMs and how do they differ from normal apps</a:t>
            </a:r>
          </a:p>
          <a:p>
            <a:r>
              <a:t> AI inference pipelines</a:t>
            </a:r>
          </a:p>
          <a:p>
            <a:r>
              <a:t> Prompt anatomy and flow</a:t>
            </a:r>
          </a:p>
          <a:p>
            <a:r>
              <a:t> RAG architecture and vector databases</a:t>
            </a:r>
          </a:p>
          <a:p>
            <a:r>
              <a:t> Agentic workflows and tool calling</a:t>
            </a:r>
          </a:p>
          <a:p>
            <a:r>
              <a:t> AI gateways and copilots</a:t>
            </a:r>
          </a:p>
          <a:p>
            <a:r>
              <a:t> MCP and agent protocols</a:t>
            </a:r>
          </a:p>
          <a:p>
            <a:r>
              <a:t> Where WAF visibility exists — and where it disappears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Large Language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LLM is a statistical model trained to predict the next token in a sequence.</a:t>
            </a:r>
          </a:p>
          <a:p>
            <a:r>
              <a:t> Key properties:</a:t>
            </a:r>
          </a:p>
          <a:p>
            <a:r>
              <a:t> Input and output are</a:t>
            </a:r>
            <a:r>
              <a:rPr b="1"/>
              <a:t> text</a:t>
            </a:r>
            <a:r>
              <a:t> (tokens), not structured data</a:t>
            </a:r>
          </a:p>
          <a:p>
            <a:r>
              <a:t> No deterministic logic — output is probabilistic</a:t>
            </a:r>
          </a:p>
          <a:p>
            <a:r>
              <a:t> Behavior is shaped by training data and prompts</a:t>
            </a:r>
          </a:p>
          <a:p>
            <a:r>
              <a:t> Context window limits how much it "remembers" per request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markus-winkler-1430818-30839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4527409"/>
            <a:ext cx="5125212" cy="3416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vs Traditional 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(forms, JSON)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Freeform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Attack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Known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Open-ended prompt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SQL, XSS, LDAP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pexels-diosajandy-13604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5354224"/>
            <a:ext cx="3753612" cy="2504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 — The Unit of AI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LLMs don't process characters or words — they process</a:t>
            </a:r>
            <a:r>
              <a:rPr lang="en-US" b="1"/>
              <a:t> tokens</a:t>
            </a:r>
            <a:r>
              <a:rPr lang="en-US"/>
              <a:t> .</a:t>
            </a:r>
          </a:p>
          <a:p>
            <a:r>
              <a:rPr lang="en-US"/>
              <a:t> A token ≈ 4 characters on average</a:t>
            </a:r>
          </a:p>
          <a:p>
            <a:r>
              <a:rPr lang="en-US"/>
              <a:t> "Hello world" = 2 tokens</a:t>
            </a:r>
          </a:p>
          <a:p>
            <a:r>
              <a:rPr lang="en-US">
                <a:latin typeface="Courier New"/>
              </a:rPr>
              <a:t> gpt-4o</a:t>
            </a:r>
            <a:r>
              <a:rPr lang="en-US"/>
              <a:t> : 128K token context window</a:t>
            </a:r>
          </a:p>
          <a:p>
            <a:r>
              <a:rPr lang="en-US"/>
              <a:t> Tokens drive</a:t>
            </a:r>
            <a:r>
              <a:rPr lang="en-US" b="1"/>
              <a:t> cost</a:t>
            </a:r>
            <a:r>
              <a:rPr lang="en-US"/>
              <a:t> and</a:t>
            </a:r>
            <a:r>
              <a:rPr lang="en-US" b="1"/>
              <a:t> rate limiting</a:t>
            </a:r>
          </a:p>
          <a:p>
            <a:r>
              <a:rPr lang="en-US"/>
              <a:t> Security implication:</a:t>
            </a:r>
          </a:p>
          <a:p>
            <a:r>
              <a:rPr lang="en-US"/>
              <a:t> Attackers can craft prompts to maximize token consumption (denial-of-wallet)</a:t>
            </a:r>
          </a:p>
          <a:p>
            <a:r>
              <a:rPr lang="en-US"/>
              <a:t> Token limits can be abused to truncate safety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pavel-danilyuk-7594196.jpg">
            <a:extLst>
              <a:ext uri="{FF2B5EF4-FFF2-40B4-BE49-F238E27FC236}">
                <a16:creationId xmlns:a16="http://schemas.microsoft.com/office/drawing/2014/main" id="{3ABA0C58-1FB4-A25F-5926-0D4A22FFA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521" y="5672931"/>
            <a:ext cx="1673307" cy="2506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Inference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WAF visibility exists at the edges. The middle is often opaque.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45212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prompt typically has three parts:</a:t>
            </a:r>
          </a:p>
          <a:p>
            <a:r>
              <a:rPr b="1"/>
              <a:t> System prompt</a:t>
            </a:r>
            <a:r>
              <a:t> — instructions set by the developer</a:t>
            </a:r>
          </a:p>
          <a:p>
            <a:endParaRPr/>
          </a:p>
          <a:p>
            <a:r>
              <a:rPr b="1"/>
              <a:t> Context</a:t>
            </a:r>
            <a:r>
              <a:t> — retrieved documents, history, tool output</a:t>
            </a:r>
          </a:p>
          <a:p>
            <a:r>
              <a:rPr b="1"/>
              <a:t> User message</a:t>
            </a:r>
            <a:r>
              <a:t> — what the end user typed</a:t>
            </a:r>
          </a:p>
          <a:p>
            <a:r>
              <a:t> Together these form the</a:t>
            </a:r>
            <a:r>
              <a:rPr b="1"/>
              <a:t> full context window</a:t>
            </a:r>
            <a:r>
              <a:t> sent to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0932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System Prompt Matters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system prompt is the developer's primary security control at the model layer.</a:t>
            </a:r>
          </a:p>
          <a:p>
            <a:r>
              <a:t> It can:</a:t>
            </a:r>
          </a:p>
          <a:p>
            <a:r>
              <a:t> Define the model's role and constraints</a:t>
            </a:r>
          </a:p>
          <a:p>
            <a:r>
              <a:t> Block certain topics</a:t>
            </a:r>
          </a:p>
          <a:p>
            <a:r>
              <a:t> Set output format requirements</a:t>
            </a:r>
          </a:p>
          <a:p>
            <a:r>
              <a:t> It cannot:</a:t>
            </a:r>
          </a:p>
          <a:p>
            <a:r>
              <a:t> Reliably prevent a determined attacker</a:t>
            </a:r>
          </a:p>
          <a:p>
            <a:r>
              <a:t> Override injected instructions in retrieved content</a:t>
            </a:r>
          </a:p>
          <a:p>
            <a:r>
              <a:t> Enforce cryptographic guarantees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Flow — From Browser to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WAF sees HTTP traffic. It does</a:t>
            </a:r>
            <a:r>
              <a:rPr b="1"/>
              <a:t> not</a:t>
            </a:r>
            <a:r>
              <a:t> see what the LLM receives internally.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4836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APIs — A WAF Complication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LLM APIs support</a:t>
            </a:r>
            <a:r>
              <a:rPr b="1"/>
              <a:t> streaming</a:t>
            </a:r>
            <a:r>
              <a:t> responses (Server-Sent Events).</a:t>
            </a:r>
          </a:p>
          <a:p>
            <a:endParaRPr/>
          </a:p>
          <a:p>
            <a:endParaRPr/>
          </a:p>
          <a:p>
            <a:r>
              <a:t> WAF challenges:</a:t>
            </a:r>
          </a:p>
          <a:p>
            <a:r>
              <a:t> Cannot inspect full response before delivery</a:t>
            </a:r>
          </a:p>
          <a:p>
            <a:r>
              <a:t> Buffering for inspection defeats latency goals</a:t>
            </a:r>
          </a:p>
          <a:p>
            <a:r>
              <a:t> Malicious content may arrive in fragments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331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Retrieval-Augmented Generation</a:t>
            </a:r>
            <a:r>
              <a:t> grounds LLM responses in external documents.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RAG is now the standard architecture for enterprise AI assistants.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3312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— The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Document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of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Poisoned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Chunker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Splits docs into pieces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Hidden instructions in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Embedding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Converts text to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Adversarial embeddings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Vector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Stores/retrieves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Unauthorized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Retriever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Finds relevant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assembler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Builds final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via retrieved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vector database stores documents as</a:t>
            </a:r>
            <a:r>
              <a:rPr b="1"/>
              <a:t> high-dimensional numerical vectors</a:t>
            </a:r>
            <a:r>
              <a:t> .</a:t>
            </a:r>
          </a:p>
          <a:p>
            <a:r>
              <a:t> Popular options: Pinecone, Weaviate, Qdrant, pgvector, Chroma</a:t>
            </a:r>
          </a:p>
          <a:p>
            <a:r>
              <a:t> How retrieval works:</a:t>
            </a:r>
          </a:p>
          <a:p>
            <a:r>
              <a:t> Query is converted to a vector by the embedding model</a:t>
            </a:r>
          </a:p>
          <a:p>
            <a:r>
              <a:t> Database finds nearest vectors (cosine similarity)</a:t>
            </a:r>
          </a:p>
          <a:p>
            <a:r>
              <a:t> Source text for those vectors is returned</a:t>
            </a:r>
          </a:p>
          <a:p>
            <a:r>
              <a:t> Security issue:</a:t>
            </a:r>
            <a:r>
              <a:rPr b="1"/>
              <a:t> nearest neighbor</a:t>
            </a:r>
            <a:r>
              <a:t> is a semantic match, not an exact string match — hard to filter with traditional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— What They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embedding</a:t>
            </a:r>
            <a:r>
              <a:t> is a vector representation of text that captures semantic meaning.</a:t>
            </a:r>
          </a:p>
          <a:p>
            <a:endParaRPr/>
          </a:p>
          <a:p>
            <a:endParaRPr/>
          </a:p>
          <a:p>
            <a:r>
              <a:t> Why this matters:</a:t>
            </a:r>
          </a:p>
          <a:p>
            <a:r>
              <a:t> Semantic attacks bypass keyword filters</a:t>
            </a:r>
          </a:p>
          <a:p>
            <a:r>
              <a:t> Poisoned documents can be designed to be retrieved for specific queries</a:t>
            </a:r>
          </a:p>
          <a:p>
            <a:r>
              <a:t> Filtering by content requires ML classifiers, not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7028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— What Are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AI agent</a:t>
            </a:r>
            <a:r>
              <a:t> is an LLM that can take actions, not just answer questions.</a:t>
            </a:r>
          </a:p>
          <a:p>
            <a:r>
              <a:t> Agents can:</a:t>
            </a:r>
          </a:p>
          <a:p>
            <a:r>
              <a:t> Call APIs and external services</a:t>
            </a:r>
          </a:p>
          <a:p>
            <a:r>
              <a:t> Read and write files</a:t>
            </a:r>
          </a:p>
          <a:p>
            <a:r>
              <a:t> Execute code</a:t>
            </a:r>
          </a:p>
          <a:p>
            <a:r>
              <a:t> Browse the web</a:t>
            </a:r>
          </a:p>
          <a:p>
            <a:r>
              <a:t> Send emails and messages</a:t>
            </a:r>
          </a:p>
          <a:p>
            <a:r>
              <a:t> Spawn sub-agents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Workflow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Each</a:t>
            </a:r>
            <a:r>
              <a:rPr b="1"/>
              <a:t> Act</a:t>
            </a:r>
            <a:r>
              <a:t> step is a real action with real consequences. WAF may see some of these API calls — but not the agent's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408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request tools using structured output: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The application executes the tool and returns results to the model.</a:t>
            </a:r>
          </a:p>
          <a:p>
            <a:r>
              <a:t> Security risk: An attacker who controls the prompt can influence</a:t>
            </a:r>
            <a:r>
              <a:rPr b="1"/>
              <a:t> which tools are called with what parameters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52832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 — The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WAF sees the HTTP requests the agent makes — but may not know they originated from an attacker-controlled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3312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AI systems often chain multiple agents:</a:t>
            </a:r>
          </a:p>
          <a:p>
            <a:endParaRPr/>
          </a:p>
          <a:p>
            <a:endParaRPr/>
          </a:p>
          <a:p>
            <a:r>
              <a:t> Attack implications:</a:t>
            </a:r>
          </a:p>
          <a:p>
            <a:r>
              <a:t> An attacker injecting into one agent can propagate to others</a:t>
            </a:r>
          </a:p>
          <a:p>
            <a:r>
              <a:t> Agent-to-agent calls may bypass WAF entirely (internal network)</a:t>
            </a:r>
          </a:p>
          <a:p>
            <a:r>
              <a:t> Trust boundaries between agents are often undefined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4826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Copilots — The 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copilot</a:t>
            </a:r>
            <a:r>
              <a:t> is an AI assistant embedded in a business workflow.</a:t>
            </a:r>
          </a:p>
          <a:p>
            <a:r>
              <a:t> Examples:</a:t>
            </a:r>
          </a:p>
          <a:p>
            <a:r>
              <a:t> GitHub Copilot (code completion)</a:t>
            </a:r>
          </a:p>
          <a:p>
            <a:r>
              <a:t> Microsoft 365 Copilot (email, calendar, documents)</a:t>
            </a:r>
          </a:p>
          <a:p>
            <a:r>
              <a:t> Salesforce Einstein (CRM)</a:t>
            </a:r>
          </a:p>
          <a:p>
            <a:r>
              <a:t> Custom enterprise chatbots</a:t>
            </a:r>
          </a:p>
          <a:p>
            <a:r>
              <a:t> From a WAF perspective:</a:t>
            </a:r>
          </a:p>
          <a:p>
            <a:r>
              <a:t> Copilots access sensitive internal data via APIs</a:t>
            </a:r>
          </a:p>
          <a:p>
            <a:r>
              <a:t> They act on behalf of users — often with elevated permissions</a:t>
            </a:r>
          </a:p>
          <a:p>
            <a:r>
              <a:t> They are prime targets for indirect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AI gateway</a:t>
            </a:r>
            <a:r>
              <a:t> sits between your application and LLM providers.</a:t>
            </a:r>
          </a:p>
          <a:p>
            <a:r>
              <a:t> Functions:</a:t>
            </a:r>
          </a:p>
          <a:p>
            <a:r>
              <a:t> Route requests to different models</a:t>
            </a:r>
          </a:p>
          <a:p>
            <a:r>
              <a:t> Apply prompt/response filtering</a:t>
            </a:r>
          </a:p>
          <a:p>
            <a:r>
              <a:t> Enforce rate limits (token-based)</a:t>
            </a:r>
          </a:p>
          <a:p>
            <a:r>
              <a:t> Log all prompts and completions</a:t>
            </a:r>
          </a:p>
          <a:p>
            <a:r>
              <a:t> Apply guardrails and classifiers</a:t>
            </a:r>
          </a:p>
          <a:p>
            <a:r>
              <a:t> Manage API keys and quotas</a:t>
            </a:r>
          </a:p>
          <a:p>
            <a:r>
              <a:t> Examples: AWS Bedrock, Azure AI Studio, Cloudflare AI Gateway, Kong AI Gateway, Portkey, LiteLLM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Traditional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WAF and AI gateway are</a:t>
            </a:r>
            <a:r>
              <a:rPr b="1"/>
              <a:t> complementary</a:t>
            </a:r>
            <a:r>
              <a:t> , not alternatives.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HTTP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(request-based)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(token-based)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Semantic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Model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Cost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—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MCP</a:t>
            </a:r>
            <a:r>
              <a:t> (Anthropic, 2024) is an open protocol for connecting LLMs to external tools and data.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MCP is becoming the standard for agent tool connectivity — analogous to USB for peripherals.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77216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MCP introduces new attack surfaces:</a:t>
            </a:r>
          </a:p>
          <a:p>
            <a:r>
              <a:rPr b="1"/>
              <a:t> Tool poisoning</a:t>
            </a:r>
            <a:r>
              <a:t> — malicious MCP server exposes dangerous tools</a:t>
            </a:r>
          </a:p>
          <a:p>
            <a:r>
              <a:rPr b="1"/>
              <a:t> Resource injection</a:t>
            </a:r>
            <a:r>
              <a:t> — MCP resource returns attacker-controlled text</a:t>
            </a:r>
          </a:p>
          <a:p>
            <a:r>
              <a:rPr b="1"/>
              <a:t> Privilege escalation</a:t>
            </a:r>
            <a:r>
              <a:t> — agent inherits MCP server's permissions</a:t>
            </a:r>
          </a:p>
          <a:p>
            <a:r>
              <a:rPr b="1"/>
              <a:t> Confused deputy</a:t>
            </a:r>
            <a:r>
              <a:t> — agent acts on behalf of attacker via MCP</a:t>
            </a:r>
          </a:p>
          <a:p>
            <a:r>
              <a:t> WAF relevance:</a:t>
            </a:r>
          </a:p>
          <a:p>
            <a:r>
              <a:t> MCP uses HTTP/SSE transport — WAF can inspect at the transport layer</a:t>
            </a:r>
          </a:p>
          <a:p>
            <a:r>
              <a:t> Content inspection of MCP payloads requires custom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Protocols — The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Most use HTTP — WAF has transport-layer visibility. Semantic content requires AI-aware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Tool/resource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HTTP, SSE, stdio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OpenAI function calling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over HTTPS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LangChain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Framework tool abstraction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A2A (Google)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Agent-to-agent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WAF Visibility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</a:t>
            </a:r>
            <a:r>
              <a:rPr b="1"/>
              <a:t> can</a:t>
            </a:r>
            <a:r>
              <a:t> see and control:</a:t>
            </a:r>
          </a:p>
          <a:p>
            <a:r>
              <a:t> Initial HTTP request to AI endpoint (</a:t>
            </a:r>
            <a:r>
              <a:rPr>
                <a:latin typeface="Courier New"/>
              </a:rPr>
              <a:t> /v1/chat/completions</a:t>
            </a:r>
            <a:r>
              <a:t> )</a:t>
            </a:r>
          </a:p>
          <a:p>
            <a:r>
              <a:t> Request headers, source IP, auth tokens</a:t>
            </a:r>
          </a:p>
          <a:p>
            <a:r>
              <a:t> Request body (prompt as raw text)</a:t>
            </a:r>
          </a:p>
          <a:p>
            <a:r>
              <a:t> Response body (before delivery to client)</a:t>
            </a:r>
          </a:p>
          <a:p>
            <a:r>
              <a:t> HTTP method, status codes, response size</a:t>
            </a:r>
          </a:p>
          <a:p>
            <a:r>
              <a:t> Tool call HTTP requests made by agents</a:t>
            </a:r>
          </a:p>
          <a:p>
            <a:r>
              <a:t> Rate limiting by request count or token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WAF Visibility Disappears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</a:t>
            </a:r>
            <a:r>
              <a:rPr b="1"/>
              <a:t> cannot</a:t>
            </a:r>
            <a:r>
              <a:t> see:</a:t>
            </a:r>
          </a:p>
          <a:p>
            <a:r>
              <a:t> What the LLM reasons internally</a:t>
            </a:r>
          </a:p>
          <a:p>
            <a:r>
              <a:t> Injected instructions hidden inside retrieved documents</a:t>
            </a:r>
          </a:p>
          <a:p>
            <a:r>
              <a:t> Agent-to-agent calls over internal networks</a:t>
            </a:r>
          </a:p>
          <a:p>
            <a:r>
              <a:t> Content inside encrypted sub-requests</a:t>
            </a:r>
          </a:p>
          <a:p>
            <a:r>
              <a:t> Semantic meaning of obfuscated prompts</a:t>
            </a:r>
          </a:p>
          <a:p>
            <a:r>
              <a:t> Multi-turn context accumulating across requests</a:t>
            </a:r>
          </a:p>
          <a:p>
            <a:r>
              <a:t> Decisions made by the model about tool use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Visibility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r>
              <a:t> Bridging this gap requires</a:t>
            </a:r>
            <a:r>
              <a:rPr b="1"/>
              <a:t> AI gateways + guardrails</a:t>
            </a:r>
            <a:r>
              <a:t> working alongside WAF.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8552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787400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Architecture to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Threat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HTTP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DDoS, scraping, auth bypass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System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injection, override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User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prompt injection, jailbreak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RAG / 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poisoning, retrieval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extraction, adversarial inputs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Unauthorized actions, privilege escalation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Sensitive data disclosure, indirect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AI Threat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Traditional WAF mindset:</a:t>
            </a:r>
          </a:p>
          <a:p>
            <a:r>
              <a:t> Attack is in the HTTP request</a:t>
            </a:r>
          </a:p>
          <a:p>
            <a:r>
              <a:t> Block malicious patterns</a:t>
            </a:r>
          </a:p>
          <a:p>
            <a:r>
              <a:t> Enforce allow/deny rules</a:t>
            </a:r>
          </a:p>
          <a:p>
            <a:r>
              <a:rPr b="1"/>
              <a:t> AI WAF mindset:</a:t>
            </a:r>
          </a:p>
          <a:p>
            <a:r>
              <a:t> Attack may be in retrieved documents, not the request</a:t>
            </a:r>
          </a:p>
          <a:p>
            <a:r>
              <a:t> Semantic intent matters, not just syntax</a:t>
            </a:r>
          </a:p>
          <a:p>
            <a:r>
              <a:t> The model itself can be the attack vector</a:t>
            </a:r>
          </a:p>
          <a:p>
            <a:r>
              <a:t> Output can carry attacks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Architectural Patterns You Will Defend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Over this course you will build defenses for:</a:t>
            </a:r>
          </a:p>
          <a:p>
            <a:r>
              <a:rPr b="1"/>
              <a:t> Chatbot APIs</a:t>
            </a:r>
            <a:r>
              <a:t> — prompt injection at the HTTP layer</a:t>
            </a:r>
          </a:p>
          <a:p>
            <a:r>
              <a:rPr b="1"/>
              <a:t> RAG pipelines</a:t>
            </a:r>
            <a:r>
              <a:t> — document poisoning and retrieval abuse</a:t>
            </a:r>
          </a:p>
          <a:p>
            <a:r>
              <a:rPr b="1"/>
              <a:t> Agentic systems</a:t>
            </a:r>
            <a:r>
              <a:t> — tool abuse and privilege escalation</a:t>
            </a:r>
          </a:p>
          <a:p>
            <a:r>
              <a:rPr b="1"/>
              <a:t> LLM APIs</a:t>
            </a:r>
            <a:r>
              <a:t> — denial-of-wallet and model scraping</a:t>
            </a:r>
          </a:p>
          <a:p>
            <a:r>
              <a:rPr b="1"/>
              <a:t> Copilot integrations</a:t>
            </a:r>
            <a:r>
              <a:t> — indirect injection through business data</a:t>
            </a:r>
          </a:p>
          <a:p>
            <a:r>
              <a:rPr b="1"/>
              <a:t> Multi-agent workflows</a:t>
            </a:r>
            <a:r>
              <a:t> — cross-agent propagation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are probabilistic, token-based systems — not deterministic apps</a:t>
            </a:r>
          </a:p>
          <a:p>
            <a:r>
              <a:t> AI inference pipelines have multiple layers, each with its own attack surface</a:t>
            </a:r>
          </a:p>
          <a:p>
            <a:r>
              <a:t> RAG adds document retrieval as a new injection vector</a:t>
            </a:r>
          </a:p>
          <a:p>
            <a:r>
              <a:t> Agents transform AI from read-only to read-write risk</a:t>
            </a:r>
          </a:p>
          <a:p>
            <a:r>
              <a:t> Tool calling gives attackers a path from text to real-world actions</a:t>
            </a:r>
          </a:p>
          <a:p>
            <a:r>
              <a:t> WAF visibility is strong at HTTP boundaries, weak inside the AI stack</a:t>
            </a:r>
          </a:p>
          <a:p>
            <a:r>
              <a:t> AI gateways and guardrails extend WAF coverage into the semantic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2 — OWASP GenAI Top 10</a:t>
            </a:r>
          </a:p>
          <a:p>
            <a:r>
              <a:t> We move from architecture to the specific attack categories:</a:t>
            </a:r>
          </a:p>
          <a:p>
            <a:r>
              <a:t> Prompt Injection</a:t>
            </a:r>
          </a:p>
          <a:p>
            <a:r>
              <a:t> Insecure Output Handling</a:t>
            </a:r>
          </a:p>
          <a:p>
            <a:r>
              <a:t> Training Data Poisoning</a:t>
            </a:r>
          </a:p>
          <a:p>
            <a:r>
              <a:t> Model DoS</a:t>
            </a:r>
          </a:p>
          <a:p>
            <a:r>
              <a:t> And six more...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Attack a chatbot with prompt injection</a:t>
            </a:r>
          </a:p>
          <a:p>
            <a:r>
              <a:t> You will:</a:t>
            </a:r>
          </a:p>
          <a:p>
            <a:r>
              <a:t> Interact with an intentionally vulnerable AI chatbot</a:t>
            </a:r>
          </a:p>
          <a:p>
            <a:r>
              <a:t> Attempt to override its system prompt</a:t>
            </a:r>
          </a:p>
          <a:p>
            <a:r>
              <a:t> Extract hidden instructions</a:t>
            </a:r>
          </a:p>
          <a:p>
            <a:r>
              <a:t> Observe what basic WAF rules catch — and what they miss</a:t>
            </a:r>
          </a:p>
          <a:p>
            <a:r>
              <a:t> Environment: provided Docker-based lab Time: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378295</TotalTime>
  <Words>2132</Words>
  <Application>Microsoft Macintosh PowerPoint</Application>
  <PresentationFormat>Custom</PresentationFormat>
  <Paragraphs>427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1 — AI Systems for WAF Engineers</vt:lpstr>
      <vt:lpstr>Module 1 Agenda</vt:lpstr>
      <vt:lpstr>What Is a Large Language Model?</vt:lpstr>
      <vt:lpstr>LLMs vs Traditional Web Apps</vt:lpstr>
      <vt:lpstr>Tokens — The Unit of AI Processing</vt:lpstr>
      <vt:lpstr>The AI Inference Pipeline</vt:lpstr>
      <vt:lpstr>Anatomy of a Prompt</vt:lpstr>
      <vt:lpstr>Why the System Prompt Matters for Security</vt:lpstr>
      <vt:lpstr>Prompt Flow — From Browser to Model</vt:lpstr>
      <vt:lpstr>Streaming APIs — A WAF Complication</vt:lpstr>
      <vt:lpstr>RAG Architecture Overview</vt:lpstr>
      <vt:lpstr>RAG — The Components</vt:lpstr>
      <vt:lpstr>Vector Databases</vt:lpstr>
      <vt:lpstr>Embeddings — What They Are</vt:lpstr>
      <vt:lpstr>Agentic AI — What Are Agents?</vt:lpstr>
      <vt:lpstr>Agentic Workflow Pattern</vt:lpstr>
      <vt:lpstr>Tool Calling</vt:lpstr>
      <vt:lpstr>Tool Calling — The Attack Surface</vt:lpstr>
      <vt:lpstr>Multi-Agent Architectures</vt:lpstr>
      <vt:lpstr>Copilots — The Business Context</vt:lpstr>
      <vt:lpstr>AI Gateways</vt:lpstr>
      <vt:lpstr>AI Gateway vs Traditional WAF</vt:lpstr>
      <vt:lpstr>MCP — Model Context Protocol</vt:lpstr>
      <vt:lpstr>MCP Security Concerns</vt:lpstr>
      <vt:lpstr>Agent Protocols — The Ecosystem</vt:lpstr>
      <vt:lpstr>Where WAF Visibility Exists</vt:lpstr>
      <vt:lpstr>Where WAF Visibility Disappears</vt:lpstr>
      <vt:lpstr>The Visibility Gap</vt:lpstr>
      <vt:lpstr>The New Attack Surface</vt:lpstr>
      <vt:lpstr>Mapping Architecture to Threats</vt:lpstr>
      <vt:lpstr>Traditional vs AI Threat Models</vt:lpstr>
      <vt:lpstr>Key Architectural Patterns You Will Defend</vt:lpstr>
      <vt:lpstr>Module 1 Summary</vt:lpstr>
      <vt:lpstr>What's Next</vt:lpstr>
      <vt:lpstr>Lab Preview — Lab 1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4137</cp:revision>
  <cp:lastPrinted>2010-01-03T02:41:41Z</cp:lastPrinted>
  <dcterms:created xsi:type="dcterms:W3CDTF">2010-07-13T15:22:01Z</dcterms:created>
  <dcterms:modified xsi:type="dcterms:W3CDTF">2026-05-21T05:12:02Z</dcterms:modified>
</cp:coreProperties>
</file>