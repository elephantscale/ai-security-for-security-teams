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464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2017 Elephant Scale.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ADD5D-AF76-45EE-AA5F-6DAC73BF167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2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9 — Cloud WAFs and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9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WAF vs AI gateway — a principled comparison</a:t>
            </a:r>
          </a:p>
          <a:p>
            <a:r>
              <a:t> AWS WAF for AI APIs</a:t>
            </a:r>
          </a:p>
          <a:p>
            <a:r>
              <a:t> Azure WAF and Azure AI Content Safety</a:t>
            </a:r>
          </a:p>
          <a:p>
            <a:r>
              <a:t> Cloudflare AI Gateway</a:t>
            </a:r>
          </a:p>
          <a:p>
            <a:r>
              <a:t> API gateways as AI security controls</a:t>
            </a:r>
          </a:p>
          <a:p>
            <a:r>
              <a:t> Envoy proxy with AI filtering</a:t>
            </a:r>
          </a:p>
          <a:p>
            <a:r>
              <a:t> Kong AI Gateway</a:t>
            </a:r>
          </a:p>
          <a:p>
            <a:r>
              <a:t> NGINX AI security patterns</a:t>
            </a:r>
          </a:p>
          <a:p>
            <a:r>
              <a:t> Proxy-based vs semantic filtering</a:t>
            </a:r>
          </a:p>
          <a:p>
            <a:r>
              <a:t> Choosing the right layer for each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Cloud WAF Landscape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APIs are typically deployed behind multiple cloud security layers:</a:t>
            </a:r>
          </a:p>
          <a:p>
            <a:r>
              <a:t> No single product covers all layers.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7" y="3253134"/>
            <a:ext cx="9337788" cy="4869593"/>
          </a:xfrm>
          <a:prstGeom prst="rect">
            <a:avLst/>
          </a:prstGeom>
        </p:spPr>
      </p:pic>
      <p:pic>
        <p:nvPicPr>
          <p:cNvPr id="6" name="Picture 5" descr="pexels-tugba-161553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75" y="1558131"/>
            <a:ext cx="1586675" cy="2113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WAF vs AI Gateway — Core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Protocol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 + semantic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Rule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Regex, OWASP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 classifiers, intent labels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Rate limiting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Tokens,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Payload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Bytes,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Meaning, intent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Output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 codes,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Completion text, PII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Threat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SQLi, XSS, 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injection, jailbreak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Model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(model, version, cost)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Latency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10–100 ms (classifier overhead)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Config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DSL (ModSecurity, WCL)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YAML + ML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Proxy-Based vs Semantic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Two philosophically different approaches:</a:t>
            </a:r>
          </a:p>
          <a:p>
            <a:r>
              <a:rPr b="1"/>
              <a:t> Proxy-based filtering:</a:t>
            </a:r>
          </a:p>
          <a:p>
            <a:r>
              <a:t> Intercept HTTP at the network layer</a:t>
            </a:r>
          </a:p>
          <a:p>
            <a:r>
              <a:t> Apply rules to raw request/response bytes</a:t>
            </a:r>
          </a:p>
          <a:p>
            <a:r>
              <a:t> Fast, deterministic, auditable</a:t>
            </a:r>
          </a:p>
          <a:p>
            <a:r>
              <a:t> Cannot understand natural language meaning</a:t>
            </a:r>
          </a:p>
          <a:p>
            <a:r>
              <a:rPr b="1"/>
              <a:t> Semantic filtering:</a:t>
            </a:r>
          </a:p>
          <a:p>
            <a:r>
              <a:t> Run ML classifiers on prompt text</a:t>
            </a:r>
          </a:p>
          <a:p>
            <a:r>
              <a:t> Score intent, not syntax</a:t>
            </a:r>
          </a:p>
          <a:p>
            <a:r>
              <a:t> Can catch obfuscated, encoded, or paraphrased attacks</a:t>
            </a:r>
          </a:p>
          <a:p>
            <a:r>
              <a:t> Higher latency, probabilistic (false positives/negatives)</a:t>
            </a:r>
          </a:p>
          <a:p>
            <a:r>
              <a:rPr b="1"/>
              <a:t> Best practice:</a:t>
            </a:r>
            <a:r>
              <a:t> Use both. Proxy-based for HTTP hygiene and rate limiting; semantic for content-level threats.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AWS WAF protects AI endpoints exposed via API Gateway or Application Load Balancer.</a:t>
            </a:r>
          </a:p>
          <a:p>
            <a:r>
              <a:t> Key managed rule groups for AI:</a:t>
            </a:r>
          </a:p>
          <a:p>
            <a:r>
              <a:t> Apply to all</a:t>
            </a:r>
            <a:r>
              <a:rPr>
                <a:latin typeface="Courier New"/>
              </a:rPr>
              <a:t> /v1/chat</a:t>
            </a:r>
            <a:r>
              <a:t> ,</a:t>
            </a:r>
            <a:r>
              <a:rPr>
                <a:latin typeface="Courier New"/>
              </a:rPr>
              <a:t> /invoke</a:t>
            </a:r>
            <a:r>
              <a:t> ,</a:t>
            </a:r>
            <a:r>
              <a:rPr>
                <a:latin typeface="Courier New"/>
              </a:rPr>
              <a:t> /converse</a:t>
            </a:r>
            <a:r>
              <a:t> endpoints.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7" y="3055151"/>
            <a:ext cx="9137650" cy="1089811"/>
          </a:xfrm>
          <a:prstGeom prst="rect">
            <a:avLst/>
          </a:prstGeom>
        </p:spPr>
      </p:pic>
      <p:pic>
        <p:nvPicPr>
          <p:cNvPr id="6" name="Picture 5" descr="amaz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7342772"/>
            <a:ext cx="1430767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— Custom Rules for AI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631"/>
            <a:ext cx="9378266" cy="60872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— Blocking Prompt Injection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379200" cy="772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— Bot Control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Bot Control is especially valuable for AI endpoints because scrapers and automated agents have distinct TLS and HTTP/2 fingerprints.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6331"/>
            <a:ext cx="8915400" cy="4750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Bedrock — AI Gateway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AWS Bedrock provides native AI security controls beyond WAF:</a:t>
            </a:r>
          </a:p>
          <a:p>
            <a:r>
              <a:rPr dirty="0"/>
              <a:t> Bedrock Guardrails operate</a:t>
            </a:r>
            <a:r>
              <a:rPr b="1" dirty="0"/>
              <a:t> inside</a:t>
            </a:r>
            <a:r>
              <a:rPr dirty="0"/>
              <a:t> the model invocation path — not at HTTP.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harmful topics, PII, prompt attacks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Content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Hate, violence, sexual content classifiers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Denied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 topic blocklist (e.g., "no financial advice")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Sensitive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Auto-detect and mask PII in prompts and completions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Grounding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 hallucination vs source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Invocation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prompt/completion audit trail to CloudWatch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140" y="6193522"/>
            <a:ext cx="1640222" cy="16402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Bedrock Guardrail — 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738"/>
            <a:ext cx="8915400" cy="50525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WAF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Azure WAF (on Application Gateway or Front Door) protects AI workloads similarly to AWS WAF.</a:t>
            </a:r>
          </a:p>
          <a:p>
            <a:r>
              <a:t> Key configurations for AI endpoints: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2352321"/>
            <a:ext cx="9204490" cy="2711010"/>
          </a:xfrm>
          <a:prstGeom prst="rect">
            <a:avLst/>
          </a:prstGeom>
        </p:spPr>
      </p:pic>
      <p:pic>
        <p:nvPicPr>
          <p:cNvPr id="6" name="Picture 5" descr="Az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0" y="6809803"/>
            <a:ext cx="28956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AI Content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Azure provides a dedicated AI content safety service that operates at the semantic layer.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3531"/>
            <a:ext cx="9386895" cy="3949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Prompt Shields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Azure AI Content Safety includes</a:t>
            </a:r>
            <a:r>
              <a:rPr b="1" dirty="0"/>
              <a:t> Prompt Shields</a:t>
            </a:r>
            <a:r>
              <a:rPr dirty="0"/>
              <a:t> — specifically designed to detect prompt injection.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Prompt Shields covers both</a:t>
            </a:r>
            <a:r>
              <a:rPr b="1" dirty="0"/>
              <a:t> direct injection</a:t>
            </a:r>
            <a:r>
              <a:rPr dirty="0"/>
              <a:t> (user input) and</a:t>
            </a:r>
            <a:r>
              <a:rPr b="1" dirty="0"/>
              <a:t> indirect injection</a:t>
            </a:r>
            <a:r>
              <a:rPr dirty="0"/>
              <a:t> (RAG documents) — a unique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" y="2091531"/>
            <a:ext cx="9334501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AI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Cloudflare AI Gateway is a managed proxy for LLM API calls.</a:t>
            </a:r>
          </a:p>
          <a:p>
            <a:r>
              <a:t> Architecture: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131"/>
            <a:ext cx="9398000" cy="3454400"/>
          </a:xfrm>
          <a:prstGeom prst="rect">
            <a:avLst/>
          </a:prstGeom>
        </p:spPr>
      </p:pic>
      <p:pic>
        <p:nvPicPr>
          <p:cNvPr id="6" name="Picture 5" descr="Cloudfl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50" y="6406864"/>
            <a:ext cx="3111500" cy="1739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AI Gateway —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Replace your LLM provider base URL with the Cloudflare gateway URL: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All requests are now logged, rate-limited, and cached by Cloudflare — no app code changes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2087363"/>
            <a:ext cx="8915400" cy="15752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AI Gateway — Rate Limiting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5588000" cy="7188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WAF + AI Gateway — Combined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Two Cloudflare products, one network — minimal latency penalty for the combined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68400"/>
            <a:ext cx="61976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Gateways as AI 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API gateways (Envoy, Kong, NGINX, AWS API Gateway) sit between clients and AI backends.</a:t>
            </a:r>
          </a:p>
          <a:p>
            <a:r>
              <a:t> Security controls available at the API gateway layer: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2231136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JWT validation, OAuth2, API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 checks, OPA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Per-user, per-endpoint, per-tier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Request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Schema enforcement (OpenAPI)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TLS 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Certificate inspection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Request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audit trail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Circuit breaker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Fail-safe when LLM is overloaded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Picture 5" descr="ngin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181344"/>
            <a:ext cx="51943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Envoy Proxy — AI Filtering with Ext AuthZ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Envoy's External Authorization filter can call a sidecar service to inspect AI prompts: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5984"/>
            <a:ext cx="8915400" cy="4465894"/>
          </a:xfrm>
          <a:prstGeom prst="rect">
            <a:avLst/>
          </a:prstGeom>
        </p:spPr>
      </p:pic>
      <p:pic>
        <p:nvPicPr>
          <p:cNvPr id="6" name="Picture 5" descr="env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7055366"/>
            <a:ext cx="27813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Envoy — AI Security Sidecar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This pattern extends Envoy with full semantic inspection without modifying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36656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Kong AI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Kong offers dedicated AI capabilities via the Kong AI Proxy plugin.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4" y="1823815"/>
            <a:ext cx="8487928" cy="63554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Kong AI Gateway — Prompt Decorator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Kong can inject security context into every prompt automatically: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Security instructions are injected at the gateway — application code does not need to manage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131"/>
            <a:ext cx="9386895" cy="39496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NGINX — AI Security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NGINX Plus (or open-source with Lua/NJS) can implement AI-specific controls.</a:t>
            </a:r>
          </a:p>
          <a:p>
            <a:r>
              <a:rPr b="1"/>
              <a:t> Rate limit by estimated token count using NJS: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3982"/>
            <a:ext cx="9377424" cy="46989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NGINX — Complete AI Endpoint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922000" cy="7454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Cloud WAF Solutions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Cloudflare WAF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Managed AI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 (Bot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Native AI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Content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Token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Lambda authorizer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APIM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CloudWatch (custom)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APIM diagnostic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Semantic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Content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PII masking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Content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Jailbreak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Shields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Multi-provider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APIM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AI Gateway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Kong AI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Envoy + Sidecar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Cloudflare AI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ext_proc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Token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Response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Self-hosted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Cost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Layer for Each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093200" cy="5054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Framework — Which Product?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1848132"/>
            <a:ext cx="9348788" cy="415624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Anti-Patterns in Cloud AI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Common mistakes to avoid:</a:t>
            </a:r>
          </a:p>
          <a:p>
            <a:r>
              <a:rPr b="1"/>
              <a:t> WAF only, no semantic layer</a:t>
            </a:r>
            <a:r>
              <a:t> — bot protection catches volume attacks but not jailbreaks</a:t>
            </a:r>
          </a:p>
          <a:p>
            <a:r>
              <a:rPr b="1"/>
              <a:t> AI gateway only, no WAF</a:t>
            </a:r>
            <a:r>
              <a:t> — exposed to DDoS, IP spoofing, raw HTTP attacks</a:t>
            </a:r>
          </a:p>
          <a:p>
            <a:r>
              <a:rPr b="1"/>
              <a:t> Global token limits, not per-user</a:t>
            </a:r>
            <a:r>
              <a:t> — one aggressive user can exhaust limits for everyone</a:t>
            </a:r>
          </a:p>
          <a:p>
            <a:r>
              <a:rPr b="1"/>
              <a:t> Logging prompt text in plaintext to shared log stores</a:t>
            </a:r>
            <a:r>
              <a:t> — PII exposure risk</a:t>
            </a:r>
          </a:p>
          <a:p>
            <a:r>
              <a:rPr b="1"/>
              <a:t> Trusting the AI gateway's allow decision without WAF</a:t>
            </a:r>
            <a:r>
              <a:t> — defense in depth requires both</a:t>
            </a:r>
          </a:p>
          <a:p>
            <a:r>
              <a:rPr b="1"/>
              <a:t> Not testing WAF rules against streaming responses</a:t>
            </a:r>
            <a:r>
              <a:t> — WAF may pass SSE chunks uninspected</a:t>
            </a:r>
          </a:p>
          <a:p>
            <a:r>
              <a:rPr b="1"/>
              <a:t> Using managed rule sets without tuning</a:t>
            </a:r>
            <a:r>
              <a:t> — high false-positive rates on legitimate AI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9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Cloud WAFs (AWS, Azure, Cloudflare) provide HTTP-layer protection for AI endpoints but need AI gateways for semantic coverage</a:t>
            </a:r>
          </a:p>
          <a:p>
            <a:r>
              <a:t> AWS WAF + Bedrock Guardrails, Azure WAF + Prompt Shields, and Cloudflare WAF + AI Gateway each form a coherent native stack</a:t>
            </a:r>
          </a:p>
          <a:p>
            <a:r>
              <a:t> Envoy ext_authz and Kong AI Gateway are the leading self-hosted options for semantic AI filtering</a:t>
            </a:r>
          </a:p>
          <a:p>
            <a:r>
              <a:t> NGINX can handle token estimation and rate limiting via NJS modules</a:t>
            </a:r>
          </a:p>
          <a:p>
            <a:r>
              <a:t> Proxy-based and semantic filtering are complementary — use both</a:t>
            </a:r>
          </a:p>
          <a:p>
            <a:r>
              <a:t> Layer selection matters: put each control at the layer that can enforce it most reliably</a:t>
            </a:r>
          </a:p>
          <a:p>
            <a:r>
              <a:t> No cloud product covers every AI security requirement — architecture is always multi-layer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10 — Building a Layered AI Defense</a:t>
            </a:r>
          </a:p>
          <a:p>
            <a:r>
              <a:t> We move from individual products to complete defense architecture:</a:t>
            </a:r>
          </a:p>
          <a:p>
            <a:r>
              <a:t> The 10-layer AI defense model</a:t>
            </a:r>
          </a:p>
          <a:p>
            <a:r>
              <a:t> From WAF engineer to AI Runtime Security engineer</a:t>
            </a:r>
          </a:p>
          <a:p>
            <a:r>
              <a:t> Capstone preview: defending a simulated enterprise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Monitor AI abuse patterns in logs</a:t>
            </a:r>
          </a:p>
          <a:p>
            <a:r>
              <a:t> You will:</a:t>
            </a:r>
          </a:p>
          <a:p>
            <a:r>
              <a:t> Deploy a simulated AI API behind NGINX and an open-source AI gateway</a:t>
            </a:r>
          </a:p>
          <a:p>
            <a:r>
              <a:t> Configure rate limiting at both the NGINX and AI gateway layers</a:t>
            </a:r>
          </a:p>
          <a:p>
            <a:r>
              <a:t> Send a scripted attack campaign (jailbreak attempts, token flooding, scraping)</a:t>
            </a:r>
          </a:p>
          <a:p>
            <a:r>
              <a:t> Observe which layer blocks which attack type</a:t>
            </a:r>
          </a:p>
          <a:p>
            <a:r>
              <a:t> Compare detection coverage: WAF alone vs WAF + AI gateway</a:t>
            </a:r>
          </a:p>
          <a:p>
            <a:r>
              <a:t> Environment: Docker Compose (NGINX + Kong AI Gateway + mock LLM backend) Time: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378299</TotalTime>
  <Words>1789</Words>
  <Application>Microsoft Macintosh PowerPoint</Application>
  <PresentationFormat>Custom</PresentationFormat>
  <Paragraphs>477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9 — Cloud WAFs and AI Security</vt:lpstr>
      <vt:lpstr>Module 9 Agenda</vt:lpstr>
      <vt:lpstr>The Cloud WAF Landscape for AI</vt:lpstr>
      <vt:lpstr>Traditional WAF vs AI Gateway — Core Differences</vt:lpstr>
      <vt:lpstr>Proxy-Based vs Semantic Filtering</vt:lpstr>
      <vt:lpstr>AWS WAF for AI APIs</vt:lpstr>
      <vt:lpstr>AWS WAF — Custom Rules for AI Endpoints</vt:lpstr>
      <vt:lpstr>AWS WAF — Blocking Prompt Injection Patterns</vt:lpstr>
      <vt:lpstr>AWS WAF — Bot Control for AI APIs</vt:lpstr>
      <vt:lpstr>AWS Bedrock — AI Gateway Features</vt:lpstr>
      <vt:lpstr>AWS Bedrock Guardrail — Configuration Example</vt:lpstr>
      <vt:lpstr>Azure WAF for AI APIs</vt:lpstr>
      <vt:lpstr>Azure AI Content Safety</vt:lpstr>
      <vt:lpstr>Azure Prompt Shields</vt:lpstr>
      <vt:lpstr>Cloudflare AI Gateway</vt:lpstr>
      <vt:lpstr>Cloudflare AI Gateway — Configuration</vt:lpstr>
      <vt:lpstr>Cloudflare AI Gateway — Rate Limiting Policy</vt:lpstr>
      <vt:lpstr>Cloudflare WAF + AI Gateway — Combined Architecture</vt:lpstr>
      <vt:lpstr>API Gateways as AI Security Controls</vt:lpstr>
      <vt:lpstr>Envoy Proxy — AI Filtering with Ext AuthZ</vt:lpstr>
      <vt:lpstr>Envoy — AI Security Sidecar (Python)</vt:lpstr>
      <vt:lpstr>Kong AI Gateway</vt:lpstr>
      <vt:lpstr>Kong AI Gateway — Prompt Decorator Plugin</vt:lpstr>
      <vt:lpstr>NGINX — AI Security Patterns</vt:lpstr>
      <vt:lpstr>NGINX — Complete AI Endpoint Configuration</vt:lpstr>
      <vt:lpstr>Comparing Cloud WAF Solutions for AI</vt:lpstr>
      <vt:lpstr>Comparing AI Gateway Solutions</vt:lpstr>
      <vt:lpstr>Choosing the Right Layer for Each Control</vt:lpstr>
      <vt:lpstr>Decision Framework — Which Product?</vt:lpstr>
      <vt:lpstr>Security Anti-Patterns in Cloud AI Deployments</vt:lpstr>
      <vt:lpstr>Module 9 Summary</vt:lpstr>
      <vt:lpstr>What's Next</vt:lpstr>
      <vt:lpstr>Lab Preview — Lab 7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Tim Abou Hassan</cp:lastModifiedBy>
  <cp:revision>4137</cp:revision>
  <cp:lastPrinted>2010-01-03T02:41:41Z</cp:lastPrinted>
  <dcterms:created xsi:type="dcterms:W3CDTF">2010-07-13T15:22:01Z</dcterms:created>
  <dcterms:modified xsi:type="dcterms:W3CDTF">2026-05-28T02:04:32Z</dcterms:modified>
</cp:coreProperties>
</file>