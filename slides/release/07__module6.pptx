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2017 Elephant Scale.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AADD5D-AF76-45EE-AA5F-6DAC73BF167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735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6 — Agentic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agentic AI changes the threat model</a:t>
            </a:r>
          </a:p>
          <a:p>
            <a:r>
              <a:t> Excessive agency and tool abuse</a:t>
            </a:r>
          </a:p>
          <a:p>
            <a:r>
              <a:t> API chaining and autonomous loops</a:t>
            </a:r>
          </a:p>
          <a:p>
            <a:r>
              <a:t> Permission escalation</a:t>
            </a:r>
          </a:p>
          <a:p>
            <a:r>
              <a:t> Memory poisoning</a:t>
            </a:r>
          </a:p>
          <a:p>
            <a:r>
              <a:t> Indirect tool execution</a:t>
            </a:r>
          </a:p>
          <a:p>
            <a:r>
              <a:t> Agent impersonation</a:t>
            </a:r>
          </a:p>
          <a:p>
            <a:r>
              <a:t> Credential leakage</a:t>
            </a:r>
          </a:p>
          <a:p>
            <a:r>
              <a:t> Multi-agent attacks</a:t>
            </a:r>
          </a:p>
          <a:p>
            <a:r>
              <a:t> Defensive controls: least privilege, approval gates, sandboxing, and more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Agentic AI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An</a:t>
            </a:r>
            <a:r>
              <a:rPr b="1" dirty="0"/>
              <a:t> agent</a:t>
            </a:r>
            <a:r>
              <a:rPr dirty="0"/>
              <a:t> is an LLM given access to tools and the ability to take action in the world.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The model decides which tools to call, in what order, with what arguments.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38" y="1939131"/>
            <a:ext cx="49784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Agents Expand the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WAF can see the initial HTTP request. It cannot see what the agent does next.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Output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 + real-world 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Blast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Operational / financial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 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Multi-turn, autonomous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Files, APIs, DBs, shell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Trust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User-facing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 — chains of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pexels-kanhaiya-sharma-284427440-130625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5104147"/>
            <a:ext cx="5049012" cy="28400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Agentic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Most agents follow a</a:t>
            </a:r>
            <a:r>
              <a:rPr b="1" dirty="0"/>
              <a:t> plan → act → observe → repeat</a:t>
            </a:r>
            <a:r>
              <a:rPr dirty="0"/>
              <a:t> loop (</a:t>
            </a:r>
            <a:r>
              <a:rPr dirty="0" err="1"/>
              <a:t>ReAct</a:t>
            </a:r>
            <a:r>
              <a:rPr dirty="0"/>
              <a:t> pattern):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Security implication:</a:t>
            </a:r>
            <a:r>
              <a:rPr b="1" dirty="0"/>
              <a:t> one injected instruction can drive many tool calls</a:t>
            </a:r>
            <a:r>
              <a:rPr dirty="0"/>
              <a:t> before a human sees any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1481931"/>
            <a:ext cx="72644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Excessive Agency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An agent is given more permissions, more tools, or more autonomy than it needs to complete its task.</a:t>
            </a:r>
          </a:p>
          <a:p>
            <a:r>
              <a:t> Root causes:</a:t>
            </a:r>
          </a:p>
          <a:p>
            <a:r>
              <a:t> Developers grant broad tool access for convenience</a:t>
            </a:r>
          </a:p>
          <a:p>
            <a:r>
              <a:t> "Just in case" tool sets wired at startup</a:t>
            </a:r>
          </a:p>
          <a:p>
            <a:r>
              <a:t> No scoping of tool parameters (e.g., read-any-file vs read-this-file)</a:t>
            </a:r>
          </a:p>
          <a:p>
            <a:r>
              <a:t> Example: A customer support agent granted access to:</a:t>
            </a:r>
          </a:p>
          <a:p>
            <a:r>
              <a:t> Full CRM read/write</a:t>
            </a:r>
          </a:p>
          <a:p>
            <a:r>
              <a:t> Internal ticketing system</a:t>
            </a:r>
          </a:p>
          <a:p>
            <a:r>
              <a:t> Email send API</a:t>
            </a:r>
          </a:p>
          <a:p>
            <a:r>
              <a:t> Knowledge base admin Only "read customer record" and "create ticket" were needed.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anntarazevich-56972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913" y="6178433"/>
            <a:ext cx="2751074" cy="18337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An attacker manipulates an agent into calling a legitimate tool in an illegitimate way.</a:t>
            </a:r>
          </a:p>
          <a:p>
            <a:r>
              <a:rPr dirty="0"/>
              <a:t> The tool itself is not vulnerable — the</a:t>
            </a:r>
            <a:r>
              <a:rPr b="1" dirty="0"/>
              <a:t> invocation</a:t>
            </a:r>
            <a:r>
              <a:rPr dirty="0"/>
              <a:t> is.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 What the agent does:</a:t>
            </a:r>
          </a:p>
          <a:p>
            <a:r>
              <a:rPr dirty="0"/>
              <a:t> Reads the document (legitimate)</a:t>
            </a:r>
          </a:p>
          <a:p>
            <a:r>
              <a:rPr dirty="0"/>
              <a:t> Calls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send_email</a:t>
            </a:r>
            <a:r>
              <a:rPr dirty="0"/>
              <a:t> with exfiltrated data (abuse)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9079"/>
            <a:ext cx="9398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Agents compose multiple API calls to accomplish a goal. Attackers exploit this by crafting inputs that cause the agent to chain calls across trust boundaries.</a:t>
            </a:r>
          </a:p>
          <a:p>
            <a:r>
              <a:rPr b="1" dirty="0"/>
              <a:t> Benign chain:</a:t>
            </a:r>
          </a:p>
          <a:p>
            <a:endParaRPr lang="en-US" b="1" dirty="0"/>
          </a:p>
          <a:p>
            <a:endParaRPr b="1" dirty="0"/>
          </a:p>
          <a:p>
            <a:r>
              <a:rPr b="1" dirty="0"/>
              <a:t> Attacker-induced chain:</a:t>
            </a:r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  <a:p>
            <a:r>
              <a:rPr dirty="0"/>
              <a:t> Each individual API call may look normal in isolation. The sequence is the attack.</a:t>
            </a:r>
          </a:p>
          <a:p>
            <a:r>
              <a:rPr b="1" dirty="0"/>
              <a:t> WAF implication:</a:t>
            </a:r>
            <a:r>
              <a:rPr dirty="0"/>
              <a:t> Rate limiting individual endpoints misses chained abuse. Look at sequences, not just individual requests.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723942"/>
            <a:ext cx="9363075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4186208"/>
            <a:ext cx="9398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Loops and Runaway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Agents can enter infinite or excessively long loops when:</a:t>
            </a:r>
          </a:p>
          <a:p>
            <a:r>
              <a:rPr dirty="0"/>
              <a:t> Goals are ambiguous</a:t>
            </a:r>
          </a:p>
          <a:p>
            <a:r>
              <a:rPr dirty="0"/>
              <a:t> Tool output triggers re-planning</a:t>
            </a:r>
          </a:p>
          <a:p>
            <a:r>
              <a:rPr dirty="0"/>
              <a:t> Injected instructions redirect the goal</a:t>
            </a:r>
          </a:p>
          <a:p>
            <a:r>
              <a:rPr dirty="0"/>
              <a:t> Attack scenario: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Operational impacts:</a:t>
            </a:r>
          </a:p>
          <a:p>
            <a:r>
              <a:rPr dirty="0"/>
              <a:t> Token cost explosion (denial-of-wallet)</a:t>
            </a:r>
          </a:p>
          <a:p>
            <a:r>
              <a:rPr dirty="0"/>
              <a:t> API rate limit exhaustion</a:t>
            </a:r>
          </a:p>
          <a:p>
            <a:r>
              <a:rPr dirty="0"/>
              <a:t> Backend service load from repeated calls</a:t>
            </a:r>
          </a:p>
          <a:p>
            <a:r>
              <a:rPr dirty="0"/>
              <a:t> Log flooding — obscures real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6179"/>
            <a:ext cx="90932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Permission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agent starts with limited permissions and acquires broader ones through tool calls or model reasoning.</a:t>
            </a:r>
          </a:p>
          <a:p>
            <a:r>
              <a:rPr b="1"/>
              <a:t> Horizontal escalation:</a:t>
            </a:r>
            <a:r>
              <a:t> Agent accesses resources belonging to other users.</a:t>
            </a:r>
          </a:p>
          <a:p>
            <a:r>
              <a:rPr b="1"/>
              <a:t> Vertical escalation:</a:t>
            </a:r>
            <a:r>
              <a:t> Agent gains admin-level capabilities.</a:t>
            </a:r>
          </a:p>
          <a:p>
            <a:r>
              <a:t> Example escalation chain:</a:t>
            </a:r>
          </a:p>
          <a:p>
            <a:r>
              <a:t> The LLM did not "hack" anything — it followed instructions through poorly guarded APIs.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2" y="4374814"/>
            <a:ext cx="9398000" cy="1587500"/>
          </a:xfrm>
          <a:prstGeom prst="rect">
            <a:avLst/>
          </a:prstGeom>
        </p:spPr>
      </p:pic>
      <p:pic>
        <p:nvPicPr>
          <p:cNvPr id="6" name="Picture 5" descr="pexels-aaron-j-hill-3434251-88621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727" y="6103132"/>
            <a:ext cx="1430686" cy="2145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Poisoning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Agents that maintain memory across sessions (vector stores, conversation history, shared state) can be poisoned.</a:t>
            </a:r>
          </a:p>
          <a:p>
            <a:r>
              <a:rPr b="1"/>
              <a:t> How it works:</a:t>
            </a:r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r>
              <a:t> The poisoned memory persists across users and sessions if memory is not properly scoped.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92456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Attack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Detection:</a:t>
            </a:r>
            <a:r>
              <a:t> Monitor what gets written to memory. Treat memory writes as privileged operations.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Direct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Attacker poisons their own session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Shared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Poisoned entry in a global knowledge 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RAG poisoning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Malicious content indexed into vector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 output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 returns poisoned JSON that lands in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Cross-user bleed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Memory not namespaced per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pexels-jamaal-hutchinson-675024091-18657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4390272"/>
            <a:ext cx="5307504" cy="3538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Indirect Tool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The most dangerous class of agentic attack: the malicious instruction comes from</a:t>
            </a:r>
            <a:r>
              <a:rPr b="1" dirty="0"/>
              <a:t> content the agent retrieves</a:t>
            </a:r>
            <a:r>
              <a:rPr dirty="0"/>
              <a:t> , not from the user.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The user is innocent. The WAF saw a normal authenticated request. The attack happened inside the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167731"/>
            <a:ext cx="86360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Indirect Tool Execution — Attack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Any content the agent reads is a potential injection vector:</a:t>
            </a:r>
          </a:p>
          <a:p>
            <a:r>
              <a:t> Web pages fetched during research</a:t>
            </a:r>
          </a:p>
          <a:p>
            <a:r>
              <a:t> Email bodies processed by an email agent</a:t>
            </a:r>
          </a:p>
          <a:p>
            <a:r>
              <a:t> PDF documents summarized by a document agent</a:t>
            </a:r>
          </a:p>
          <a:p>
            <a:r>
              <a:t> Database records returned by SQL tool</a:t>
            </a:r>
          </a:p>
          <a:p>
            <a:r>
              <a:t> API responses from third-party services</a:t>
            </a:r>
          </a:p>
          <a:p>
            <a:r>
              <a:t> Code comments in files read by a coding agent</a:t>
            </a:r>
          </a:p>
          <a:p>
            <a:r>
              <a:t> Calendar event descriptions</a:t>
            </a:r>
          </a:p>
          <a:p>
            <a:r>
              <a:t> Slack/Teams messages</a:t>
            </a:r>
            <a:r>
              <a:rPr b="1"/>
              <a:t> Principle:</a:t>
            </a:r>
            <a:r>
              <a:t> Treat all retrieved content as untrusted input, regardless of its source.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zsuzsa-zsuzsa-127738300-305095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742431"/>
            <a:ext cx="7507224" cy="109241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Impersonation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In multi-agent systems, agents communicate with each other. An attacker can impersonate a trusted agent.</a:t>
            </a:r>
          </a:p>
          <a:p>
            <a:r>
              <a:rPr b="1" dirty="0"/>
              <a:t> Scenario:</a:t>
            </a:r>
          </a:p>
          <a:p>
            <a:endParaRPr b="1" dirty="0"/>
          </a:p>
          <a:p>
            <a:endParaRPr lang="en-US" b="1" dirty="0"/>
          </a:p>
          <a:p>
            <a:endParaRPr b="1" dirty="0"/>
          </a:p>
          <a:p>
            <a:endParaRPr b="1" dirty="0"/>
          </a:p>
          <a:p>
            <a:r>
              <a:rPr dirty="0"/>
              <a:t> Problems this exploits:</a:t>
            </a:r>
          </a:p>
          <a:p>
            <a:r>
              <a:rPr dirty="0"/>
              <a:t> No authentication between agent-to-agent calls</a:t>
            </a:r>
          </a:p>
          <a:p>
            <a:r>
              <a:rPr dirty="0"/>
              <a:t> Agents trust messages labeled as coming from "system" or "orchestrator"</a:t>
            </a:r>
          </a:p>
          <a:p>
            <a:r>
              <a:rPr dirty="0"/>
              <a:t> LLMs do not verify cryptographic identity — they reason about text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5886"/>
            <a:ext cx="9372600" cy="1854200"/>
          </a:xfrm>
          <a:prstGeom prst="rect">
            <a:avLst/>
          </a:prstGeom>
        </p:spPr>
      </p:pic>
      <p:pic>
        <p:nvPicPr>
          <p:cNvPr id="6" name="Picture 5" descr="pexels-alevdogan-105301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6240748"/>
            <a:ext cx="2859024" cy="19060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Credential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Agents often need credentials to call external APIs. These credentials can leak:</a:t>
            </a:r>
          </a:p>
          <a:p>
            <a:r>
              <a:rPr b="1" dirty="0"/>
              <a:t> Via prompt:</a:t>
            </a:r>
            <a:r>
              <a:rPr dirty="0"/>
              <a:t> Credentials embedded in system prompt → extracted by injection attack</a:t>
            </a:r>
          </a:p>
          <a:p>
            <a:endParaRPr dirty="0"/>
          </a:p>
          <a:p>
            <a:endParaRPr lang="en-US" b="1" dirty="0"/>
          </a:p>
          <a:p>
            <a:r>
              <a:rPr b="1" dirty="0"/>
              <a:t> Via tool output:</a:t>
            </a:r>
            <a:r>
              <a:rPr dirty="0"/>
              <a:t> API key returned in error message, logged, included in context</a:t>
            </a:r>
          </a:p>
          <a:p>
            <a:r>
              <a:rPr b="1" dirty="0"/>
              <a:t> Via memory:</a:t>
            </a:r>
            <a:r>
              <a:rPr dirty="0"/>
              <a:t> Credential stored in agent memory, later retrieved in another session</a:t>
            </a:r>
          </a:p>
          <a:p>
            <a:r>
              <a:rPr b="1" dirty="0"/>
              <a:t> Via exfiltration:</a:t>
            </a:r>
            <a:r>
              <a:rPr dirty="0"/>
              <a:t> Injected instruction causes agent to send credentials to attacker endpoint</a:t>
            </a:r>
            <a:r>
              <a:rPr b="1" dirty="0"/>
              <a:t> Via log exposure:</a:t>
            </a:r>
            <a:r>
              <a:rPr dirty="0"/>
              <a:t> Agent debug logs include full context windows with embedded secrets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" y="2439139"/>
            <a:ext cx="8178800" cy="787400"/>
          </a:xfrm>
          <a:prstGeom prst="rect">
            <a:avLst/>
          </a:prstGeom>
        </p:spPr>
      </p:pic>
      <p:pic>
        <p:nvPicPr>
          <p:cNvPr id="6" name="Picture 5" descr="pexels-alex-dos-santos-305643819-29725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475" y="6245501"/>
            <a:ext cx="1409700" cy="21147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Credential Leakage — Risk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rPr b="1"/>
              <a:t> Rule:</a:t>
            </a:r>
            <a:r>
              <a:t> Credentials must never appear in the LLM context window. Use scoped, short-lived tokens injected at the tool layer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Credential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Leakage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Common 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 API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Financial (token charges)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System prompt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DB connection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breach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OAuth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 takeover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auth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Internal service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Lateral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Environment var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Signing secret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Config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Modern AI systems chain multiple specialized agents. This creates new attack surfaces.</a:t>
            </a:r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Attack vectors unique to multi-agent systems:</a:t>
            </a:r>
          </a:p>
          <a:p>
            <a:r>
              <a:rPr dirty="0"/>
              <a:t> Poison the researcher's output to redirect the executor</a:t>
            </a:r>
          </a:p>
          <a:p>
            <a:r>
              <a:rPr dirty="0"/>
              <a:t> Compromise one agent to pivot to others</a:t>
            </a:r>
          </a:p>
          <a:p>
            <a:r>
              <a:rPr dirty="0"/>
              <a:t> Exploit differences in trust levels across agents</a:t>
            </a:r>
          </a:p>
          <a:p>
            <a:r>
              <a:rPr dirty="0"/>
              <a:t> Overwhelm one agent to degrade the whole pipeline</a:t>
            </a:r>
          </a:p>
          <a:p>
            <a:r>
              <a:rPr dirty="0"/>
              <a:t> Forge inter-agent messages (see agent impersonation)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5331"/>
            <a:ext cx="9186211" cy="17834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Trust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Agents in a pipeline often grant each other elevated trust.</a:t>
            </a:r>
          </a:p>
          <a:p>
            <a:r>
              <a:rPr b="1"/>
              <a:t> The problem:</a:t>
            </a:r>
          </a:p>
          <a:p>
            <a:r>
              <a:t> Orchestrator says "Worker, run this code"</a:t>
            </a:r>
          </a:p>
          <a:p>
            <a:r>
              <a:t> Worker obeys because it trusts the orchestrator</a:t>
            </a:r>
          </a:p>
          <a:p>
            <a:r>
              <a:t> But the orchestrator's instruction came from injected content</a:t>
            </a:r>
          </a:p>
          <a:p>
            <a:r>
              <a:t> The worker has no way to verify the chain of custody</a:t>
            </a:r>
          </a:p>
          <a:p>
            <a:r>
              <a:rPr b="1"/>
              <a:t> Result:</a:t>
            </a:r>
            <a:r>
              <a:t> An attacker injecting into a low-privilege agent can cause a high-privilege agent to act. This is privilege escalation through the trust chain, not through a software vulnerability.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tara-winstead-83787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5060836"/>
            <a:ext cx="4383024" cy="29220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Defensive Framework: The ALPA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Four layers of agentic defense: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 Apply at every agent, every tool call, every inter-agent message.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0531"/>
            <a:ext cx="93726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Least Privilege for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Give agents only the tools and permissions needed for the specific task.</a:t>
            </a:r>
          </a:p>
          <a:p>
            <a:r>
              <a:rPr b="1"/>
              <a:t> Bad:</a:t>
            </a:r>
          </a:p>
          <a:p>
            <a:endParaRPr b="1"/>
          </a:p>
          <a:p>
            <a:endParaRPr b="1"/>
          </a:p>
          <a:p>
            <a:r>
              <a:rPr b="1"/>
              <a:t> Good:</a:t>
            </a:r>
          </a:p>
          <a:p>
            <a:endParaRPr b="1"/>
          </a:p>
          <a:p>
            <a:endParaRPr b="1"/>
          </a:p>
          <a:p>
            <a:r>
              <a:t> Scoping tool parameters is as important as limiting the tool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2495143"/>
            <a:ext cx="6807200" cy="15875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" y="5582810"/>
            <a:ext cx="9261475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Approval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For high-impact actions, require human approval before execution.</a:t>
            </a:r>
          </a:p>
          <a:p>
            <a:r>
              <a:t> Approval gates should be mandatory for: delete, send, publish, transfer, modify-config.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1131"/>
            <a:ext cx="9093200" cy="3721100"/>
          </a:xfrm>
          <a:prstGeom prst="rect">
            <a:avLst/>
          </a:prstGeom>
        </p:spPr>
      </p:pic>
      <p:pic>
        <p:nvPicPr>
          <p:cNvPr id="6" name="Picture 5" descr="pexels-rinoadamo-349318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6290214"/>
            <a:ext cx="1259396" cy="188909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Runtime Policy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 A policy engine intercepts every tool call and evaluates it against defined rules before execution.</a:t>
            </a:r>
          </a:p>
          <a:p>
            <a:r>
              <a:rPr dirty="0"/>
              <a:t> Example rules:</a:t>
            </a:r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Policy engines enforce intent — even when the LLM's reasoning is manipulated.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2281951"/>
            <a:ext cx="9367838" cy="4254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Sandboxing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Run agent tool execution in isolated environments to limit blast radius.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rPr b="1"/>
              <a:t> Principle:</a:t>
            </a:r>
            <a:r>
              <a:t> The sandbox should fail closed. If the tool call is ambiguous, deny it.</a:t>
            </a:r>
          </a:p>
          <a:p>
            <a:r>
              <a:t> Even a fully compromised agent should not be able to reach the public internet or modify production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Sandbox 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Code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Container, gVisor, WASM sandbox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File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Read-only mounts, path allowlists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Egress firewall, DNS allowlist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Read-only replica, row-level security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seccomp, AppArmor profiles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Scoped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Never give agents long-lived, broad credentials.</a:t>
            </a:r>
          </a:p>
          <a:p>
            <a:r>
              <a:rPr b="1" dirty="0"/>
              <a:t> Pattern: Just-in-time scoped tokens</a:t>
            </a:r>
          </a:p>
          <a:p>
            <a:endParaRPr b="1" dirty="0"/>
          </a:p>
          <a:p>
            <a:endParaRPr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  <a:p>
            <a:r>
              <a:rPr dirty="0"/>
              <a:t> Implementation options:</a:t>
            </a:r>
          </a:p>
          <a:p>
            <a:r>
              <a:rPr dirty="0"/>
              <a:t> AWS STS </a:t>
            </a:r>
            <a:r>
              <a:rPr dirty="0" err="1"/>
              <a:t>AssumeRole</a:t>
            </a:r>
            <a:r>
              <a:rPr dirty="0"/>
              <a:t> with condition keys</a:t>
            </a:r>
          </a:p>
          <a:p>
            <a:r>
              <a:rPr dirty="0"/>
              <a:t> OAuth 2.0 token exchange (RFC 8693)</a:t>
            </a:r>
          </a:p>
          <a:p>
            <a:r>
              <a:rPr dirty="0"/>
              <a:t> SPIFFE/SPIRE workload identity</a:t>
            </a:r>
          </a:p>
          <a:p>
            <a:r>
              <a:rPr dirty="0"/>
              <a:t> </a:t>
            </a:r>
            <a:r>
              <a:rPr dirty="0" err="1"/>
              <a:t>HashiCorp</a:t>
            </a:r>
            <a:r>
              <a:rPr dirty="0"/>
              <a:t> Vault dynamic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4537"/>
            <a:ext cx="84836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Tool Whitelisting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Only allow agents to call explicitly approved tools. Deny everything else by default.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0175"/>
            <a:ext cx="9372600" cy="4787900"/>
          </a:xfrm>
          <a:prstGeom prst="rect">
            <a:avLst/>
          </a:prstGeom>
        </p:spPr>
      </p:pic>
      <p:pic>
        <p:nvPicPr>
          <p:cNvPr id="6" name="Picture 5" descr="pexels-nadine-ginzel-80607840-201213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25" y="6782330"/>
            <a:ext cx="2273300" cy="151553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Defense: Human-in-the-Loop (HITL)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HITL is not just an approval gate — it is a continuous oversight posture.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Best practice: Start at Full HITL, relax controls gradually as the agent proves reliable.</a:t>
            </a:r>
          </a:p>
          <a:p>
            <a:r>
              <a:rPr b="1"/>
              <a:t> Never remove HITL entirely for actions that are irreversible.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160206"/>
              </p:ext>
            </p:extLst>
          </p:nvPr>
        </p:nvGraphicFramePr>
        <p:xfrm>
          <a:off x="244475" y="2045811"/>
          <a:ext cx="8915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HITL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When to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987">
                <a:tc>
                  <a:txBody>
                    <a:bodyPr/>
                    <a:lstStyle/>
                    <a:p>
                      <a:r>
                        <a:t>Full HITL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approves every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High-risk, regulated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Human reviews at key 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alerted only on anomalies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Routine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Audit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reviews logs post-hoc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Low-risk, high-volume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Detecting Agentic Attacks: What to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Logs for agentic systems must capture the reasoning chain, not just the HTTP request.</a:t>
            </a:r>
          </a:p>
          <a:p>
            <a:r>
              <a:t> Log every tool call with: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Log</a:t>
            </a:r>
            <a:r>
              <a:rPr b="1"/>
              <a:t> denied</a:t>
            </a:r>
            <a:r>
              <a:t> actions. They are often more informative than allowed 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130"/>
            <a:ext cx="9431915" cy="30987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Signals in Agentic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Possible 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Unusual tool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Chained attack or 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 called with unexpected args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Parameter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Loop exceeds N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Runaway agent or DoW attack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New destination in http_post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Exfiltration attempt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Memory write with embedded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Persistent 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Agent-to-agent call with forged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Impersonation attempt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Credential pattern in tool args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Leakage attempt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High token count, low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Injection padding / prompt stuffing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pexels-divineleaders-70079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550" y="5252525"/>
            <a:ext cx="3856746" cy="257090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WAF Controls for Agentic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WAF rules help at the perimeter. Agentic-specific controls:</a:t>
            </a:r>
          </a:p>
          <a:p>
            <a:r>
              <a:rPr b="1"/>
              <a:t> Inbound (user → agent):</a:t>
            </a:r>
          </a:p>
          <a:p>
            <a:r>
              <a:t> Detect prompt injection patterns in request body</a:t>
            </a:r>
          </a:p>
          <a:p>
            <a:r>
              <a:t> Rate limit per-session, not just per-IP</a:t>
            </a:r>
          </a:p>
          <a:p>
            <a:r>
              <a:t> Block known injection payloads (ignore/disregard/jailbreak patterns)</a:t>
            </a:r>
          </a:p>
          <a:p>
            <a:r>
              <a:rPr b="1"/>
              <a:t> Outbound (agent → APIs):</a:t>
            </a:r>
          </a:p>
          <a:p>
            <a:r>
              <a:t> Allowlist egress endpoints</a:t>
            </a:r>
          </a:p>
          <a:p>
            <a:r>
              <a:t> Block credential-shaped strings in POST bodies</a:t>
            </a:r>
          </a:p>
          <a:p>
            <a:r>
              <a:t> Rate limit inter-service agent calls</a:t>
            </a:r>
          </a:p>
          <a:p>
            <a:r>
              <a:t> Alert on unusual destination domains</a:t>
            </a:r>
          </a:p>
          <a:p>
            <a:r>
              <a:rPr b="1"/>
              <a:t> Agent-to-agent:</a:t>
            </a:r>
          </a:p>
          <a:p>
            <a:r>
              <a:t> Require mutual TLS between agent services</a:t>
            </a:r>
          </a:p>
          <a:p>
            <a:r>
              <a:t> Validate agent identity via signed tokens (not self-asserted role names)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The Slack Agent Exfiltration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Scenario:</a:t>
            </a:r>
            <a:r>
              <a:t> An enterprise uses an AI agent that reads Slack messages and summarizes them.</a:t>
            </a:r>
          </a:p>
          <a:p>
            <a:r>
              <a:rPr b="1"/>
              <a:t> Attack:</a:t>
            </a:r>
          </a:p>
          <a:p>
            <a:r>
              <a:t> Attacker sends Slack DM to a monitored channel:</a:t>
            </a:r>
          </a:p>
          <a:p>
            <a:endParaRPr/>
          </a:p>
          <a:p>
            <a:endParaRPr/>
          </a:p>
          <a:p>
            <a:r>
              <a:t> Agent reads DM as part of normal summarization</a:t>
            </a:r>
          </a:p>
          <a:p>
            <a:r>
              <a:t> Agent follows injected instruction</a:t>
            </a:r>
          </a:p>
          <a:p>
            <a:r>
              <a:t> Executive messages exfiltrated silently</a:t>
            </a:r>
          </a:p>
          <a:p>
            <a:r>
              <a:rPr b="1"/>
              <a:t> Defenses that would have stopped it:</a:t>
            </a:r>
          </a:p>
          <a:p>
            <a:r>
              <a:t> Egress allowlist:</a:t>
            </a:r>
            <a:r>
              <a:rPr>
                <a:latin typeface="Courier New"/>
              </a:rPr>
              <a:t> collector.evil.com</a:t>
            </a:r>
            <a:r>
              <a:t> would be blocked</a:t>
            </a:r>
          </a:p>
          <a:p>
            <a:r>
              <a:t> Tool policy:</a:t>
            </a:r>
            <a:r>
              <a:rPr>
                <a:latin typeface="Courier New"/>
              </a:rPr>
              <a:t> http_post</a:t>
            </a:r>
            <a:r>
              <a:t> not in agent's allowed tools</a:t>
            </a:r>
          </a:p>
          <a:p>
            <a:r>
              <a:t> Content inspection: outbound body contains Slack message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62" y="2624931"/>
            <a:ext cx="83312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The Loop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Scenario:</a:t>
            </a:r>
            <a:r>
              <a:rPr dirty="0"/>
              <a:t> An AI coding assistant is given a bug report to fix.</a:t>
            </a:r>
          </a:p>
          <a:p>
            <a:r>
              <a:rPr b="1" dirty="0"/>
              <a:t> Attack:</a:t>
            </a:r>
          </a:p>
          <a:p>
            <a:endParaRPr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  <a:p>
            <a:r>
              <a:rPr b="1" dirty="0"/>
              <a:t> What happens:</a:t>
            </a:r>
          </a:p>
          <a:p>
            <a:r>
              <a:rPr dirty="0"/>
              <a:t> Agent enters a long file-reading loop</a:t>
            </a:r>
          </a:p>
          <a:p>
            <a:r>
              <a:rPr dirty="0"/>
              <a:t> Each read spawns new reasoning steps</a:t>
            </a:r>
          </a:p>
          <a:p>
            <a:r>
              <a:rPr dirty="0"/>
              <a:t> Token cost: $0.002 → $47 in one session</a:t>
            </a:r>
          </a:p>
          <a:p>
            <a:r>
              <a:rPr dirty="0"/>
              <a:t> System directories partially exposed in context</a:t>
            </a:r>
          </a:p>
          <a:p>
            <a:r>
              <a:rPr b="1" dirty="0"/>
              <a:t> Defenses:</a:t>
            </a:r>
            <a:r>
              <a:rPr dirty="0"/>
              <a:t> Iteration limits, file path allowlists, anomaly alert on loop depth &gt; 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00" y="2163485"/>
            <a:ext cx="94321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Key takeaways:</a:t>
            </a:r>
          </a:p>
          <a:p>
            <a:r>
              <a:rPr b="1"/>
              <a:t> Agents act</a:t>
            </a:r>
            <a:r>
              <a:t> — a compromised agent causes real-world damage, not just bad output</a:t>
            </a:r>
          </a:p>
          <a:p>
            <a:r>
              <a:rPr b="1"/>
              <a:t> Indirect injection</a:t>
            </a:r>
            <a:r>
              <a:t> is the primary attack vector — content the agent reads is adversarial</a:t>
            </a:r>
          </a:p>
          <a:p>
            <a:r>
              <a:rPr b="1"/>
              <a:t> Least privilege</a:t>
            </a:r>
            <a:r>
              <a:t> must be applied to tools, parameters, and credentials — not just roles</a:t>
            </a:r>
          </a:p>
          <a:p>
            <a:r>
              <a:rPr b="1"/>
              <a:t> Approval gates</a:t>
            </a:r>
            <a:r>
              <a:t> are the safety net for high-impact irreversible actions</a:t>
            </a:r>
          </a:p>
          <a:p>
            <a:r>
              <a:rPr b="1"/>
              <a:t> Logging must capture the reasoning chain</a:t>
            </a:r>
            <a:r>
              <a:t> — HTTP logs alone are insufficient</a:t>
            </a:r>
          </a:p>
          <a:p>
            <a:r>
              <a:rPr b="1"/>
              <a:t> Multi-agent systems multiply trust confusion</a:t>
            </a:r>
            <a:r>
              <a:t> — authenticate agent-to-agent calls</a:t>
            </a:r>
          </a:p>
          <a:p>
            <a:r>
              <a:rPr b="1"/>
              <a:t> Memory is an attack surface</a:t>
            </a:r>
            <a:r>
              <a:t> — treat writes as privileged operations</a:t>
            </a:r>
          </a:p>
          <a:p>
            <a:r>
              <a:t> The WAF is the first line of defense. Agentic security requires defense in depth behind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— Module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API Security for AI</a:t>
            </a:r>
          </a:p>
          <a:p>
            <a:r>
              <a:t> API gateways as enforcement points for AI traffic</a:t>
            </a:r>
          </a:p>
          <a:p>
            <a:r>
              <a:t> GraphQL-specific AI risks</a:t>
            </a:r>
          </a:p>
          <a:p>
            <a:r>
              <a:t> MCP and AI plugin attack surface</a:t>
            </a:r>
          </a:p>
          <a:p>
            <a:r>
              <a:t> JWT protection for agent authentication</a:t>
            </a:r>
          </a:p>
          <a:p>
            <a:r>
              <a:t> Delegated authorization and OAuth flows</a:t>
            </a:r>
          </a:p>
          <a:p>
            <a:r>
              <a:t> Secret management for AI systems</a:t>
            </a:r>
          </a:p>
          <a:p>
            <a:r>
              <a:t> Signed prompts and request integrity</a:t>
            </a:r>
          </a:p>
          <a:p>
            <a:r>
              <a:t> OWASP API Security Top 10 applied to AI APIs The agent talks to APIs. Module 7 is about securing those APIs.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dmytkopl-349299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5627982"/>
            <a:ext cx="2895600" cy="231623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6 Preview — Secure an Autonomous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Objective:</a:t>
            </a:r>
            <a:r>
              <a:t> Identify vulnerabilities in a running agent and apply defensive controls.</a:t>
            </a:r>
          </a:p>
          <a:p>
            <a:r>
              <a:rPr b="1"/>
              <a:t> Environment:</a:t>
            </a:r>
          </a:p>
          <a:p>
            <a:r>
              <a:t> A pre-built Python agent with access to: file read, web fetch, email send, and database query tools</a:t>
            </a:r>
          </a:p>
          <a:p>
            <a:r>
              <a:t> A simulated attacker sending prompt injection via the input channel</a:t>
            </a:r>
          </a:p>
          <a:p>
            <a:r>
              <a:rPr b="1"/>
              <a:t> Tasks:</a:t>
            </a:r>
          </a:p>
          <a:p>
            <a:r>
              <a:t> Trigger an indirect tool execution attack — observe what the agent does</a:t>
            </a:r>
          </a:p>
          <a:p>
            <a:r>
              <a:t> Apply a tool whitelist and re-run the attack — observe the result</a:t>
            </a:r>
          </a:p>
          <a:p>
            <a:r>
              <a:t> Add an approval gate for</a:t>
            </a:r>
            <a:r>
              <a:rPr>
                <a:latin typeface="Courier New"/>
              </a:rPr>
              <a:t> send_email</a:t>
            </a:r>
            <a:r>
              <a:t> — verify it blocks unauthorized sends</a:t>
            </a:r>
          </a:p>
          <a:p>
            <a:r>
              <a:t> Implement a runtime policy rule blocking egress to non-allowlisted domains</a:t>
            </a:r>
          </a:p>
          <a:p>
            <a:r>
              <a:t> Enable full tool-call logging and identify the attack in the logs</a:t>
            </a:r>
          </a:p>
          <a:p>
            <a:r>
              <a:t> (Bonus) Poison the agent's memory store and detect the poisoned entry</a:t>
            </a:r>
          </a:p>
          <a:p>
            <a:r>
              <a:rPr b="1"/>
              <a:t> Deliverable:</a:t>
            </a:r>
            <a:r>
              <a:t> A policy configuration file and a one-page incident report describing what happened and how each control helped.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378312</TotalTime>
  <Words>2715</Words>
  <Application>Microsoft Macintosh PowerPoint</Application>
  <PresentationFormat>Custom</PresentationFormat>
  <Paragraphs>519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Module 6 — Agentic AI Security</vt:lpstr>
      <vt:lpstr>Module 6 Agenda</vt:lpstr>
      <vt:lpstr>What Is an Agentic AI System?</vt:lpstr>
      <vt:lpstr>Why Agents Expand the Attack Surface</vt:lpstr>
      <vt:lpstr>The Agentic Loop</vt:lpstr>
      <vt:lpstr>Excessive Agency</vt:lpstr>
      <vt:lpstr>Tool Abuse</vt:lpstr>
      <vt:lpstr>API Chaining</vt:lpstr>
      <vt:lpstr>Autonomous Loops and Runaway Agents</vt:lpstr>
      <vt:lpstr>Permission Escalation</vt:lpstr>
      <vt:lpstr>Memory Poisoning</vt:lpstr>
      <vt:lpstr>Memory Attack Vectors</vt:lpstr>
      <vt:lpstr>Indirect Tool Execution</vt:lpstr>
      <vt:lpstr>Indirect Tool Execution — Attack Sources</vt:lpstr>
      <vt:lpstr>Agent Impersonation</vt:lpstr>
      <vt:lpstr>Credential Leakage</vt:lpstr>
      <vt:lpstr>Credential Leakage — Risk Matrix</vt:lpstr>
      <vt:lpstr>Multi-Agent Attacks</vt:lpstr>
      <vt:lpstr>Multi-Agent Trust Confusion</vt:lpstr>
      <vt:lpstr>Defensive Framework: The ALPA Model</vt:lpstr>
      <vt:lpstr>Defense: Least Privilege for Agents</vt:lpstr>
      <vt:lpstr>Defense: Approval Gates</vt:lpstr>
      <vt:lpstr>Defense: Runtime Policy Engines</vt:lpstr>
      <vt:lpstr>Defense: Sandboxing</vt:lpstr>
      <vt:lpstr>Defense: Scoped Credentials</vt:lpstr>
      <vt:lpstr>Defense: Tool Whitelisting</vt:lpstr>
      <vt:lpstr>Defense: Human-in-the-Loop (HITL)</vt:lpstr>
      <vt:lpstr>Detecting Agentic Attacks: What to Log</vt:lpstr>
      <vt:lpstr>Anomaly Signals in Agentic Systems</vt:lpstr>
      <vt:lpstr>WAF Controls for Agentic Traffic</vt:lpstr>
      <vt:lpstr>Case Study: The Slack Agent Exfiltration</vt:lpstr>
      <vt:lpstr>Case Study: The Loop Attack</vt:lpstr>
      <vt:lpstr>Module 6 Summary</vt:lpstr>
      <vt:lpstr>What's Next — Module 7</vt:lpstr>
      <vt:lpstr>Lab 6 Preview — Secure an Autonomous Agent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Tim Abou Hassan</cp:lastModifiedBy>
  <cp:revision>4139</cp:revision>
  <cp:lastPrinted>2010-01-03T02:41:41Z</cp:lastPrinted>
  <dcterms:created xsi:type="dcterms:W3CDTF">2010-07-13T15:22:01Z</dcterms:created>
  <dcterms:modified xsi:type="dcterms:W3CDTF">2026-05-27T05:08:46Z</dcterms:modified>
</cp:coreProperties>
</file>